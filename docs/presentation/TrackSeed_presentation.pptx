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42c04c-6015-da36-1cab-7c22a16376ba}">
          <p14:sldIdLst>
            <p14:sldId id="256"/>
            <p14:sldId id="257"/>
            <p14:sldId id="258"/>
          </p14:sldIdLst>
        </p14:section>
        <p14:section name="State of the art" id="{575fd0b1-9d31-98f8-f3eb-3d1b9568dfe4}">
          <p14:sldIdLst>
            <p14:sldId id="259"/>
            <p14:sldId id="260"/>
            <p14:sldId id="261"/>
            <p14:sldId id="262"/>
            <p14:sldId id="263"/>
            <p14:sldId id="264"/>
          </p14:sldIdLst>
        </p14:section>
        <p14:section name="Proposal" id="{cc4646d4-d74b-e030-4bbe-101194b56976}">
          <p14:sldIdLst>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Outdoor utility placement, 32 students</a:t>
            </a:r>
          </a:p>
        </c:rich>
      </c:tx>
      <c:layout/>
      <c:overlay val="0"/>
    </c:title>
    <c:autoTitleDeleted val="0"/>
    <c:plotArea>
      <c:layout/>
      <c:barChart>
        <c:barDir val="bar"/>
        <c:grouping val="stacked"/>
        <c:varyColors val="0"/>
        <c:ser>
          <c:idx val="0"/>
          <c:order val="0"/>
          <c:tx>
            <c:strRef>
              <c:f>Sheet1!$B$1</c:f>
              <c:strCache>
                <c:ptCount val="1"/>
                <c:pt idx="0">
                  <c:v>Other devices</c:v>
                </c:pt>
              </c:strCache>
            </c:strRef>
          </c:tx>
          <c:spPr>
            <a:solidFill>
              <a:srgbClr val="6B7580"/>
            </a:solidFill>
            <a:effectLst/>
          </c:spPr>
          <c:invertIfNegative val="0"/>
          <c:dLbls>
            <c:numFmt formatCode="0.0;;;" sourceLinked="0"/>
            <c:txPr>
              <a:bodyPr/>
              <a:lstStyle/>
              <a:p>
                <a:pPr>
                  <a:defRPr b="0"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HoloLens 2</c:v>
                  </c:pt>
                  <c:pt idx="1">
                    <c:v>Trimble SiteVision (GNSS)</c:v>
                  </c:pt>
                  <c:pt idx="2">
                    <c:v>iPad Pro</c:v>
                  </c:pt>
                  <c:pt idx="3">
                    <c:v>iPhone 13 Pro Max</c:v>
                  </c:pt>
                </c:lvl>
              </c:multiLvlStrCache>
            </c:multiLvlStrRef>
          </c:cat>
          <c:val>
            <c:numRef>
              <c:f>Sheet1!$B$2:$B$5</c:f>
              <c:numCache>
                <c:formatCode>General</c:formatCode>
                <c:ptCount val="4"/>
                <c:pt idx="0">
                  <c:v>8.3</c:v>
                </c:pt>
                <c:pt idx="1">
                  <c:v>8.9</c:v>
                </c:pt>
                <c:pt idx="2">
                  <c:v>9.1</c:v>
                </c:pt>
                <c:pt idx="3">
                  <c:v>0</c:v>
                </c:pt>
              </c:numCache>
            </c:numRef>
          </c:val>
        </c:ser>
        <c:ser>
          <c:idx val="1"/>
          <c:order val="1"/>
          <c:tx>
            <c:strRef>
              <c:f>Sheet1!$C$1</c:f>
              <c:strCache>
                <c:ptCount val="1"/>
                <c:pt idx="0">
                  <c:v>Phone</c:v>
                </c:pt>
              </c:strCache>
            </c:strRef>
          </c:tx>
          <c:spPr>
            <a:solidFill>
              <a:srgbClr val="E8701A"/>
            </a:solidFill>
            <a:effectLst/>
          </c:spPr>
          <c:invertIfNegative val="0"/>
          <c:dLbls>
            <c:numFmt formatCode="0.0;;;" sourceLinked="0"/>
            <c:txPr>
              <a:bodyPr/>
              <a:lstStyle/>
              <a:p>
                <a:pPr>
                  <a:defRPr b="0"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HoloLens 2</c:v>
                  </c:pt>
                  <c:pt idx="1">
                    <c:v>Trimble SiteVision (GNSS)</c:v>
                  </c:pt>
                  <c:pt idx="2">
                    <c:v>iPad Pro</c:v>
                  </c:pt>
                  <c:pt idx="3">
                    <c:v>iPhone 13 Pro Max</c:v>
                  </c:pt>
                </c:lvl>
              </c:multiLvlStrCache>
            </c:multiLvlStrRef>
          </c:cat>
          <c:val>
            <c:numRef>
              <c:f>Sheet1!$C$2:$C$5</c:f>
              <c:numCache>
                <c:formatCode>General</c:formatCode>
                <c:ptCount val="4"/>
                <c:pt idx="0">
                  <c:v>0</c:v>
                </c:pt>
                <c:pt idx="1">
                  <c:v>0</c:v>
                </c:pt>
                <c:pt idx="2">
                  <c:v>0</c:v>
                </c:pt>
                <c:pt idx="3">
                  <c:v>15.9</c:v>
                </c:pt>
              </c:numCache>
            </c:numRef>
          </c:val>
        </c:ser>
        <c:dLbls>
          <c:numFmt formatCode="0.0;;;" sourceLinked="0"/>
          <c:txPr>
            <a:bodyPr/>
            <a:lstStyle/>
            <a:p>
              <a:pPr>
                <a:defRPr b="0" i="0" strike="noStrike" sz="1400" u="none">
                  <a:solidFill>
                    <a:srgbClr val="FFFFFF"/>
                  </a:solidFill>
                  <a:latin typeface="+mn-lt"/>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E2226"/>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b"/>
        <c:majorGridlines>
          <c:spPr>
            <a:ln w="9525" cap="flat">
              <a:solidFill>
                <a:srgbClr val="E1E4E8"/>
              </a:solidFill>
              <a:prstDash val="solid"/>
              <a:round/>
            </a:ln>
          </c:spPr>
        </c:majorGridlines>
        <c:title>
          <c:tx>
            <c:rich>
              <a:bodyPr/>
              <a:lstStyle/>
              <a:p>
                <a:pPr>
                  <a:defRPr sz="1200" b="0" i="0" u="none" strike="noStrike">
                    <a:solidFill>
                      <a:srgbClr val="6B7580"/>
                    </a:solidFill>
                    <a:latin typeface="+mn-lt"/>
                  </a:defRPr>
                </a:pPr>
                <a:r>
                  <a:rPr sz="1200" b="0" i="0" u="none" strike="noStrike">
                    <a:solidFill>
                      <a:srgbClr val="6B7580"/>
                    </a:solidFill>
                    <a:latin typeface="+mn-lt"/>
                  </a:rPr>
                  <a:t>Mean placement error outdoors (cm)</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580"/>
                </a:solidFill>
                <a:latin typeface="+mn-lt"/>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Introduce ourselves and the project: TrackSeed lets one person set out a Formula Student track with augmented reality on a phone, while a digital twin of the track follows the placement live in the cloud. This talk covers the problem, what the literature says, the design decisions that follow, and how we will validate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 Formula Student track exists only as coloured cones: blue on the left, yellow on the right, orange for lanes, big orange at start and finish, at most 5 m apart. In our team we set these out by hand with tapes and trigonometry. It needs several people, takes time from testing, and there is no check: a wrong cone is only fixed if someone notices. For a driverless car that matters, because perception and path planning are built on those cones, so a wrong layout changes the problem and makes test days hard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Before the test day, the team lead uploads the plan. On the field, one person aligns it by scanning two markers, then walks the track while the phone shows each cone in AR. When a cone is put down, an on-device model checks it and the result goes to the cloud. The team lead follows a live twin on the dashboard and can edit it, which updates the guidance. Finally the phone identifies which team car is running and produces a report. VAR provides the AR and the twin; EIT provides the cloud, synchronisation and on-device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searched Google Scholar and publisher libraries in October 2026, with search strings built from the main concepts, and followed references. We kept 25 sources: 19 peer-reviewed, one preprint and five specifications or official documents, which we used only for capabilities and rules, not as evidence of performance. One limitation up front: almost nobody has studied track setout, so most evidence comes from construction layout, which is the closest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The closest evidence is construction layout. Kim and Olsen had 32 students place objects outdoors where they saw virtual pipes, and measured them with a total station. The HoloLens 2 was best at 8.3 cm; the iPhone was worst at about 16 cm. Indoors, Chalhoub and Ayer got about 5 cm with a HoloLens and a paper marker, worse farther from the marker. Our provisional tolerance is 10 to 15 cm, so the phone is right at the limit, over an area much smaller than a track. AR guidance is feasible, but not accurate enough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studies seem to disagree, metres versus centimetres, but the difference is scale. Feigl et al. walked up to 60 m in a big hall and found about 17 m of error per 120 m. Scargill et al. measured only room scale: a few centimetres, and ARCore drifted less than ARKit when the user walked away and came back. They also found more drift in low-texture scenes, which is a risk on asphalt. RTK GNSS on a phone reaches 1 to 2 cm with no drift, but needs a correction service. Conclusion: we must re-align along the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term digital twin is often used loosely. Kritzinger et al. separate three cases: a model with no automatic data exchange, a shadow that is updated automatically from the physical object, and a twin, where data flows automatically in both directions. They found most published systems are only models or shadows. For TrackSeed this sets a concrete requirement: a dashboard that only shows confirmed cones is a shadow. To be a twin, edits on the dashboard must reach the phone and change the guidance on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For synchronisation, the only controlled comparison found MQTT had higher throughput and used fewer resources, while WebSocket had lower latency. We send one small message per cone to a browser, so WebSocket fits better; the phone keeps a local queue and replays it when the connection returns. For inference, sending frames to the cloud adds latency and privacy risk, while phones now have capable accelerators. Since test fields often have weak coverage, both models run on the phone and the cloud only retrains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Besides the cone check, our main computer vision task is classifying which team car is being used, so each session is linked to its vehicle. It is a fine-grained problem: on CompCars, accuracy depended strongly on the viewpoint. No public dataset has our cars, so we build our own: photos and video frames of each car from all angles, on several days, plus an unknown class. With little data, transfer learning is the standard answer: we fine-tune a pretrained MobileNetV2-class network and run it on the phone. We split by test day, so the score reflects a new day, not memorised backgrounds.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gap: no study has tested phone-based setout over a full track, and none combines guidance, verification of each object, vehicle identification and a live two-way twin. Each finding leads to a decision: distance-dependent error leads to two-point alignment and re-alignment markers; the protocol comparison leads to WebSocket with an offline queue; the twin definition requires edits to flow back; edge inference keeps the models on the phone; and transfer learning plus viewpoint effects shape the car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Why not a single marker at the start line? It fixes the heading of the whole plan from something less than a metre wide. A heading error of just one degree moves a cone 200 m away by about 3.5 m, before drift. Two markers placed far apart fix position and heading together, and further markers along the track limit drift to the distance between them. RTK stays an optional extension, and the Geospatial API is rejected because there is no evidence it reaches centimetre accuracy. Marker spacing will be set from field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Three components. The Android app does AR alignment and guidance, the cone check, car recognition and the offline store; tracking and inference stay on the phone. The cloud, in Docker containers, holds the REST API, the WebSocket sync service, the twin state, the car dataset and the model store. The dashboard shows and edits the twin. Confirmed cones flow right, edits and model updates flow back left. Tags show which course unit owns each part. Out of scope: several phones at once, iOS, and the Geospatial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Four hypotheses. H1, the question the literature leaves open: phone setout with re-alignment keeps cones within tolerance over a full track; median at most 15 cm, none over 30. H2: one person with TrackSeed is at least 30% faster than our tape method. H3: a confirmed cone appears on the dashboard within about one second. H4: the car classifier reaches at least 95% accuracy on test days it never saw, in under 100 ms on the phone. Unlike the reviewed studies, these tests run on a full track in its real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main technical risk is accuracy over distance, and nobody has measured phone AR on asphalt, which has little texture. Outdoor light, glare and rain can affect both tracking and the vision models; the cone data come from car-mounted cameras, not a handheld phone; and the car dataset is small, with similar cars, which is why we split by test day. Safety: the user looks at the screen while walking, so it is for closed tracks only. The plan runs from AR alignment in October to validation in January, collecting car images on every test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To sum up: the literature shows phone AR placement is feasible but unproven at track scale, so we align on two markers and re-align. The system is a true twin, with edits flowing back to the phone. And there are two on-device vision tasks, with car identification as the main one, trained on our own dataset. Next we implement alignment on a skidpad, measure drift on our site, and keep collecting car images.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pic>
        <p:nvPicPr>
          <p:cNvPr id="2" name="Image 0" descr="logo_white.png">    </p:cNvPr>
          <p:cNvPicPr>
            <a:picLocks noChangeAspect="1"/>
          </p:cNvPicPr>
          <p:nvPr/>
        </p:nvPicPr>
        <p:blipFill>
          <a:blip r:embed="rId1"/>
          <a:stretch>
            <a:fillRect/>
          </a:stretch>
        </p:blipFill>
        <p:spPr>
          <a:xfrm>
            <a:off x="640080" y="548640"/>
            <a:ext cx="2194560" cy="1030072"/>
          </a:xfrm>
          <a:prstGeom prst="rect">
            <a:avLst/>
          </a:prstGeom>
        </p:spPr>
      </p:pic>
      <p:sp>
        <p:nvSpPr>
          <p:cNvPr id="3" name="Text 0"/>
          <p:cNvSpPr/>
          <p:nvPr>
            <p:ph idx="101" type="title" hasCustomPrompt="1"/>
          </p:nvPr>
        </p:nvSpPr>
        <p:spPr>
          <a:xfrm>
            <a:off x="640080" y="2103120"/>
            <a:ext cx="10881360" cy="128016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4" name="Text 0"/>
          <p:cNvSpPr/>
          <p:nvPr>
            <p:ph idx="102" type="body" hasCustomPrompt="1"/>
          </p:nvPr>
        </p:nvSpPr>
        <p:spPr>
          <a:xfrm>
            <a:off x="640080" y="3520440"/>
            <a:ext cx="10881360" cy="1188720"/>
          </a:xfrm>
          <a:prstGeom prst="rect">
            <a:avLst/>
          </a:prstGeom>
          <a:noFill/>
          <a:ln/>
        </p:spPr>
        <p:txBody>
          <a:bodyPr wrap="square" rtlCol="0"/>
          <a:lstStyle>
            <a:lvl1pPr indent="0" marL="0">
              <a:buNone/>
              <a:defRPr lang="en-US" sz="2200" dirty="0">
                <a:solidFill>
                  <a:schemeClr val="bg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600" b="1" dirty="0">
                <a:solidFill>
                  <a:schemeClr val="tx1"/>
                </a:solidFill>
                <a:latin typeface="Arial" pitchFamily="34" charset="0"/>
                <a:ea typeface="Arial" pitchFamily="34" charset="-122"/>
                <a:cs typeface="Arial" pitchFamily="34" charset="-120"/>
              </a:defRPr>
            </a:lvl1pPr>
          </a:lstStyle>
          <a:p>
            <a:pPr indent="0" marL="0">
              <a:buNone/>
            </a:pPr>
            <a:endParaRPr lang="en-US" sz="36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TrackSeed  ·  VAR / EIT  ·  2026/2027</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indent="0" marL="0">
              <a:buNone/>
              <a:defRPr lang="en-US" sz="4000" b="1" dirty="0">
                <a:solidFill>
                  <a:schemeClr val="bg1"/>
                </a:solidFill>
                <a:latin typeface="Arial" pitchFamily="34" charset="0"/>
                <a:ea typeface="Arial" pitchFamily="34" charset="-122"/>
                <a:cs typeface="Arial" pitchFamily="34" charset="-120"/>
              </a:defRPr>
            </a:lvl1pPr>
          </a:lstStyle>
          <a:p>
            <a:pPr indent="0" marL="0">
              <a:buNone/>
            </a:pPr>
            <a:endParaRPr lang="en-US" sz="4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881360" cy="128016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TrackSeed</a:t>
            </a:r>
            <a:endParaRPr lang="en-US" sz="5400" dirty="0"/>
          </a:p>
        </p:txBody>
      </p:sp>
      <p:sp>
        <p:nvSpPr>
          <p:cNvPr id="3" name="Text 0"/>
          <p:cNvSpPr/>
          <p:nvPr>
            <p:ph idx="102" type="body" hasCustomPrompt="1"/>
          </p:nvPr>
        </p:nvSpPr>
        <p:spPr>
          <a:xfrm>
            <a:off x="640080" y="3520440"/>
            <a:ext cx="10881360" cy="1188720"/>
          </a:xfrm>
          <a:prstGeom prst="rect">
            <a:avLst/>
          </a:prstGeom>
          <a:noFill/>
          <a:ln/>
        </p:spPr>
        <p:txBody>
          <a:bodyPr wrap="square" lIns="0" tIns="0" rIns="0" bIns="0" rtlCol="0" anchor="t"/>
          <a:lstStyle/>
          <a:p>
            <a:pPr indent="0" marL="0">
              <a:buNone/>
            </a:pPr>
            <a:r>
              <a:rPr lang="en-US" sz="2200" dirty="0">
                <a:solidFill>
                  <a:schemeClr val="bg1"/>
                </a:solidFill>
              </a:rPr>
              <a:t>AR cone placement and a track digital twin for Formula Student</a:t>
            </a:r>
            <a:endParaRPr lang="en-US" sz="2200" dirty="0"/>
          </a:p>
          <a:p>
            <a:pPr indent="0" marL="0">
              <a:buNone/>
            </a:pPr>
            <a:r>
              <a:rPr lang="en-US" sz="1800" dirty="0">
                <a:solidFill>
                  <a:schemeClr val="bg2"/>
                </a:solidFill>
              </a:rPr>
              <a:t>State of the art and project proposal</a:t>
            </a:r>
            <a:endParaRPr lang="en-US" sz="2200" dirty="0"/>
          </a:p>
        </p:txBody>
      </p:sp>
      <p:sp>
        <p:nvSpPr>
          <p:cNvPr id="4" name="Text 2"/>
          <p:cNvSpPr txBox="1"/>
          <p:nvPr/>
        </p:nvSpPr>
        <p:spPr>
          <a:xfrm>
            <a:off x="640080" y="5257800"/>
            <a:ext cx="7315200" cy="365760"/>
          </a:xfrm>
          <a:prstGeom prst="rect">
            <a:avLst/>
          </a:prstGeom>
          <a:noFill/>
          <a:ln/>
        </p:spPr>
        <p:txBody>
          <a:bodyPr wrap="square" lIns="0" tIns="0" rIns="0" bIns="0" rtlCol="0" anchor="t"/>
          <a:lstStyle/>
          <a:p>
            <a:pPr indent="0" marL="0">
              <a:buNone/>
            </a:pPr>
            <a:r>
              <a:rPr lang="en-US" sz="1800" b="1" dirty="0">
                <a:solidFill>
                  <a:schemeClr val="bg1"/>
                </a:solidFill>
              </a:rPr>
              <a:t>André Lopes  ·  Tomás Santos</a:t>
            </a:r>
            <a:endParaRPr lang="en-US" sz="1800" dirty="0"/>
          </a:p>
        </p:txBody>
      </p:sp>
      <p:sp>
        <p:nvSpPr>
          <p:cNvPr id="5" name="Text 3"/>
          <p:cNvSpPr txBox="1"/>
          <p:nvPr/>
        </p:nvSpPr>
        <p:spPr>
          <a:xfrm>
            <a:off x="640080" y="5669280"/>
            <a:ext cx="8229600" cy="320040"/>
          </a:xfrm>
          <a:prstGeom prst="rect">
            <a:avLst/>
          </a:prstGeom>
          <a:noFill/>
          <a:ln/>
        </p:spPr>
        <p:txBody>
          <a:bodyPr wrap="square" lIns="0" tIns="0" rIns="0" bIns="0" rtlCol="0" anchor="t"/>
          <a:lstStyle/>
          <a:p>
            <a:pPr indent="0" marL="0">
              <a:buNone/>
            </a:pPr>
            <a:r>
              <a:rPr lang="en-US" sz="1400" dirty="0">
                <a:solidFill>
                  <a:schemeClr val="bg2"/>
                </a:solidFill>
              </a:rPr>
              <a:t>Emerging and Intelligent Technologies  ·  Virtual and Augmented Reality  ·  2026/2027</a:t>
            </a:r>
            <a:endParaRPr lang="en-US" sz="1400" dirty="0"/>
          </a:p>
        </p:txBody>
      </p:sp>
      <p:sp>
        <p:nvSpPr>
          <p:cNvPr id="6" name="title cone 0"/>
          <p:cNvSpPr/>
          <p:nvPr/>
        </p:nvSpPr>
        <p:spPr>
          <a:xfrm>
            <a:off x="9052560" y="5349240"/>
            <a:ext cx="292608" cy="457200"/>
          </a:xfrm>
          <a:prstGeom prst="triangle">
            <a:avLst/>
          </a:prstGeom>
          <a:solidFill>
            <a:schemeClr val="accent1"/>
          </a:solidFill>
          <a:ln w="12700">
            <a:solidFill>
              <a:schemeClr val="accent1"/>
            </a:solidFill>
            <a:prstDash val="solid"/>
          </a:ln>
        </p:spPr>
      </p:sp>
      <p:sp>
        <p:nvSpPr>
          <p:cNvPr id="7" name="title cone 0 base"/>
          <p:cNvSpPr/>
          <p:nvPr/>
        </p:nvSpPr>
        <p:spPr>
          <a:xfrm>
            <a:off x="9017447" y="5788152"/>
            <a:ext cx="362834" cy="54864"/>
          </a:xfrm>
          <a:prstGeom prst="rect">
            <a:avLst/>
          </a:prstGeom>
          <a:solidFill>
            <a:schemeClr val="accent1"/>
          </a:solidFill>
          <a:ln w="12700">
            <a:solidFill>
              <a:schemeClr val="accent1"/>
            </a:solidFill>
            <a:prstDash val="solid"/>
          </a:ln>
        </p:spPr>
      </p:sp>
      <p:sp>
        <p:nvSpPr>
          <p:cNvPr id="8" name="title cone 1"/>
          <p:cNvSpPr/>
          <p:nvPr/>
        </p:nvSpPr>
        <p:spPr>
          <a:xfrm>
            <a:off x="9509760" y="5349240"/>
            <a:ext cx="292608" cy="457200"/>
          </a:xfrm>
          <a:prstGeom prst="triangle">
            <a:avLst/>
          </a:prstGeom>
          <a:solidFill>
            <a:schemeClr val="accent2"/>
          </a:solidFill>
          <a:ln w="12700">
            <a:solidFill>
              <a:schemeClr val="accent2"/>
            </a:solidFill>
            <a:prstDash val="solid"/>
          </a:ln>
        </p:spPr>
      </p:sp>
      <p:sp>
        <p:nvSpPr>
          <p:cNvPr id="9" name="title cone 1 base"/>
          <p:cNvSpPr/>
          <p:nvPr/>
        </p:nvSpPr>
        <p:spPr>
          <a:xfrm>
            <a:off x="9474647" y="5788152"/>
            <a:ext cx="362834" cy="54864"/>
          </a:xfrm>
          <a:prstGeom prst="rect">
            <a:avLst/>
          </a:prstGeom>
          <a:solidFill>
            <a:schemeClr val="accent2"/>
          </a:solidFill>
          <a:ln w="12700">
            <a:solidFill>
              <a:schemeClr val="accent2"/>
            </a:solidFill>
            <a:prstDash val="solid"/>
          </a:ln>
        </p:spPr>
      </p:sp>
      <p:sp>
        <p:nvSpPr>
          <p:cNvPr id="10" name="title cone 2"/>
          <p:cNvSpPr/>
          <p:nvPr/>
        </p:nvSpPr>
        <p:spPr>
          <a:xfrm>
            <a:off x="9966960" y="5349240"/>
            <a:ext cx="292608" cy="457200"/>
          </a:xfrm>
          <a:prstGeom prst="triangle">
            <a:avLst/>
          </a:prstGeom>
          <a:solidFill>
            <a:schemeClr val="accent3"/>
          </a:solidFill>
          <a:ln w="12700">
            <a:solidFill>
              <a:schemeClr val="accent3"/>
            </a:solidFill>
            <a:prstDash val="solid"/>
          </a:ln>
        </p:spPr>
      </p:sp>
      <p:sp>
        <p:nvSpPr>
          <p:cNvPr id="11" name="title cone 2 base"/>
          <p:cNvSpPr/>
          <p:nvPr/>
        </p:nvSpPr>
        <p:spPr>
          <a:xfrm>
            <a:off x="9931847" y="5788152"/>
            <a:ext cx="362834" cy="54864"/>
          </a:xfrm>
          <a:prstGeom prst="rect">
            <a:avLst/>
          </a:prstGeom>
          <a:solidFill>
            <a:schemeClr val="accent3"/>
          </a:solidFill>
          <a:ln w="12700">
            <a:solidFill>
              <a:schemeClr val="accent3"/>
            </a:solidFill>
            <a:prstDash val="solid"/>
          </a:ln>
        </p:spPr>
      </p:sp>
      <p:sp>
        <p:nvSpPr>
          <p:cNvPr id="12" name="title cone 3"/>
          <p:cNvSpPr/>
          <p:nvPr/>
        </p:nvSpPr>
        <p:spPr>
          <a:xfrm>
            <a:off x="10424160" y="5349240"/>
            <a:ext cx="292608" cy="457200"/>
          </a:xfrm>
          <a:prstGeom prst="triangle">
            <a:avLst/>
          </a:prstGeom>
          <a:solidFill>
            <a:schemeClr val="accent1"/>
          </a:solidFill>
          <a:ln w="12700">
            <a:solidFill>
              <a:schemeClr val="accent1"/>
            </a:solidFill>
            <a:prstDash val="solid"/>
          </a:ln>
        </p:spPr>
      </p:sp>
      <p:sp>
        <p:nvSpPr>
          <p:cNvPr id="13" name="title cone 3 base"/>
          <p:cNvSpPr/>
          <p:nvPr/>
        </p:nvSpPr>
        <p:spPr>
          <a:xfrm>
            <a:off x="10389047" y="5788152"/>
            <a:ext cx="362834" cy="54864"/>
          </a:xfrm>
          <a:prstGeom prst="rect">
            <a:avLst/>
          </a:prstGeom>
          <a:solidFill>
            <a:schemeClr val="accent1"/>
          </a:solidFill>
          <a:ln w="12700">
            <a:solidFill>
              <a:schemeClr val="accent1"/>
            </a:solidFill>
            <a:prstDash val="solid"/>
          </a:ln>
        </p:spPr>
      </p:sp>
      <p:sp>
        <p:nvSpPr>
          <p:cNvPr id="14" name="title cone 4"/>
          <p:cNvSpPr/>
          <p:nvPr/>
        </p:nvSpPr>
        <p:spPr>
          <a:xfrm>
            <a:off x="10881360" y="5349240"/>
            <a:ext cx="292608" cy="457200"/>
          </a:xfrm>
          <a:prstGeom prst="triangle">
            <a:avLst/>
          </a:prstGeom>
          <a:solidFill>
            <a:schemeClr val="accent2"/>
          </a:solidFill>
          <a:ln w="12700">
            <a:solidFill>
              <a:schemeClr val="accent2"/>
            </a:solidFill>
            <a:prstDash val="solid"/>
          </a:ln>
        </p:spPr>
      </p:sp>
      <p:sp>
        <p:nvSpPr>
          <p:cNvPr id="15" name="title cone 4 base"/>
          <p:cNvSpPr/>
          <p:nvPr/>
        </p:nvSpPr>
        <p:spPr>
          <a:xfrm>
            <a:off x="10846247" y="5788152"/>
            <a:ext cx="362834" cy="54864"/>
          </a:xfrm>
          <a:prstGeom prst="rect">
            <a:avLst/>
          </a:prstGeom>
          <a:solidFill>
            <a:schemeClr val="accent2"/>
          </a:solidFill>
          <a:ln w="12700">
            <a:solidFill>
              <a:schemeClr val="accent2"/>
            </a:solidFill>
            <a:prstDash val="solid"/>
          </a:ln>
        </p:spPr>
      </p:sp>
      <p:sp>
        <p:nvSpPr>
          <p:cNvPr id="16" name="title cone 5"/>
          <p:cNvSpPr/>
          <p:nvPr/>
        </p:nvSpPr>
        <p:spPr>
          <a:xfrm>
            <a:off x="11338560" y="5349240"/>
            <a:ext cx="292608" cy="457200"/>
          </a:xfrm>
          <a:prstGeom prst="triangle">
            <a:avLst/>
          </a:prstGeom>
          <a:solidFill>
            <a:schemeClr val="accent3"/>
          </a:solidFill>
          <a:ln w="12700">
            <a:solidFill>
              <a:schemeClr val="accent3"/>
            </a:solidFill>
            <a:prstDash val="solid"/>
          </a:ln>
        </p:spPr>
      </p:sp>
      <p:sp>
        <p:nvSpPr>
          <p:cNvPr id="17" name="title cone 5 base"/>
          <p:cNvSpPr/>
          <p:nvPr/>
        </p:nvSpPr>
        <p:spPr>
          <a:xfrm>
            <a:off x="11303447" y="5788152"/>
            <a:ext cx="362834" cy="54864"/>
          </a:xfrm>
          <a:prstGeom prst="rect">
            <a:avLst/>
          </a:prstGeom>
          <a:solidFill>
            <a:schemeClr val="accent3"/>
          </a:solidFill>
          <a:ln w="127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A track is only a pattern of cones</a:t>
            </a:r>
            <a:endParaRPr lang="en-US" sz="3600" dirty="0"/>
          </a:p>
        </p:txBody>
      </p:sp>
      <p:sp>
        <p:nvSpPr>
          <p:cNvPr id="3" name="cone spec card"/>
          <p:cNvSpPr/>
          <p:nvPr/>
        </p:nvSpPr>
        <p:spPr>
          <a:xfrm>
            <a:off x="548640" y="1463040"/>
            <a:ext cx="5120640" cy="4343400"/>
          </a:xfrm>
          <a:prstGeom prst="roundRect">
            <a:avLst>
              <a:gd name="adj" fmla="val 2526"/>
            </a:avLst>
          </a:prstGeom>
          <a:solidFill>
            <a:schemeClr val="bg2"/>
          </a:solidFill>
          <a:ln w="12700">
            <a:solidFill>
              <a:schemeClr val="bg2"/>
            </a:solidFill>
            <a:prstDash val="solid"/>
          </a:ln>
        </p:spPr>
      </p:sp>
      <p:sp>
        <p:nvSpPr>
          <p:cNvPr id="4" name="Text 2"/>
          <p:cNvSpPr txBox="1"/>
          <p:nvPr/>
        </p:nvSpPr>
        <p:spPr>
          <a:xfrm>
            <a:off x="868680" y="16916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FS Driverless 2026 specification</a:t>
            </a:r>
            <a:endParaRPr lang="en-US" sz="1800" dirty="0"/>
          </a:p>
        </p:txBody>
      </p:sp>
      <p:sp>
        <p:nvSpPr>
          <p:cNvPr id="5" name="Small blue cone"/>
          <p:cNvSpPr/>
          <p:nvPr/>
        </p:nvSpPr>
        <p:spPr>
          <a:xfrm>
            <a:off x="1005840" y="2450592"/>
            <a:ext cx="292608" cy="457200"/>
          </a:xfrm>
          <a:prstGeom prst="triangle">
            <a:avLst/>
          </a:prstGeom>
          <a:solidFill>
            <a:schemeClr val="accent1"/>
          </a:solidFill>
          <a:ln w="12700">
            <a:solidFill>
              <a:schemeClr val="accent1"/>
            </a:solidFill>
            <a:prstDash val="solid"/>
          </a:ln>
        </p:spPr>
      </p:sp>
      <p:sp>
        <p:nvSpPr>
          <p:cNvPr id="6" name="Small blue cone base"/>
          <p:cNvSpPr/>
          <p:nvPr/>
        </p:nvSpPr>
        <p:spPr>
          <a:xfrm>
            <a:off x="970727" y="2889504"/>
            <a:ext cx="362834" cy="54864"/>
          </a:xfrm>
          <a:prstGeom prst="rect">
            <a:avLst/>
          </a:prstGeom>
          <a:solidFill>
            <a:schemeClr val="accent1"/>
          </a:solidFill>
          <a:ln w="12700">
            <a:solidFill>
              <a:schemeClr val="accent1"/>
            </a:solidFill>
            <a:prstDash val="solid"/>
          </a:ln>
        </p:spPr>
      </p:sp>
      <p:sp>
        <p:nvSpPr>
          <p:cNvPr id="7" name="Text 5"/>
          <p:cNvSpPr txBox="1"/>
          <p:nvPr/>
        </p:nvSpPr>
        <p:spPr>
          <a:xfrm>
            <a:off x="1600200" y="2423160"/>
            <a:ext cx="3840480" cy="457200"/>
          </a:xfrm>
          <a:prstGeom prst="rect">
            <a:avLst/>
          </a:prstGeom>
          <a:noFill/>
          <a:ln/>
        </p:spPr>
        <p:txBody>
          <a:bodyPr wrap="square" lIns="0" tIns="0" rIns="0" bIns="0" rtlCol="0" anchor="t"/>
          <a:lstStyle/>
          <a:p>
            <a:pPr indent="0" marL="0">
              <a:buNone/>
            </a:pPr>
            <a:r>
              <a:rPr lang="en-US" sz="1600" b="1" dirty="0">
                <a:solidFill>
                  <a:schemeClr val="tx1"/>
                </a:solidFill>
              </a:rPr>
              <a:t>Small blue: </a:t>
            </a:r>
            <a:pPr indent="0" marL="0">
              <a:buNone/>
            </a:pPr>
            <a:r>
              <a:rPr lang="en-US" sz="1600" dirty="0">
                <a:solidFill>
                  <a:schemeClr val="tx1"/>
                </a:solidFill>
              </a:rPr>
              <a:t>left border</a:t>
            </a:r>
            <a:endParaRPr lang="en-US" sz="1600" dirty="0"/>
          </a:p>
        </p:txBody>
      </p:sp>
      <p:sp>
        <p:nvSpPr>
          <p:cNvPr id="8" name="Small yellow cone"/>
          <p:cNvSpPr/>
          <p:nvPr/>
        </p:nvSpPr>
        <p:spPr>
          <a:xfrm>
            <a:off x="1005840" y="3227832"/>
            <a:ext cx="292608" cy="457200"/>
          </a:xfrm>
          <a:prstGeom prst="triangle">
            <a:avLst/>
          </a:prstGeom>
          <a:solidFill>
            <a:schemeClr val="accent2"/>
          </a:solidFill>
          <a:ln w="12700">
            <a:solidFill>
              <a:schemeClr val="accent2"/>
            </a:solidFill>
            <a:prstDash val="solid"/>
          </a:ln>
        </p:spPr>
      </p:sp>
      <p:sp>
        <p:nvSpPr>
          <p:cNvPr id="9" name="Small yellow cone base"/>
          <p:cNvSpPr/>
          <p:nvPr/>
        </p:nvSpPr>
        <p:spPr>
          <a:xfrm>
            <a:off x="970727" y="3666744"/>
            <a:ext cx="362834" cy="54864"/>
          </a:xfrm>
          <a:prstGeom prst="rect">
            <a:avLst/>
          </a:prstGeom>
          <a:solidFill>
            <a:schemeClr val="accent2"/>
          </a:solidFill>
          <a:ln w="12700">
            <a:solidFill>
              <a:schemeClr val="accent2"/>
            </a:solidFill>
            <a:prstDash val="solid"/>
          </a:ln>
        </p:spPr>
      </p:sp>
      <p:sp>
        <p:nvSpPr>
          <p:cNvPr id="10" name="Text 8"/>
          <p:cNvSpPr txBox="1"/>
          <p:nvPr/>
        </p:nvSpPr>
        <p:spPr>
          <a:xfrm>
            <a:off x="1600200" y="3200400"/>
            <a:ext cx="3840480" cy="457200"/>
          </a:xfrm>
          <a:prstGeom prst="rect">
            <a:avLst/>
          </a:prstGeom>
          <a:noFill/>
          <a:ln/>
        </p:spPr>
        <p:txBody>
          <a:bodyPr wrap="square" lIns="0" tIns="0" rIns="0" bIns="0" rtlCol="0" anchor="t"/>
          <a:lstStyle/>
          <a:p>
            <a:pPr indent="0" marL="0">
              <a:buNone/>
            </a:pPr>
            <a:r>
              <a:rPr lang="en-US" sz="1600" b="1" dirty="0">
                <a:solidFill>
                  <a:schemeClr val="tx1"/>
                </a:solidFill>
              </a:rPr>
              <a:t>Small yellow: </a:t>
            </a:r>
            <a:pPr indent="0" marL="0">
              <a:buNone/>
            </a:pPr>
            <a:r>
              <a:rPr lang="en-US" sz="1600" dirty="0">
                <a:solidFill>
                  <a:schemeClr val="tx1"/>
                </a:solidFill>
              </a:rPr>
              <a:t>right border</a:t>
            </a:r>
            <a:endParaRPr lang="en-US" sz="1600" dirty="0"/>
          </a:p>
        </p:txBody>
      </p:sp>
      <p:sp>
        <p:nvSpPr>
          <p:cNvPr id="11" name="Small orange cone"/>
          <p:cNvSpPr/>
          <p:nvPr/>
        </p:nvSpPr>
        <p:spPr>
          <a:xfrm>
            <a:off x="1005840" y="4005072"/>
            <a:ext cx="292608" cy="457200"/>
          </a:xfrm>
          <a:prstGeom prst="triangle">
            <a:avLst/>
          </a:prstGeom>
          <a:solidFill>
            <a:schemeClr val="accent3"/>
          </a:solidFill>
          <a:ln w="12700">
            <a:solidFill>
              <a:schemeClr val="accent3"/>
            </a:solidFill>
            <a:prstDash val="solid"/>
          </a:ln>
        </p:spPr>
      </p:sp>
      <p:sp>
        <p:nvSpPr>
          <p:cNvPr id="12" name="Small orange cone base"/>
          <p:cNvSpPr/>
          <p:nvPr/>
        </p:nvSpPr>
        <p:spPr>
          <a:xfrm>
            <a:off x="970727" y="4443984"/>
            <a:ext cx="362834" cy="54864"/>
          </a:xfrm>
          <a:prstGeom prst="rect">
            <a:avLst/>
          </a:prstGeom>
          <a:solidFill>
            <a:schemeClr val="accent3"/>
          </a:solidFill>
          <a:ln w="12700">
            <a:solidFill>
              <a:schemeClr val="accent3"/>
            </a:solidFill>
            <a:prstDash val="solid"/>
          </a:ln>
        </p:spPr>
      </p:sp>
      <p:sp>
        <p:nvSpPr>
          <p:cNvPr id="13" name="Text 11"/>
          <p:cNvSpPr txBox="1"/>
          <p:nvPr/>
        </p:nvSpPr>
        <p:spPr>
          <a:xfrm>
            <a:off x="1600200" y="3977640"/>
            <a:ext cx="3840480" cy="457200"/>
          </a:xfrm>
          <a:prstGeom prst="rect">
            <a:avLst/>
          </a:prstGeom>
          <a:noFill/>
          <a:ln/>
        </p:spPr>
        <p:txBody>
          <a:bodyPr wrap="square" lIns="0" tIns="0" rIns="0" bIns="0" rtlCol="0" anchor="t"/>
          <a:lstStyle/>
          <a:p>
            <a:pPr indent="0" marL="0">
              <a:buNone/>
            </a:pPr>
            <a:r>
              <a:rPr lang="en-US" sz="1600" b="1" dirty="0">
                <a:solidFill>
                  <a:schemeClr val="tx1"/>
                </a:solidFill>
              </a:rPr>
              <a:t>Small orange: </a:t>
            </a:r>
            <a:pPr indent="0" marL="0">
              <a:buNone/>
            </a:pPr>
            <a:r>
              <a:rPr lang="en-US" sz="1600" dirty="0">
                <a:solidFill>
                  <a:schemeClr val="tx1"/>
                </a:solidFill>
              </a:rPr>
              <a:t>entry and exit lanes</a:t>
            </a:r>
            <a:endParaRPr lang="en-US" sz="1600" dirty="0"/>
          </a:p>
        </p:txBody>
      </p:sp>
      <p:sp>
        <p:nvSpPr>
          <p:cNvPr id="14" name="Big orange cone"/>
          <p:cNvSpPr/>
          <p:nvPr/>
        </p:nvSpPr>
        <p:spPr>
          <a:xfrm>
            <a:off x="960120" y="4617720"/>
            <a:ext cx="384048" cy="621792"/>
          </a:xfrm>
          <a:prstGeom prst="triangle">
            <a:avLst/>
          </a:prstGeom>
          <a:solidFill>
            <a:schemeClr val="accent3"/>
          </a:solidFill>
          <a:ln w="12700">
            <a:solidFill>
              <a:schemeClr val="accent3"/>
            </a:solidFill>
            <a:prstDash val="solid"/>
          </a:ln>
        </p:spPr>
      </p:sp>
      <p:sp>
        <p:nvSpPr>
          <p:cNvPr id="15" name="Big orange cone base"/>
          <p:cNvSpPr/>
          <p:nvPr/>
        </p:nvSpPr>
        <p:spPr>
          <a:xfrm>
            <a:off x="914034" y="5221224"/>
            <a:ext cx="476220" cy="74615"/>
          </a:xfrm>
          <a:prstGeom prst="rect">
            <a:avLst/>
          </a:prstGeom>
          <a:solidFill>
            <a:schemeClr val="accent3"/>
          </a:solidFill>
          <a:ln w="12700">
            <a:solidFill>
              <a:schemeClr val="accent3"/>
            </a:solidFill>
            <a:prstDash val="solid"/>
          </a:ln>
        </p:spPr>
      </p:sp>
      <p:sp>
        <p:nvSpPr>
          <p:cNvPr id="16" name="Text 14"/>
          <p:cNvSpPr txBox="1"/>
          <p:nvPr/>
        </p:nvSpPr>
        <p:spPr>
          <a:xfrm>
            <a:off x="1600200" y="4754880"/>
            <a:ext cx="3840480" cy="457200"/>
          </a:xfrm>
          <a:prstGeom prst="rect">
            <a:avLst/>
          </a:prstGeom>
          <a:noFill/>
          <a:ln/>
        </p:spPr>
        <p:txBody>
          <a:bodyPr wrap="square" lIns="0" tIns="0" rIns="0" bIns="0" rtlCol="0" anchor="t"/>
          <a:lstStyle/>
          <a:p>
            <a:pPr indent="0" marL="0">
              <a:buNone/>
            </a:pPr>
            <a:r>
              <a:rPr lang="en-US" sz="1600" b="1" dirty="0">
                <a:solidFill>
                  <a:schemeClr val="tx1"/>
                </a:solidFill>
              </a:rPr>
              <a:t>Big orange: </a:t>
            </a:r>
            <a:pPr indent="0" marL="0">
              <a:buNone/>
            </a:pPr>
            <a:r>
              <a:rPr lang="en-US" sz="1600" dirty="0">
                <a:solidFill>
                  <a:schemeClr val="tx1"/>
                </a:solidFill>
              </a:rPr>
              <a:t>start, finish and timekeeping lines</a:t>
            </a:r>
            <a:endParaRPr lang="en-US" sz="1600" dirty="0"/>
          </a:p>
        </p:txBody>
      </p:sp>
      <p:sp>
        <p:nvSpPr>
          <p:cNvPr id="17" name="Text 15"/>
          <p:cNvSpPr txBox="1"/>
          <p:nvPr/>
        </p:nvSpPr>
        <p:spPr>
          <a:xfrm>
            <a:off x="868680" y="5349240"/>
            <a:ext cx="4572000" cy="320040"/>
          </a:xfrm>
          <a:prstGeom prst="rect">
            <a:avLst/>
          </a:prstGeom>
          <a:noFill/>
          <a:ln/>
        </p:spPr>
        <p:txBody>
          <a:bodyPr wrap="square" lIns="0" tIns="0" rIns="0" bIns="0" rtlCol="0" anchor="t"/>
          <a:lstStyle/>
          <a:p>
            <a:pPr indent="0" marL="0">
              <a:buNone/>
            </a:pPr>
            <a:r>
              <a:rPr lang="en-US" sz="1400" i="1" dirty="0">
                <a:solidFill>
                  <a:schemeClr val="accent5"/>
                </a:solidFill>
              </a:rPr>
              <a:t>At most 5 m between cones; less in corners</a:t>
            </a:r>
            <a:endParaRPr lang="en-US" sz="1400" dirty="0"/>
          </a:p>
        </p:txBody>
      </p:sp>
      <p:sp>
        <p:nvSpPr>
          <p:cNvPr id="18" name="Tape and trigonometry circle"/>
          <p:cNvSpPr/>
          <p:nvPr/>
        </p:nvSpPr>
        <p:spPr>
          <a:xfrm>
            <a:off x="6217920" y="1508760"/>
            <a:ext cx="640080" cy="640080"/>
          </a:xfrm>
          <a:prstGeom prst="ellipse">
            <a:avLst/>
          </a:prstGeom>
          <a:solidFill>
            <a:schemeClr val="accent5"/>
          </a:solidFill>
          <a:ln w="12700">
            <a:solidFill>
              <a:schemeClr val="accent5"/>
            </a:solidFill>
            <a:prstDash val="solid"/>
          </a:ln>
        </p:spPr>
      </p:sp>
      <p:pic>
        <p:nvPicPr>
          <p:cNvPr id="19" name="Tape and trigonometry icon" descr="Tape and trigonometry">    </p:cNvPr>
          <p:cNvPicPr>
            <a:picLocks noChangeAspect="1"/>
          </p:cNvPicPr>
          <p:nvPr/>
        </p:nvPicPr>
        <p:blipFill>
          <a:blip r:embed="rId1"/>
          <a:stretch>
            <a:fillRect/>
          </a:stretch>
        </p:blipFill>
        <p:spPr>
          <a:xfrm>
            <a:off x="6390742" y="1681582"/>
            <a:ext cx="294437" cy="294437"/>
          </a:xfrm>
          <a:prstGeom prst="rect">
            <a:avLst/>
          </a:prstGeom>
        </p:spPr>
      </p:pic>
      <p:sp>
        <p:nvSpPr>
          <p:cNvPr id="20" name="Text 17"/>
          <p:cNvSpPr txBox="1"/>
          <p:nvPr/>
        </p:nvSpPr>
        <p:spPr>
          <a:xfrm>
            <a:off x="7086600" y="1490472"/>
            <a:ext cx="4572000" cy="320040"/>
          </a:xfrm>
          <a:prstGeom prst="rect">
            <a:avLst/>
          </a:prstGeom>
          <a:noFill/>
          <a:ln/>
        </p:spPr>
        <p:txBody>
          <a:bodyPr wrap="square" lIns="0" tIns="0" rIns="0" bIns="0" rtlCol="0" anchor="t"/>
          <a:lstStyle/>
          <a:p>
            <a:pPr indent="0" marL="0">
              <a:buNone/>
            </a:pPr>
            <a:r>
              <a:rPr lang="en-US" sz="1800" b="1" dirty="0">
                <a:solidFill>
                  <a:schemeClr val="tx1"/>
                </a:solidFill>
              </a:rPr>
              <a:t>Tape and trigonometry</a:t>
            </a:r>
            <a:endParaRPr lang="en-US" sz="1800" dirty="0"/>
          </a:p>
        </p:txBody>
      </p:sp>
      <p:sp>
        <p:nvSpPr>
          <p:cNvPr id="21" name="Text 18"/>
          <p:cNvSpPr txBox="1"/>
          <p:nvPr/>
        </p:nvSpPr>
        <p:spPr>
          <a:xfrm>
            <a:off x="7086600" y="1837944"/>
            <a:ext cx="4572000" cy="320040"/>
          </a:xfrm>
          <a:prstGeom prst="rect">
            <a:avLst/>
          </a:prstGeom>
          <a:noFill/>
          <a:ln/>
        </p:spPr>
        <p:txBody>
          <a:bodyPr wrap="square" lIns="0" tIns="0" rIns="0" bIns="0" rtlCol="0" anchor="t"/>
          <a:lstStyle/>
          <a:p>
            <a:pPr indent="0" marL="0">
              <a:buNone/>
            </a:pPr>
            <a:r>
              <a:rPr lang="en-US" sz="1500" dirty="0">
                <a:solidFill>
                  <a:schemeClr val="accent5"/>
                </a:solidFill>
              </a:rPr>
              <a:t>The plan is transferred to the ground by hand</a:t>
            </a:r>
            <a:endParaRPr lang="en-US" sz="1500" dirty="0"/>
          </a:p>
        </p:txBody>
      </p:sp>
      <p:sp>
        <p:nvSpPr>
          <p:cNvPr id="22" name="Several people, lost test time circle"/>
          <p:cNvSpPr/>
          <p:nvPr/>
        </p:nvSpPr>
        <p:spPr>
          <a:xfrm>
            <a:off x="6217920" y="2468880"/>
            <a:ext cx="640080" cy="640080"/>
          </a:xfrm>
          <a:prstGeom prst="ellipse">
            <a:avLst/>
          </a:prstGeom>
          <a:solidFill>
            <a:schemeClr val="accent5"/>
          </a:solidFill>
          <a:ln w="12700">
            <a:solidFill>
              <a:schemeClr val="accent5"/>
            </a:solidFill>
            <a:prstDash val="solid"/>
          </a:ln>
        </p:spPr>
      </p:sp>
      <p:pic>
        <p:nvPicPr>
          <p:cNvPr id="23" name="Several people, lost test time icon" descr="Several people, lost test time">    </p:cNvPr>
          <p:cNvPicPr>
            <a:picLocks noChangeAspect="1"/>
          </p:cNvPicPr>
          <p:nvPr/>
        </p:nvPicPr>
        <p:blipFill>
          <a:blip r:embed="rId2"/>
          <a:stretch>
            <a:fillRect/>
          </a:stretch>
        </p:blipFill>
        <p:spPr>
          <a:xfrm>
            <a:off x="6390742" y="2641702"/>
            <a:ext cx="294437" cy="294437"/>
          </a:xfrm>
          <a:prstGeom prst="rect">
            <a:avLst/>
          </a:prstGeom>
        </p:spPr>
      </p:pic>
      <p:sp>
        <p:nvSpPr>
          <p:cNvPr id="24" name="Text 20"/>
          <p:cNvSpPr txBox="1"/>
          <p:nvPr/>
        </p:nvSpPr>
        <p:spPr>
          <a:xfrm>
            <a:off x="7086600" y="2450592"/>
            <a:ext cx="4572000" cy="320040"/>
          </a:xfrm>
          <a:prstGeom prst="rect">
            <a:avLst/>
          </a:prstGeom>
          <a:noFill/>
          <a:ln/>
        </p:spPr>
        <p:txBody>
          <a:bodyPr wrap="square" lIns="0" tIns="0" rIns="0" bIns="0" rtlCol="0" anchor="t"/>
          <a:lstStyle/>
          <a:p>
            <a:pPr indent="0" marL="0">
              <a:buNone/>
            </a:pPr>
            <a:r>
              <a:rPr lang="en-US" sz="1800" b="1" dirty="0">
                <a:solidFill>
                  <a:schemeClr val="tx1"/>
                </a:solidFill>
              </a:rPr>
              <a:t>Several people, lost test time</a:t>
            </a:r>
            <a:endParaRPr lang="en-US" sz="1800" dirty="0"/>
          </a:p>
        </p:txBody>
      </p:sp>
      <p:sp>
        <p:nvSpPr>
          <p:cNvPr id="25" name="Text 21"/>
          <p:cNvSpPr txBox="1"/>
          <p:nvPr/>
        </p:nvSpPr>
        <p:spPr>
          <a:xfrm>
            <a:off x="7086600" y="2798064"/>
            <a:ext cx="4572000" cy="320040"/>
          </a:xfrm>
          <a:prstGeom prst="rect">
            <a:avLst/>
          </a:prstGeom>
          <a:noFill/>
          <a:ln/>
        </p:spPr>
        <p:txBody>
          <a:bodyPr wrap="square" lIns="0" tIns="0" rIns="0" bIns="0" rtlCol="0" anchor="t"/>
          <a:lstStyle/>
          <a:p>
            <a:pPr indent="0" marL="0">
              <a:buNone/>
            </a:pPr>
            <a:r>
              <a:rPr lang="en-US" sz="1500" dirty="0">
                <a:solidFill>
                  <a:schemeClr val="accent5"/>
                </a:solidFill>
              </a:rPr>
              <a:t>Each layout is rebuilt many times per season</a:t>
            </a:r>
            <a:endParaRPr lang="en-US" sz="1500" dirty="0"/>
          </a:p>
        </p:txBody>
      </p:sp>
      <p:sp>
        <p:nvSpPr>
          <p:cNvPr id="26" name="No check of the result circle"/>
          <p:cNvSpPr/>
          <p:nvPr/>
        </p:nvSpPr>
        <p:spPr>
          <a:xfrm>
            <a:off x="6217920" y="3429000"/>
            <a:ext cx="640080" cy="640080"/>
          </a:xfrm>
          <a:prstGeom prst="ellipse">
            <a:avLst/>
          </a:prstGeom>
          <a:solidFill>
            <a:schemeClr val="accent5"/>
          </a:solidFill>
          <a:ln w="12700">
            <a:solidFill>
              <a:schemeClr val="accent5"/>
            </a:solidFill>
            <a:prstDash val="solid"/>
          </a:ln>
        </p:spPr>
      </p:sp>
      <p:pic>
        <p:nvPicPr>
          <p:cNvPr id="27" name="No check of the result icon" descr="No check of the result">    </p:cNvPr>
          <p:cNvPicPr>
            <a:picLocks noChangeAspect="1"/>
          </p:cNvPicPr>
          <p:nvPr/>
        </p:nvPicPr>
        <p:blipFill>
          <a:blip r:embed="rId3"/>
          <a:stretch>
            <a:fillRect/>
          </a:stretch>
        </p:blipFill>
        <p:spPr>
          <a:xfrm>
            <a:off x="6390742" y="3601822"/>
            <a:ext cx="294437" cy="294437"/>
          </a:xfrm>
          <a:prstGeom prst="rect">
            <a:avLst/>
          </a:prstGeom>
        </p:spPr>
      </p:pic>
      <p:sp>
        <p:nvSpPr>
          <p:cNvPr id="28" name="Text 23"/>
          <p:cNvSpPr txBox="1"/>
          <p:nvPr/>
        </p:nvSpPr>
        <p:spPr>
          <a:xfrm>
            <a:off x="7086600" y="3410712"/>
            <a:ext cx="4572000" cy="320040"/>
          </a:xfrm>
          <a:prstGeom prst="rect">
            <a:avLst/>
          </a:prstGeom>
          <a:noFill/>
          <a:ln/>
        </p:spPr>
        <p:txBody>
          <a:bodyPr wrap="square" lIns="0" tIns="0" rIns="0" bIns="0" rtlCol="0" anchor="t"/>
          <a:lstStyle/>
          <a:p>
            <a:pPr indent="0" marL="0">
              <a:buNone/>
            </a:pPr>
            <a:r>
              <a:rPr lang="en-US" sz="1800" b="1" dirty="0">
                <a:solidFill>
                  <a:schemeClr val="tx1"/>
                </a:solidFill>
              </a:rPr>
              <a:t>No check of the result</a:t>
            </a:r>
            <a:endParaRPr lang="en-US" sz="1800" dirty="0"/>
          </a:p>
        </p:txBody>
      </p:sp>
      <p:sp>
        <p:nvSpPr>
          <p:cNvPr id="29" name="Text 24"/>
          <p:cNvSpPr txBox="1"/>
          <p:nvPr/>
        </p:nvSpPr>
        <p:spPr>
          <a:xfrm>
            <a:off x="7086600" y="3758184"/>
            <a:ext cx="4572000" cy="320040"/>
          </a:xfrm>
          <a:prstGeom prst="rect">
            <a:avLst/>
          </a:prstGeom>
          <a:noFill/>
          <a:ln/>
        </p:spPr>
        <p:txBody>
          <a:bodyPr wrap="square" lIns="0" tIns="0" rIns="0" bIns="0" rtlCol="0" anchor="t"/>
          <a:lstStyle/>
          <a:p>
            <a:pPr indent="0" marL="0">
              <a:buNone/>
            </a:pPr>
            <a:r>
              <a:rPr lang="en-US" sz="1500" dirty="0">
                <a:solidFill>
                  <a:schemeClr val="accent5"/>
                </a:solidFill>
              </a:rPr>
              <a:t>A wrong cone is fixed only if someone notices</a:t>
            </a:r>
            <a:endParaRPr lang="en-US" sz="1500" dirty="0"/>
          </a:p>
        </p:txBody>
      </p:sp>
      <p:sp>
        <p:nvSpPr>
          <p:cNvPr id="30" name="driverless callout"/>
          <p:cNvSpPr/>
          <p:nvPr/>
        </p:nvSpPr>
        <p:spPr>
          <a:xfrm>
            <a:off x="6217920" y="4526280"/>
            <a:ext cx="5394960" cy="1280160"/>
          </a:xfrm>
          <a:prstGeom prst="roundRect">
            <a:avLst>
              <a:gd name="adj" fmla="val 8571"/>
            </a:avLst>
          </a:prstGeom>
          <a:solidFill>
            <a:schemeClr val="tx2"/>
          </a:solidFill>
          <a:ln w="12700">
            <a:solidFill>
              <a:schemeClr val="tx2"/>
            </a:solidFill>
            <a:prstDash val="solid"/>
          </a:ln>
        </p:spPr>
      </p:sp>
      <p:sp>
        <p:nvSpPr>
          <p:cNvPr id="31" name="Text 26"/>
          <p:cNvSpPr txBox="1"/>
          <p:nvPr/>
        </p:nvSpPr>
        <p:spPr>
          <a:xfrm>
            <a:off x="6492240" y="4690872"/>
            <a:ext cx="4846320" cy="960120"/>
          </a:xfrm>
          <a:prstGeom prst="rect">
            <a:avLst/>
          </a:prstGeom>
          <a:noFill/>
          <a:ln/>
        </p:spPr>
        <p:txBody>
          <a:bodyPr wrap="square" lIns="0" tIns="0" rIns="0" bIns="0" rtlCol="0" anchor="ctr"/>
          <a:lstStyle/>
          <a:p>
            <a:pPr indent="0" marL="0">
              <a:buNone/>
            </a:pPr>
            <a:r>
              <a:rPr lang="en-US" sz="1600" dirty="0">
                <a:solidFill>
                  <a:schemeClr val="bg1"/>
                </a:solidFill>
              </a:rPr>
              <a:t>Driverless cars use the cones as landmarks. A layout that differs from the plan changes the problem the car is solving.</a:t>
            </a:r>
            <a:endParaRPr lang="en-US" sz="1600" dirty="0"/>
          </a:p>
        </p:txBody>
      </p:sp>
      <p:sp>
        <p:nvSpPr>
          <p:cNvPr id="32" name="Text 27"/>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Sources: FS Driverless Specification 2026; Kabzan et al., 2020</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TrackSeed: one person, one phone</a:t>
            </a:r>
            <a:endParaRPr lang="en-US" sz="3600" dirty="0"/>
          </a:p>
        </p:txBody>
      </p:sp>
      <p:sp>
        <p:nvSpPr>
          <p:cNvPr id="3" name="Upload plan card"/>
          <p:cNvSpPr/>
          <p:nvPr/>
        </p:nvSpPr>
        <p:spPr>
          <a:xfrm>
            <a:off x="548640" y="1600200"/>
            <a:ext cx="2011680" cy="2743200"/>
          </a:xfrm>
          <a:prstGeom prst="roundRect">
            <a:avLst>
              <a:gd name="adj" fmla="val 5455"/>
            </a:avLst>
          </a:prstGeom>
          <a:solidFill>
            <a:schemeClr val="bg2"/>
          </a:solidFill>
          <a:ln w="12700">
            <a:solidFill>
              <a:schemeClr val="bg2"/>
            </a:solidFill>
            <a:prstDash val="solid"/>
          </a:ln>
        </p:spPr>
      </p:sp>
      <p:sp>
        <p:nvSpPr>
          <p:cNvPr id="4" name="Upload plan circle"/>
          <p:cNvSpPr/>
          <p:nvPr/>
        </p:nvSpPr>
        <p:spPr>
          <a:xfrm>
            <a:off x="1143000" y="1828800"/>
            <a:ext cx="822960" cy="822960"/>
          </a:xfrm>
          <a:prstGeom prst="ellipse">
            <a:avLst/>
          </a:prstGeom>
          <a:solidFill>
            <a:schemeClr val="accent5"/>
          </a:solidFill>
          <a:ln w="12700">
            <a:solidFill>
              <a:schemeClr val="accent5"/>
            </a:solidFill>
            <a:prstDash val="solid"/>
          </a:ln>
        </p:spPr>
      </p:sp>
      <p:pic>
        <p:nvPicPr>
          <p:cNvPr id="5" name="Upload plan icon" descr="Upload plan">    </p:cNvPr>
          <p:cNvPicPr>
            <a:picLocks noChangeAspect="1"/>
          </p:cNvPicPr>
          <p:nvPr/>
        </p:nvPicPr>
        <p:blipFill>
          <a:blip r:embed="rId1"/>
          <a:stretch>
            <a:fillRect/>
          </a:stretch>
        </p:blipFill>
        <p:spPr>
          <a:xfrm>
            <a:off x="1365199" y="2050999"/>
            <a:ext cx="378562" cy="378562"/>
          </a:xfrm>
          <a:prstGeom prst="rect">
            <a:avLst/>
          </a:prstGeom>
        </p:spPr>
      </p:pic>
      <p:sp>
        <p:nvSpPr>
          <p:cNvPr id="6" name="Text 3"/>
          <p:cNvSpPr txBox="1"/>
          <p:nvPr/>
        </p:nvSpPr>
        <p:spPr>
          <a:xfrm>
            <a:off x="685800" y="2834640"/>
            <a:ext cx="1737360" cy="548640"/>
          </a:xfrm>
          <a:prstGeom prst="rect">
            <a:avLst/>
          </a:prstGeom>
          <a:noFill/>
          <a:ln/>
        </p:spPr>
        <p:txBody>
          <a:bodyPr wrap="square" lIns="0" tIns="0" rIns="0" bIns="0" rtlCol="0" anchor="ctr"/>
          <a:lstStyle/>
          <a:p>
            <a:pPr algn="ctr" indent="0" marL="0">
              <a:buNone/>
            </a:pPr>
            <a:r>
              <a:rPr lang="en-US" sz="1700" b="1" dirty="0">
                <a:solidFill>
                  <a:schemeClr val="tx1"/>
                </a:solidFill>
              </a:rPr>
              <a:t>1. Upload plan</a:t>
            </a:r>
            <a:endParaRPr lang="en-US" sz="1700" dirty="0"/>
          </a:p>
        </p:txBody>
      </p:sp>
      <p:sp>
        <p:nvSpPr>
          <p:cNvPr id="7" name="Text 4"/>
          <p:cNvSpPr txBox="1"/>
          <p:nvPr/>
        </p:nvSpPr>
        <p:spPr>
          <a:xfrm>
            <a:off x="685800" y="3429000"/>
            <a:ext cx="1737360" cy="777240"/>
          </a:xfrm>
          <a:prstGeom prst="rect">
            <a:avLst/>
          </a:prstGeom>
          <a:noFill/>
          <a:ln/>
        </p:spPr>
        <p:txBody>
          <a:bodyPr wrap="square" lIns="0" tIns="0" rIns="0" bIns="0" rtlCol="0" anchor="t"/>
          <a:lstStyle/>
          <a:p>
            <a:pPr algn="ctr" indent="0" marL="0">
              <a:buNone/>
            </a:pPr>
            <a:r>
              <a:rPr lang="en-US" sz="1400" dirty="0">
                <a:solidFill>
                  <a:schemeClr val="accent5"/>
                </a:solidFill>
              </a:rPr>
              <a:t>Track as JSON on the web dashboard</a:t>
            </a:r>
            <a:endParaRPr lang="en-US" sz="1400" dirty="0"/>
          </a:p>
        </p:txBody>
      </p:sp>
      <p:sp>
        <p:nvSpPr>
          <p:cNvPr id="8" name="flow arrow 0"/>
          <p:cNvSpPr/>
          <p:nvPr/>
        </p:nvSpPr>
        <p:spPr>
          <a:xfrm>
            <a:off x="2596896" y="2834640"/>
            <a:ext cx="182880" cy="274320"/>
          </a:xfrm>
          <a:prstGeom prst="rightArrow">
            <a:avLst/>
          </a:prstGeom>
          <a:solidFill>
            <a:schemeClr val="accent5"/>
          </a:solidFill>
          <a:ln w="12700">
            <a:solidFill>
              <a:schemeClr val="accent5"/>
            </a:solidFill>
            <a:prstDash val="solid"/>
          </a:ln>
        </p:spPr>
      </p:sp>
      <p:sp>
        <p:nvSpPr>
          <p:cNvPr id="9" name="Align card"/>
          <p:cNvSpPr/>
          <p:nvPr/>
        </p:nvSpPr>
        <p:spPr>
          <a:xfrm>
            <a:off x="2816352" y="1600200"/>
            <a:ext cx="2011680" cy="2743200"/>
          </a:xfrm>
          <a:prstGeom prst="roundRect">
            <a:avLst>
              <a:gd name="adj" fmla="val 5455"/>
            </a:avLst>
          </a:prstGeom>
          <a:solidFill>
            <a:schemeClr val="bg2"/>
          </a:solidFill>
          <a:ln w="12700">
            <a:solidFill>
              <a:schemeClr val="bg2"/>
            </a:solidFill>
            <a:prstDash val="solid"/>
          </a:ln>
        </p:spPr>
      </p:sp>
      <p:sp>
        <p:nvSpPr>
          <p:cNvPr id="10" name="Align circle"/>
          <p:cNvSpPr/>
          <p:nvPr/>
        </p:nvSpPr>
        <p:spPr>
          <a:xfrm>
            <a:off x="3410712" y="1828800"/>
            <a:ext cx="822960" cy="822960"/>
          </a:xfrm>
          <a:prstGeom prst="ellipse">
            <a:avLst/>
          </a:prstGeom>
          <a:solidFill>
            <a:schemeClr val="accent1"/>
          </a:solidFill>
          <a:ln w="12700">
            <a:solidFill>
              <a:schemeClr val="accent1"/>
            </a:solidFill>
            <a:prstDash val="solid"/>
          </a:ln>
        </p:spPr>
      </p:sp>
      <p:pic>
        <p:nvPicPr>
          <p:cNvPr id="11" name="Align icon" descr="Align">    </p:cNvPr>
          <p:cNvPicPr>
            <a:picLocks noChangeAspect="1"/>
          </p:cNvPicPr>
          <p:nvPr/>
        </p:nvPicPr>
        <p:blipFill>
          <a:blip r:embed="rId2"/>
          <a:stretch>
            <a:fillRect/>
          </a:stretch>
        </p:blipFill>
        <p:spPr>
          <a:xfrm>
            <a:off x="3632911" y="2050999"/>
            <a:ext cx="378562" cy="378562"/>
          </a:xfrm>
          <a:prstGeom prst="rect">
            <a:avLst/>
          </a:prstGeom>
        </p:spPr>
      </p:pic>
      <p:sp>
        <p:nvSpPr>
          <p:cNvPr id="12" name="Text 8"/>
          <p:cNvSpPr txBox="1"/>
          <p:nvPr/>
        </p:nvSpPr>
        <p:spPr>
          <a:xfrm>
            <a:off x="2953512" y="2834640"/>
            <a:ext cx="1737360" cy="548640"/>
          </a:xfrm>
          <a:prstGeom prst="rect">
            <a:avLst/>
          </a:prstGeom>
          <a:noFill/>
          <a:ln/>
        </p:spPr>
        <p:txBody>
          <a:bodyPr wrap="square" lIns="0" tIns="0" rIns="0" bIns="0" rtlCol="0" anchor="ctr"/>
          <a:lstStyle/>
          <a:p>
            <a:pPr algn="ctr" indent="0" marL="0">
              <a:buNone/>
            </a:pPr>
            <a:r>
              <a:rPr lang="en-US" sz="1700" b="1" dirty="0">
                <a:solidFill>
                  <a:schemeClr val="tx1"/>
                </a:solidFill>
              </a:rPr>
              <a:t>2. Align</a:t>
            </a:r>
            <a:endParaRPr lang="en-US" sz="1700" dirty="0"/>
          </a:p>
        </p:txBody>
      </p:sp>
      <p:sp>
        <p:nvSpPr>
          <p:cNvPr id="13" name="Text 9"/>
          <p:cNvSpPr txBox="1"/>
          <p:nvPr/>
        </p:nvSpPr>
        <p:spPr>
          <a:xfrm>
            <a:off x="2953512" y="3429000"/>
            <a:ext cx="1737360" cy="777240"/>
          </a:xfrm>
          <a:prstGeom prst="rect">
            <a:avLst/>
          </a:prstGeom>
          <a:noFill/>
          <a:ln/>
        </p:spPr>
        <p:txBody>
          <a:bodyPr wrap="square" lIns="0" tIns="0" rIns="0" bIns="0" rtlCol="0" anchor="t"/>
          <a:lstStyle/>
          <a:p>
            <a:pPr algn="ctr" indent="0" marL="0">
              <a:buNone/>
            </a:pPr>
            <a:r>
              <a:rPr lang="en-US" sz="1400" dirty="0">
                <a:solidFill>
                  <a:schemeClr val="accent5"/>
                </a:solidFill>
              </a:rPr>
              <a:t>Scan two markers at the start line</a:t>
            </a:r>
            <a:endParaRPr lang="en-US" sz="1400" dirty="0"/>
          </a:p>
        </p:txBody>
      </p:sp>
      <p:sp>
        <p:nvSpPr>
          <p:cNvPr id="14" name="flow arrow 1"/>
          <p:cNvSpPr/>
          <p:nvPr/>
        </p:nvSpPr>
        <p:spPr>
          <a:xfrm>
            <a:off x="4864608" y="2834640"/>
            <a:ext cx="182880" cy="274320"/>
          </a:xfrm>
          <a:prstGeom prst="rightArrow">
            <a:avLst/>
          </a:prstGeom>
          <a:solidFill>
            <a:schemeClr val="accent5"/>
          </a:solidFill>
          <a:ln w="12700">
            <a:solidFill>
              <a:schemeClr val="accent5"/>
            </a:solidFill>
            <a:prstDash val="solid"/>
          </a:ln>
        </p:spPr>
      </p:sp>
      <p:sp>
        <p:nvSpPr>
          <p:cNvPr id="15" name="Place and verify card"/>
          <p:cNvSpPr/>
          <p:nvPr/>
        </p:nvSpPr>
        <p:spPr>
          <a:xfrm>
            <a:off x="5084064" y="1600200"/>
            <a:ext cx="2011680" cy="2743200"/>
          </a:xfrm>
          <a:prstGeom prst="roundRect">
            <a:avLst>
              <a:gd name="adj" fmla="val 5455"/>
            </a:avLst>
          </a:prstGeom>
          <a:solidFill>
            <a:schemeClr val="bg2"/>
          </a:solidFill>
          <a:ln w="12700">
            <a:solidFill>
              <a:schemeClr val="bg2"/>
            </a:solidFill>
            <a:prstDash val="solid"/>
          </a:ln>
        </p:spPr>
      </p:sp>
      <p:sp>
        <p:nvSpPr>
          <p:cNvPr id="16" name="Place and verify circle"/>
          <p:cNvSpPr/>
          <p:nvPr/>
        </p:nvSpPr>
        <p:spPr>
          <a:xfrm>
            <a:off x="5678424" y="1828800"/>
            <a:ext cx="822960" cy="822960"/>
          </a:xfrm>
          <a:prstGeom prst="ellipse">
            <a:avLst/>
          </a:prstGeom>
          <a:solidFill>
            <a:schemeClr val="accent2"/>
          </a:solidFill>
          <a:ln w="12700">
            <a:solidFill>
              <a:schemeClr val="accent2"/>
            </a:solidFill>
            <a:prstDash val="solid"/>
          </a:ln>
        </p:spPr>
      </p:sp>
      <p:pic>
        <p:nvPicPr>
          <p:cNvPr id="17" name="Place and verify icon" descr="Place and verify">    </p:cNvPr>
          <p:cNvPicPr>
            <a:picLocks noChangeAspect="1"/>
          </p:cNvPicPr>
          <p:nvPr/>
        </p:nvPicPr>
        <p:blipFill>
          <a:blip r:embed="rId3"/>
          <a:stretch>
            <a:fillRect/>
          </a:stretch>
        </p:blipFill>
        <p:spPr>
          <a:xfrm>
            <a:off x="5900623" y="2050999"/>
            <a:ext cx="378562" cy="378562"/>
          </a:xfrm>
          <a:prstGeom prst="rect">
            <a:avLst/>
          </a:prstGeom>
        </p:spPr>
      </p:pic>
      <p:sp>
        <p:nvSpPr>
          <p:cNvPr id="18" name="Text 13"/>
          <p:cNvSpPr txBox="1"/>
          <p:nvPr/>
        </p:nvSpPr>
        <p:spPr>
          <a:xfrm>
            <a:off x="5221224" y="2834640"/>
            <a:ext cx="1737360" cy="548640"/>
          </a:xfrm>
          <a:prstGeom prst="rect">
            <a:avLst/>
          </a:prstGeom>
          <a:noFill/>
          <a:ln/>
        </p:spPr>
        <p:txBody>
          <a:bodyPr wrap="square" lIns="0" tIns="0" rIns="0" bIns="0" rtlCol="0" anchor="ctr"/>
          <a:lstStyle/>
          <a:p>
            <a:pPr algn="ctr" indent="0" marL="0">
              <a:buNone/>
            </a:pPr>
            <a:r>
              <a:rPr lang="en-US" sz="1700" b="1" dirty="0">
                <a:solidFill>
                  <a:schemeClr val="tx1"/>
                </a:solidFill>
              </a:rPr>
              <a:t>3. Place and verify</a:t>
            </a:r>
            <a:endParaRPr lang="en-US" sz="1700" dirty="0"/>
          </a:p>
        </p:txBody>
      </p:sp>
      <p:sp>
        <p:nvSpPr>
          <p:cNvPr id="19" name="Text 14"/>
          <p:cNvSpPr txBox="1"/>
          <p:nvPr/>
        </p:nvSpPr>
        <p:spPr>
          <a:xfrm>
            <a:off x="5221224" y="3429000"/>
            <a:ext cx="1737360" cy="777240"/>
          </a:xfrm>
          <a:prstGeom prst="rect">
            <a:avLst/>
          </a:prstGeom>
          <a:noFill/>
          <a:ln/>
        </p:spPr>
        <p:txBody>
          <a:bodyPr wrap="square" lIns="0" tIns="0" rIns="0" bIns="0" rtlCol="0" anchor="t"/>
          <a:lstStyle/>
          <a:p>
            <a:pPr algn="ctr" indent="0" marL="0">
              <a:buNone/>
            </a:pPr>
            <a:r>
              <a:rPr lang="en-US" sz="1400" dirty="0">
                <a:solidFill>
                  <a:schemeClr val="accent5"/>
                </a:solidFill>
              </a:rPr>
              <a:t>AR shows each cone; the phone checks it</a:t>
            </a:r>
            <a:endParaRPr lang="en-US" sz="1400" dirty="0"/>
          </a:p>
        </p:txBody>
      </p:sp>
      <p:sp>
        <p:nvSpPr>
          <p:cNvPr id="20" name="flow arrow 2"/>
          <p:cNvSpPr/>
          <p:nvPr/>
        </p:nvSpPr>
        <p:spPr>
          <a:xfrm>
            <a:off x="7132320" y="2834640"/>
            <a:ext cx="182880" cy="274320"/>
          </a:xfrm>
          <a:prstGeom prst="rightArrow">
            <a:avLst/>
          </a:prstGeom>
          <a:solidFill>
            <a:schemeClr val="accent5"/>
          </a:solidFill>
          <a:ln w="12700">
            <a:solidFill>
              <a:schemeClr val="accent5"/>
            </a:solidFill>
            <a:prstDash val="solid"/>
          </a:ln>
        </p:spPr>
      </p:sp>
      <p:sp>
        <p:nvSpPr>
          <p:cNvPr id="21" name="Live twin card"/>
          <p:cNvSpPr/>
          <p:nvPr/>
        </p:nvSpPr>
        <p:spPr>
          <a:xfrm>
            <a:off x="7351776" y="1600200"/>
            <a:ext cx="2011680" cy="2743200"/>
          </a:xfrm>
          <a:prstGeom prst="roundRect">
            <a:avLst>
              <a:gd name="adj" fmla="val 5455"/>
            </a:avLst>
          </a:prstGeom>
          <a:solidFill>
            <a:schemeClr val="bg2"/>
          </a:solidFill>
          <a:ln w="12700">
            <a:solidFill>
              <a:schemeClr val="bg2"/>
            </a:solidFill>
            <a:prstDash val="solid"/>
          </a:ln>
        </p:spPr>
      </p:sp>
      <p:sp>
        <p:nvSpPr>
          <p:cNvPr id="22" name="Live twin circle"/>
          <p:cNvSpPr/>
          <p:nvPr/>
        </p:nvSpPr>
        <p:spPr>
          <a:xfrm>
            <a:off x="7946136" y="1828800"/>
            <a:ext cx="822960" cy="822960"/>
          </a:xfrm>
          <a:prstGeom prst="ellipse">
            <a:avLst/>
          </a:prstGeom>
          <a:solidFill>
            <a:schemeClr val="accent3"/>
          </a:solidFill>
          <a:ln w="12700">
            <a:solidFill>
              <a:schemeClr val="accent3"/>
            </a:solidFill>
            <a:prstDash val="solid"/>
          </a:ln>
        </p:spPr>
      </p:sp>
      <p:pic>
        <p:nvPicPr>
          <p:cNvPr id="23" name="Live twin icon" descr="Live twin">    </p:cNvPr>
          <p:cNvPicPr>
            <a:picLocks noChangeAspect="1"/>
          </p:cNvPicPr>
          <p:nvPr/>
        </p:nvPicPr>
        <p:blipFill>
          <a:blip r:embed="rId4"/>
          <a:stretch>
            <a:fillRect/>
          </a:stretch>
        </p:blipFill>
        <p:spPr>
          <a:xfrm>
            <a:off x="8168335" y="2050999"/>
            <a:ext cx="378562" cy="378562"/>
          </a:xfrm>
          <a:prstGeom prst="rect">
            <a:avLst/>
          </a:prstGeom>
        </p:spPr>
      </p:pic>
      <p:sp>
        <p:nvSpPr>
          <p:cNvPr id="24" name="Text 18"/>
          <p:cNvSpPr txBox="1"/>
          <p:nvPr/>
        </p:nvSpPr>
        <p:spPr>
          <a:xfrm>
            <a:off x="7488936" y="2834640"/>
            <a:ext cx="1737360" cy="548640"/>
          </a:xfrm>
          <a:prstGeom prst="rect">
            <a:avLst/>
          </a:prstGeom>
          <a:noFill/>
          <a:ln/>
        </p:spPr>
        <p:txBody>
          <a:bodyPr wrap="square" lIns="0" tIns="0" rIns="0" bIns="0" rtlCol="0" anchor="ctr"/>
          <a:lstStyle/>
          <a:p>
            <a:pPr algn="ctr" indent="0" marL="0">
              <a:buNone/>
            </a:pPr>
            <a:r>
              <a:rPr lang="en-US" sz="1700" b="1" dirty="0">
                <a:solidFill>
                  <a:schemeClr val="tx1"/>
                </a:solidFill>
              </a:rPr>
              <a:t>4. Live twin</a:t>
            </a:r>
            <a:endParaRPr lang="en-US" sz="1700" dirty="0"/>
          </a:p>
        </p:txBody>
      </p:sp>
      <p:sp>
        <p:nvSpPr>
          <p:cNvPr id="25" name="Text 19"/>
          <p:cNvSpPr txBox="1"/>
          <p:nvPr/>
        </p:nvSpPr>
        <p:spPr>
          <a:xfrm>
            <a:off x="7488936" y="3429000"/>
            <a:ext cx="1737360" cy="777240"/>
          </a:xfrm>
          <a:prstGeom prst="rect">
            <a:avLst/>
          </a:prstGeom>
          <a:noFill/>
          <a:ln/>
        </p:spPr>
        <p:txBody>
          <a:bodyPr wrap="square" lIns="0" tIns="0" rIns="0" bIns="0" rtlCol="0" anchor="t"/>
          <a:lstStyle/>
          <a:p>
            <a:pPr algn="ctr" indent="0" marL="0">
              <a:buNone/>
            </a:pPr>
            <a:r>
              <a:rPr lang="en-US" sz="1400" dirty="0">
                <a:solidFill>
                  <a:schemeClr val="accent5"/>
                </a:solidFill>
              </a:rPr>
              <a:t>Dashboard follows; edits flow back</a:t>
            </a:r>
            <a:endParaRPr lang="en-US" sz="1400" dirty="0"/>
          </a:p>
        </p:txBody>
      </p:sp>
      <p:sp>
        <p:nvSpPr>
          <p:cNvPr id="26" name="flow arrow 3"/>
          <p:cNvSpPr/>
          <p:nvPr/>
        </p:nvSpPr>
        <p:spPr>
          <a:xfrm>
            <a:off x="9400032" y="2834640"/>
            <a:ext cx="182880" cy="274320"/>
          </a:xfrm>
          <a:prstGeom prst="rightArrow">
            <a:avLst/>
          </a:prstGeom>
          <a:solidFill>
            <a:schemeClr val="accent5"/>
          </a:solidFill>
          <a:ln w="12700">
            <a:solidFill>
              <a:schemeClr val="accent5"/>
            </a:solidFill>
            <a:prstDash val="solid"/>
          </a:ln>
        </p:spPr>
      </p:sp>
      <p:sp>
        <p:nvSpPr>
          <p:cNvPr id="27" name="Identify car, report card"/>
          <p:cNvSpPr/>
          <p:nvPr/>
        </p:nvSpPr>
        <p:spPr>
          <a:xfrm>
            <a:off x="9619488" y="1600200"/>
            <a:ext cx="2011680" cy="2743200"/>
          </a:xfrm>
          <a:prstGeom prst="roundRect">
            <a:avLst>
              <a:gd name="adj" fmla="val 5455"/>
            </a:avLst>
          </a:prstGeom>
          <a:solidFill>
            <a:schemeClr val="bg2"/>
          </a:solidFill>
          <a:ln w="12700">
            <a:solidFill>
              <a:schemeClr val="bg2"/>
            </a:solidFill>
            <a:prstDash val="solid"/>
          </a:ln>
        </p:spPr>
      </p:sp>
      <p:sp>
        <p:nvSpPr>
          <p:cNvPr id="28" name="Identify car, report circle"/>
          <p:cNvSpPr/>
          <p:nvPr/>
        </p:nvSpPr>
        <p:spPr>
          <a:xfrm>
            <a:off x="10213848" y="1828800"/>
            <a:ext cx="822960" cy="822960"/>
          </a:xfrm>
          <a:prstGeom prst="ellipse">
            <a:avLst/>
          </a:prstGeom>
          <a:solidFill>
            <a:schemeClr val="accent4"/>
          </a:solidFill>
          <a:ln w="12700">
            <a:solidFill>
              <a:schemeClr val="accent4"/>
            </a:solidFill>
            <a:prstDash val="solid"/>
          </a:ln>
        </p:spPr>
      </p:sp>
      <p:pic>
        <p:nvPicPr>
          <p:cNvPr id="29" name="Identify car, report icon" descr="Identify car, report">    </p:cNvPr>
          <p:cNvPicPr>
            <a:picLocks noChangeAspect="1"/>
          </p:cNvPicPr>
          <p:nvPr/>
        </p:nvPicPr>
        <p:blipFill>
          <a:blip r:embed="rId5"/>
          <a:stretch>
            <a:fillRect/>
          </a:stretch>
        </p:blipFill>
        <p:spPr>
          <a:xfrm>
            <a:off x="10436047" y="2050999"/>
            <a:ext cx="378562" cy="378562"/>
          </a:xfrm>
          <a:prstGeom prst="rect">
            <a:avLst/>
          </a:prstGeom>
        </p:spPr>
      </p:pic>
      <p:sp>
        <p:nvSpPr>
          <p:cNvPr id="30" name="Text 23"/>
          <p:cNvSpPr txBox="1"/>
          <p:nvPr/>
        </p:nvSpPr>
        <p:spPr>
          <a:xfrm>
            <a:off x="9756648" y="2834640"/>
            <a:ext cx="1737360" cy="548640"/>
          </a:xfrm>
          <a:prstGeom prst="rect">
            <a:avLst/>
          </a:prstGeom>
          <a:noFill/>
          <a:ln/>
        </p:spPr>
        <p:txBody>
          <a:bodyPr wrap="square" lIns="0" tIns="0" rIns="0" bIns="0" rtlCol="0" anchor="ctr"/>
          <a:lstStyle/>
          <a:p>
            <a:pPr algn="ctr" indent="0" marL="0">
              <a:buNone/>
            </a:pPr>
            <a:r>
              <a:rPr lang="en-US" sz="1700" b="1" dirty="0">
                <a:solidFill>
                  <a:schemeClr val="tx1"/>
                </a:solidFill>
              </a:rPr>
              <a:t>5. Identify car, report</a:t>
            </a:r>
            <a:endParaRPr lang="en-US" sz="1700" dirty="0"/>
          </a:p>
        </p:txBody>
      </p:sp>
      <p:sp>
        <p:nvSpPr>
          <p:cNvPr id="31" name="Text 24"/>
          <p:cNvSpPr txBox="1"/>
          <p:nvPr/>
        </p:nvSpPr>
        <p:spPr>
          <a:xfrm>
            <a:off x="9756648" y="3429000"/>
            <a:ext cx="1737360" cy="777240"/>
          </a:xfrm>
          <a:prstGeom prst="rect">
            <a:avLst/>
          </a:prstGeom>
          <a:noFill/>
          <a:ln/>
        </p:spPr>
        <p:txBody>
          <a:bodyPr wrap="square" lIns="0" tIns="0" rIns="0" bIns="0" rtlCol="0" anchor="t"/>
          <a:lstStyle/>
          <a:p>
            <a:pPr algn="ctr" indent="0" marL="0">
              <a:buNone/>
            </a:pPr>
            <a:r>
              <a:rPr lang="en-US" sz="1400" dirty="0">
                <a:solidFill>
                  <a:schemeClr val="accent5"/>
                </a:solidFill>
              </a:rPr>
              <a:t>Classifier links the session to the car</a:t>
            </a:r>
            <a:endParaRPr lang="en-US" sz="1400" dirty="0"/>
          </a:p>
        </p:txBody>
      </p:sp>
      <p:sp>
        <p:nvSpPr>
          <p:cNvPr id="32" name="VAR tag"/>
          <p:cNvSpPr/>
          <p:nvPr/>
        </p:nvSpPr>
        <p:spPr>
          <a:xfrm>
            <a:off x="548640" y="4846320"/>
            <a:ext cx="822960" cy="411480"/>
          </a:xfrm>
          <a:prstGeom prst="roundRect">
            <a:avLst>
              <a:gd name="adj" fmla="val 22222"/>
            </a:avLst>
          </a:prstGeom>
          <a:solidFill>
            <a:schemeClr val="accent1"/>
          </a:solidFill>
          <a:ln w="12700">
            <a:solidFill>
              <a:schemeClr val="accent1"/>
            </a:solidFill>
            <a:prstDash val="solid"/>
          </a:ln>
        </p:spPr>
      </p:sp>
      <p:sp>
        <p:nvSpPr>
          <p:cNvPr id="33" name="Text 26"/>
          <p:cNvSpPr txBox="1"/>
          <p:nvPr/>
        </p:nvSpPr>
        <p:spPr>
          <a:xfrm>
            <a:off x="548640" y="4846320"/>
            <a:ext cx="822960" cy="411480"/>
          </a:xfrm>
          <a:prstGeom prst="rect">
            <a:avLst/>
          </a:prstGeom>
          <a:noFill/>
          <a:ln/>
        </p:spPr>
        <p:txBody>
          <a:bodyPr wrap="square" lIns="0" tIns="0" rIns="0" bIns="0" rtlCol="0" anchor="ctr"/>
          <a:lstStyle/>
          <a:p>
            <a:pPr algn="ctr" indent="0" marL="0">
              <a:buNone/>
            </a:pPr>
            <a:r>
              <a:rPr lang="en-US" sz="1500" b="1" dirty="0">
                <a:solidFill>
                  <a:schemeClr val="bg1"/>
                </a:solidFill>
              </a:rPr>
              <a:t>VAR</a:t>
            </a:r>
            <a:endParaRPr lang="en-US" sz="1500" dirty="0"/>
          </a:p>
        </p:txBody>
      </p:sp>
      <p:sp>
        <p:nvSpPr>
          <p:cNvPr id="34" name="Text 27"/>
          <p:cNvSpPr txBox="1"/>
          <p:nvPr/>
        </p:nvSpPr>
        <p:spPr>
          <a:xfrm>
            <a:off x="1554480" y="4800600"/>
            <a:ext cx="4389120" cy="731520"/>
          </a:xfrm>
          <a:prstGeom prst="rect">
            <a:avLst/>
          </a:prstGeom>
          <a:noFill/>
          <a:ln/>
        </p:spPr>
        <p:txBody>
          <a:bodyPr wrap="square" lIns="0" tIns="0" rIns="0" bIns="0" rtlCol="0" anchor="ctr"/>
          <a:lstStyle/>
          <a:p>
            <a:pPr indent="0" marL="0">
              <a:buNone/>
            </a:pPr>
            <a:r>
              <a:rPr lang="en-US" sz="1500" dirty="0">
                <a:solidFill>
                  <a:schemeClr val="tx1"/>
                </a:solidFill>
              </a:rPr>
              <a:t>AR guidance aligned to the ground, and the digital twin of the track</a:t>
            </a:r>
            <a:endParaRPr lang="en-US" sz="1500" dirty="0"/>
          </a:p>
        </p:txBody>
      </p:sp>
      <p:sp>
        <p:nvSpPr>
          <p:cNvPr id="35" name="EIT tag"/>
          <p:cNvSpPr/>
          <p:nvPr/>
        </p:nvSpPr>
        <p:spPr>
          <a:xfrm>
            <a:off x="6217920" y="4846320"/>
            <a:ext cx="822960" cy="411480"/>
          </a:xfrm>
          <a:prstGeom prst="roundRect">
            <a:avLst>
              <a:gd name="adj" fmla="val 22222"/>
            </a:avLst>
          </a:prstGeom>
          <a:solidFill>
            <a:schemeClr val="accent4"/>
          </a:solidFill>
          <a:ln w="12700">
            <a:solidFill>
              <a:schemeClr val="accent4"/>
            </a:solidFill>
            <a:prstDash val="solid"/>
          </a:ln>
        </p:spPr>
      </p:sp>
      <p:sp>
        <p:nvSpPr>
          <p:cNvPr id="36" name="Text 29"/>
          <p:cNvSpPr txBox="1"/>
          <p:nvPr/>
        </p:nvSpPr>
        <p:spPr>
          <a:xfrm>
            <a:off x="6217920" y="4846320"/>
            <a:ext cx="822960" cy="411480"/>
          </a:xfrm>
          <a:prstGeom prst="rect">
            <a:avLst/>
          </a:prstGeom>
          <a:noFill/>
          <a:ln/>
        </p:spPr>
        <p:txBody>
          <a:bodyPr wrap="square" lIns="0" tIns="0" rIns="0" bIns="0" rtlCol="0" anchor="ctr"/>
          <a:lstStyle/>
          <a:p>
            <a:pPr algn="ctr" indent="0" marL="0">
              <a:buNone/>
            </a:pPr>
            <a:r>
              <a:rPr lang="en-US" sz="1500" b="1" dirty="0">
                <a:solidFill>
                  <a:schemeClr val="bg1"/>
                </a:solidFill>
              </a:rPr>
              <a:t>EIT</a:t>
            </a:r>
            <a:endParaRPr lang="en-US" sz="1500" dirty="0"/>
          </a:p>
        </p:txBody>
      </p:sp>
      <p:sp>
        <p:nvSpPr>
          <p:cNvPr id="37" name="Text 30"/>
          <p:cNvSpPr txBox="1"/>
          <p:nvPr/>
        </p:nvSpPr>
        <p:spPr>
          <a:xfrm>
            <a:off x="7223760" y="4800600"/>
            <a:ext cx="4389120" cy="731520"/>
          </a:xfrm>
          <a:prstGeom prst="rect">
            <a:avLst/>
          </a:prstGeom>
          <a:noFill/>
          <a:ln/>
        </p:spPr>
        <p:txBody>
          <a:bodyPr wrap="square" lIns="0" tIns="0" rIns="0" bIns="0" rtlCol="0" anchor="ctr"/>
          <a:lstStyle/>
          <a:p>
            <a:pPr indent="0" marL="0">
              <a:buNone/>
            </a:pPr>
            <a:r>
              <a:rPr lang="en-US" sz="1500" dirty="0">
                <a:solidFill>
                  <a:schemeClr val="tx1"/>
                </a:solidFill>
              </a:rPr>
              <a:t>Cloud platform, real-time sync, remote configuration and on-device vision</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How we reviewed the literature</a:t>
            </a:r>
            <a:endParaRPr lang="en-US" sz="3600" dirty="0"/>
          </a:p>
        </p:txBody>
      </p:sp>
      <p:sp>
        <p:nvSpPr>
          <p:cNvPr id="3" name="stat sources selected"/>
          <p:cNvSpPr/>
          <p:nvPr/>
        </p:nvSpPr>
        <p:spPr>
          <a:xfrm>
            <a:off x="548640" y="1508760"/>
            <a:ext cx="2560320" cy="1920240"/>
          </a:xfrm>
          <a:prstGeom prst="roundRect">
            <a:avLst>
              <a:gd name="adj" fmla="val 5714"/>
            </a:avLst>
          </a:prstGeom>
          <a:solidFill>
            <a:schemeClr val="bg2"/>
          </a:solidFill>
          <a:ln w="12700">
            <a:solidFill>
              <a:schemeClr val="bg2"/>
            </a:solidFill>
            <a:prstDash val="solid"/>
          </a:ln>
        </p:spPr>
      </p:sp>
      <p:sp>
        <p:nvSpPr>
          <p:cNvPr id="4" name="Text 2"/>
          <p:cNvSpPr txBox="1"/>
          <p:nvPr/>
        </p:nvSpPr>
        <p:spPr>
          <a:xfrm>
            <a:off x="822960" y="1645920"/>
            <a:ext cx="2011680" cy="960120"/>
          </a:xfrm>
          <a:prstGeom prst="rect">
            <a:avLst/>
          </a:prstGeom>
          <a:noFill/>
          <a:ln/>
        </p:spPr>
        <p:txBody>
          <a:bodyPr wrap="square" lIns="0" tIns="0" rIns="0" bIns="0" rtlCol="0" anchor="t"/>
          <a:lstStyle/>
          <a:p>
            <a:pPr indent="0" marL="0">
              <a:buNone/>
            </a:pPr>
            <a:r>
              <a:rPr lang="en-US" sz="6000" b="1" dirty="0">
                <a:solidFill>
                  <a:schemeClr val="tx1"/>
                </a:solidFill>
                <a:latin typeface="Arial" pitchFamily="34" charset="0"/>
                <a:ea typeface="Arial" pitchFamily="34" charset="-122"/>
                <a:cs typeface="Arial" pitchFamily="34" charset="-120"/>
              </a:rPr>
              <a:t>25</a:t>
            </a:r>
            <a:endParaRPr lang="en-US" sz="6000" dirty="0"/>
          </a:p>
        </p:txBody>
      </p:sp>
      <p:sp>
        <p:nvSpPr>
          <p:cNvPr id="5" name="Text 3"/>
          <p:cNvSpPr txBox="1"/>
          <p:nvPr/>
        </p:nvSpPr>
        <p:spPr>
          <a:xfrm>
            <a:off x="822960" y="2651760"/>
            <a:ext cx="2103120" cy="640080"/>
          </a:xfrm>
          <a:prstGeom prst="rect">
            <a:avLst/>
          </a:prstGeom>
          <a:noFill/>
          <a:ln/>
        </p:spPr>
        <p:txBody>
          <a:bodyPr wrap="square" lIns="0" tIns="0" rIns="0" bIns="0" rtlCol="0" anchor="t"/>
          <a:lstStyle/>
          <a:p>
            <a:pPr indent="0" marL="0">
              <a:buNone/>
            </a:pPr>
            <a:r>
              <a:rPr lang="en-US" sz="1500" dirty="0">
                <a:solidFill>
                  <a:schemeClr val="accent5"/>
                </a:solidFill>
              </a:rPr>
              <a:t>sources selected</a:t>
            </a:r>
            <a:endParaRPr lang="en-US" sz="1500" dirty="0"/>
          </a:p>
        </p:txBody>
      </p:sp>
      <p:sp>
        <p:nvSpPr>
          <p:cNvPr id="6" name="stat peer-reviewed papers, chapters and reviews"/>
          <p:cNvSpPr/>
          <p:nvPr/>
        </p:nvSpPr>
        <p:spPr>
          <a:xfrm>
            <a:off x="3383280" y="1508760"/>
            <a:ext cx="2560320" cy="1920240"/>
          </a:xfrm>
          <a:prstGeom prst="roundRect">
            <a:avLst>
              <a:gd name="adj" fmla="val 5714"/>
            </a:avLst>
          </a:prstGeom>
          <a:solidFill>
            <a:schemeClr val="bg2"/>
          </a:solidFill>
          <a:ln w="12700">
            <a:solidFill>
              <a:schemeClr val="bg2"/>
            </a:solidFill>
            <a:prstDash val="solid"/>
          </a:ln>
        </p:spPr>
      </p:sp>
      <p:sp>
        <p:nvSpPr>
          <p:cNvPr id="7" name="Text 5"/>
          <p:cNvSpPr txBox="1"/>
          <p:nvPr/>
        </p:nvSpPr>
        <p:spPr>
          <a:xfrm>
            <a:off x="3657600" y="1645920"/>
            <a:ext cx="2011680" cy="96012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19</a:t>
            </a:r>
            <a:endParaRPr lang="en-US" sz="6000" dirty="0"/>
          </a:p>
        </p:txBody>
      </p:sp>
      <p:sp>
        <p:nvSpPr>
          <p:cNvPr id="8" name="Text 6"/>
          <p:cNvSpPr txBox="1"/>
          <p:nvPr/>
        </p:nvSpPr>
        <p:spPr>
          <a:xfrm>
            <a:off x="3657600" y="2651760"/>
            <a:ext cx="2103120" cy="640080"/>
          </a:xfrm>
          <a:prstGeom prst="rect">
            <a:avLst/>
          </a:prstGeom>
          <a:noFill/>
          <a:ln/>
        </p:spPr>
        <p:txBody>
          <a:bodyPr wrap="square" lIns="0" tIns="0" rIns="0" bIns="0" rtlCol="0" anchor="t"/>
          <a:lstStyle/>
          <a:p>
            <a:pPr indent="0" marL="0">
              <a:buNone/>
            </a:pPr>
            <a:r>
              <a:rPr lang="en-US" sz="1500" dirty="0">
                <a:solidFill>
                  <a:schemeClr val="accent5"/>
                </a:solidFill>
              </a:rPr>
              <a:t>peer-reviewed papers, chapters and reviews</a:t>
            </a:r>
            <a:endParaRPr lang="en-US" sz="1500" dirty="0"/>
          </a:p>
        </p:txBody>
      </p:sp>
      <p:sp>
        <p:nvSpPr>
          <p:cNvPr id="9" name="stat preprint"/>
          <p:cNvSpPr/>
          <p:nvPr/>
        </p:nvSpPr>
        <p:spPr>
          <a:xfrm>
            <a:off x="6217920" y="1508760"/>
            <a:ext cx="2560320" cy="1920240"/>
          </a:xfrm>
          <a:prstGeom prst="roundRect">
            <a:avLst>
              <a:gd name="adj" fmla="val 5714"/>
            </a:avLst>
          </a:prstGeom>
          <a:solidFill>
            <a:schemeClr val="bg2"/>
          </a:solidFill>
          <a:ln w="12700">
            <a:solidFill>
              <a:schemeClr val="bg2"/>
            </a:solidFill>
            <a:prstDash val="solid"/>
          </a:ln>
        </p:spPr>
      </p:sp>
      <p:sp>
        <p:nvSpPr>
          <p:cNvPr id="10" name="Text 8"/>
          <p:cNvSpPr txBox="1"/>
          <p:nvPr/>
        </p:nvSpPr>
        <p:spPr>
          <a:xfrm>
            <a:off x="6492240" y="1645920"/>
            <a:ext cx="2011680" cy="96012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1</a:t>
            </a:r>
            <a:endParaRPr lang="en-US" sz="6000" dirty="0"/>
          </a:p>
        </p:txBody>
      </p:sp>
      <p:sp>
        <p:nvSpPr>
          <p:cNvPr id="11" name="Text 9"/>
          <p:cNvSpPr txBox="1"/>
          <p:nvPr/>
        </p:nvSpPr>
        <p:spPr>
          <a:xfrm>
            <a:off x="6492240" y="2651760"/>
            <a:ext cx="2103120" cy="640080"/>
          </a:xfrm>
          <a:prstGeom prst="rect">
            <a:avLst/>
          </a:prstGeom>
          <a:noFill/>
          <a:ln/>
        </p:spPr>
        <p:txBody>
          <a:bodyPr wrap="square" lIns="0" tIns="0" rIns="0" bIns="0" rtlCol="0" anchor="t"/>
          <a:lstStyle/>
          <a:p>
            <a:pPr indent="0" marL="0">
              <a:buNone/>
            </a:pPr>
            <a:r>
              <a:rPr lang="en-US" sz="1500" dirty="0">
                <a:solidFill>
                  <a:schemeClr val="accent5"/>
                </a:solidFill>
              </a:rPr>
              <a:t>preprint</a:t>
            </a:r>
            <a:endParaRPr lang="en-US" sz="1500" dirty="0"/>
          </a:p>
        </p:txBody>
      </p:sp>
      <p:sp>
        <p:nvSpPr>
          <p:cNvPr id="12" name="stat specifications and official docs"/>
          <p:cNvSpPr/>
          <p:nvPr/>
        </p:nvSpPr>
        <p:spPr>
          <a:xfrm>
            <a:off x="9052560" y="1508760"/>
            <a:ext cx="2560320" cy="1920240"/>
          </a:xfrm>
          <a:prstGeom prst="roundRect">
            <a:avLst>
              <a:gd name="adj" fmla="val 5714"/>
            </a:avLst>
          </a:prstGeom>
          <a:solidFill>
            <a:schemeClr val="bg2"/>
          </a:solidFill>
          <a:ln w="12700">
            <a:solidFill>
              <a:schemeClr val="bg2"/>
            </a:solidFill>
            <a:prstDash val="solid"/>
          </a:ln>
        </p:spPr>
      </p:sp>
      <p:sp>
        <p:nvSpPr>
          <p:cNvPr id="13" name="Text 11"/>
          <p:cNvSpPr txBox="1"/>
          <p:nvPr/>
        </p:nvSpPr>
        <p:spPr>
          <a:xfrm>
            <a:off x="9326880" y="1645920"/>
            <a:ext cx="2011680" cy="960120"/>
          </a:xfrm>
          <a:prstGeom prst="rect">
            <a:avLst/>
          </a:prstGeom>
          <a:noFill/>
          <a:ln/>
        </p:spPr>
        <p:txBody>
          <a:bodyPr wrap="square" lIns="0" tIns="0" rIns="0" bIns="0" rtlCol="0" anchor="t"/>
          <a:lstStyle/>
          <a:p>
            <a:pPr indent="0" marL="0">
              <a:buNone/>
            </a:pPr>
            <a:r>
              <a:rPr lang="en-US" sz="6000" b="1" dirty="0">
                <a:solidFill>
                  <a:schemeClr val="accent3"/>
                </a:solidFill>
                <a:latin typeface="Arial" pitchFamily="34" charset="0"/>
                <a:ea typeface="Arial" pitchFamily="34" charset="-122"/>
                <a:cs typeface="Arial" pitchFamily="34" charset="-120"/>
              </a:rPr>
              <a:t>5</a:t>
            </a:r>
            <a:endParaRPr lang="en-US" sz="6000" dirty="0"/>
          </a:p>
        </p:txBody>
      </p:sp>
      <p:sp>
        <p:nvSpPr>
          <p:cNvPr id="14" name="Text 12"/>
          <p:cNvSpPr txBox="1"/>
          <p:nvPr/>
        </p:nvSpPr>
        <p:spPr>
          <a:xfrm>
            <a:off x="9326880" y="2651760"/>
            <a:ext cx="2103120" cy="640080"/>
          </a:xfrm>
          <a:prstGeom prst="rect">
            <a:avLst/>
          </a:prstGeom>
          <a:noFill/>
          <a:ln/>
        </p:spPr>
        <p:txBody>
          <a:bodyPr wrap="square" lIns="0" tIns="0" rIns="0" bIns="0" rtlCol="0" anchor="t"/>
          <a:lstStyle/>
          <a:p>
            <a:pPr indent="0" marL="0">
              <a:buNone/>
            </a:pPr>
            <a:r>
              <a:rPr lang="en-US" sz="1500" dirty="0">
                <a:solidFill>
                  <a:schemeClr val="accent5"/>
                </a:solidFill>
              </a:rPr>
              <a:t>specifications and official docs</a:t>
            </a:r>
            <a:endParaRPr lang="en-US" sz="1500" dirty="0"/>
          </a:p>
        </p:txBody>
      </p:sp>
      <p:sp>
        <p:nvSpPr>
          <p:cNvPr id="15" name="Text 13"/>
          <p:cNvSpPr txBox="1"/>
          <p:nvPr/>
        </p:nvSpPr>
        <p:spPr>
          <a:xfrm>
            <a:off x="548640" y="3794760"/>
            <a:ext cx="3657600" cy="365760"/>
          </a:xfrm>
          <a:prstGeom prst="rect">
            <a:avLst/>
          </a:prstGeom>
          <a:noFill/>
          <a:ln/>
        </p:spPr>
        <p:txBody>
          <a:bodyPr wrap="square" lIns="0" tIns="0" rIns="0" bIns="0" rtlCol="0" anchor="t"/>
          <a:lstStyle/>
          <a:p>
            <a:pPr indent="0" marL="0">
              <a:buNone/>
            </a:pPr>
            <a:r>
              <a:rPr lang="en-US" sz="1800" b="1" dirty="0">
                <a:solidFill>
                  <a:schemeClr val="tx1"/>
                </a:solidFill>
              </a:rPr>
              <a:t>Themes</a:t>
            </a:r>
            <a:endParaRPr lang="en-US" sz="1800" dirty="0"/>
          </a:p>
        </p:txBody>
      </p:sp>
      <p:sp>
        <p:nvSpPr>
          <p:cNvPr id="16" name="theme chip AR for on-site layout"/>
          <p:cNvSpPr/>
          <p:nvPr/>
        </p:nvSpPr>
        <p:spPr>
          <a:xfrm>
            <a:off x="548640" y="4297680"/>
            <a:ext cx="1906524" cy="457200"/>
          </a:xfrm>
          <a:prstGeom prst="roundRect">
            <a:avLst>
              <a:gd name="adj" fmla="val 50000"/>
            </a:avLst>
          </a:prstGeom>
          <a:solidFill>
            <a:schemeClr val="bg1"/>
          </a:solidFill>
          <a:ln w="12700">
            <a:solidFill>
              <a:schemeClr val="accent5"/>
            </a:solidFill>
            <a:prstDash val="solid"/>
          </a:ln>
        </p:spPr>
      </p:sp>
      <p:sp>
        <p:nvSpPr>
          <p:cNvPr id="17" name="Text 15"/>
          <p:cNvSpPr txBox="1"/>
          <p:nvPr/>
        </p:nvSpPr>
        <p:spPr>
          <a:xfrm>
            <a:off x="548640" y="4297680"/>
            <a:ext cx="1906524" cy="457200"/>
          </a:xfrm>
          <a:prstGeom prst="rect">
            <a:avLst/>
          </a:prstGeom>
          <a:noFill/>
          <a:ln/>
        </p:spPr>
        <p:txBody>
          <a:bodyPr wrap="square" lIns="0" tIns="0" rIns="0" bIns="0" rtlCol="0" anchor="ctr"/>
          <a:lstStyle/>
          <a:p>
            <a:pPr algn="ctr" indent="0" marL="0">
              <a:buNone/>
            </a:pPr>
            <a:r>
              <a:rPr lang="en-US" sz="1300" dirty="0">
                <a:solidFill>
                  <a:schemeClr val="tx1"/>
                </a:solidFill>
              </a:rPr>
              <a:t>AR for on-site layout</a:t>
            </a:r>
            <a:endParaRPr lang="en-US" sz="1300" dirty="0"/>
          </a:p>
        </p:txBody>
      </p:sp>
      <p:sp>
        <p:nvSpPr>
          <p:cNvPr id="18" name="theme chip Mobile AR tracking"/>
          <p:cNvSpPr/>
          <p:nvPr/>
        </p:nvSpPr>
        <p:spPr>
          <a:xfrm>
            <a:off x="2592324" y="4297680"/>
            <a:ext cx="1673352" cy="457200"/>
          </a:xfrm>
          <a:prstGeom prst="roundRect">
            <a:avLst>
              <a:gd name="adj" fmla="val 50000"/>
            </a:avLst>
          </a:prstGeom>
          <a:solidFill>
            <a:schemeClr val="bg1"/>
          </a:solidFill>
          <a:ln w="12700">
            <a:solidFill>
              <a:schemeClr val="accent5"/>
            </a:solidFill>
            <a:prstDash val="solid"/>
          </a:ln>
        </p:spPr>
      </p:sp>
      <p:sp>
        <p:nvSpPr>
          <p:cNvPr id="19" name="Text 17"/>
          <p:cNvSpPr txBox="1"/>
          <p:nvPr/>
        </p:nvSpPr>
        <p:spPr>
          <a:xfrm>
            <a:off x="2592324" y="4297680"/>
            <a:ext cx="1673352" cy="457200"/>
          </a:xfrm>
          <a:prstGeom prst="rect">
            <a:avLst/>
          </a:prstGeom>
          <a:noFill/>
          <a:ln/>
        </p:spPr>
        <p:txBody>
          <a:bodyPr wrap="square" lIns="0" tIns="0" rIns="0" bIns="0" rtlCol="0" anchor="ctr"/>
          <a:lstStyle/>
          <a:p>
            <a:pPr algn="ctr" indent="0" marL="0">
              <a:buNone/>
            </a:pPr>
            <a:r>
              <a:rPr lang="en-US" sz="1300" dirty="0">
                <a:solidFill>
                  <a:schemeClr val="tx1"/>
                </a:solidFill>
              </a:rPr>
              <a:t>Mobile AR tracking</a:t>
            </a:r>
            <a:endParaRPr lang="en-US" sz="1300" dirty="0"/>
          </a:p>
        </p:txBody>
      </p:sp>
      <p:sp>
        <p:nvSpPr>
          <p:cNvPr id="20" name="theme chip Digital twins"/>
          <p:cNvSpPr/>
          <p:nvPr/>
        </p:nvSpPr>
        <p:spPr>
          <a:xfrm>
            <a:off x="4402836" y="4297680"/>
            <a:ext cx="1284732" cy="457200"/>
          </a:xfrm>
          <a:prstGeom prst="roundRect">
            <a:avLst>
              <a:gd name="adj" fmla="val 50000"/>
            </a:avLst>
          </a:prstGeom>
          <a:solidFill>
            <a:schemeClr val="bg1"/>
          </a:solidFill>
          <a:ln w="12700">
            <a:solidFill>
              <a:schemeClr val="accent5"/>
            </a:solidFill>
            <a:prstDash val="solid"/>
          </a:ln>
        </p:spPr>
      </p:sp>
      <p:sp>
        <p:nvSpPr>
          <p:cNvPr id="21" name="Text 19"/>
          <p:cNvSpPr txBox="1"/>
          <p:nvPr/>
        </p:nvSpPr>
        <p:spPr>
          <a:xfrm>
            <a:off x="4402836" y="4297680"/>
            <a:ext cx="1284732" cy="457200"/>
          </a:xfrm>
          <a:prstGeom prst="rect">
            <a:avLst/>
          </a:prstGeom>
          <a:noFill/>
          <a:ln/>
        </p:spPr>
        <p:txBody>
          <a:bodyPr wrap="square" lIns="0" tIns="0" rIns="0" bIns="0" rtlCol="0" anchor="ctr"/>
          <a:lstStyle/>
          <a:p>
            <a:pPr algn="ctr" indent="0" marL="0">
              <a:buNone/>
            </a:pPr>
            <a:r>
              <a:rPr lang="en-US" sz="1300" dirty="0">
                <a:solidFill>
                  <a:schemeClr val="tx1"/>
                </a:solidFill>
              </a:rPr>
              <a:t>Digital twins</a:t>
            </a:r>
            <a:endParaRPr lang="en-US" sz="1300" dirty="0"/>
          </a:p>
        </p:txBody>
      </p:sp>
      <p:sp>
        <p:nvSpPr>
          <p:cNvPr id="22" name="theme chip Real-time sync"/>
          <p:cNvSpPr/>
          <p:nvPr/>
        </p:nvSpPr>
        <p:spPr>
          <a:xfrm>
            <a:off x="5824728" y="4297680"/>
            <a:ext cx="1362456" cy="457200"/>
          </a:xfrm>
          <a:prstGeom prst="roundRect">
            <a:avLst>
              <a:gd name="adj" fmla="val 50000"/>
            </a:avLst>
          </a:prstGeom>
          <a:solidFill>
            <a:schemeClr val="bg1"/>
          </a:solidFill>
          <a:ln w="12700">
            <a:solidFill>
              <a:schemeClr val="accent5"/>
            </a:solidFill>
            <a:prstDash val="solid"/>
          </a:ln>
        </p:spPr>
      </p:sp>
      <p:sp>
        <p:nvSpPr>
          <p:cNvPr id="23" name="Text 21"/>
          <p:cNvSpPr txBox="1"/>
          <p:nvPr/>
        </p:nvSpPr>
        <p:spPr>
          <a:xfrm>
            <a:off x="5824728" y="4297680"/>
            <a:ext cx="1362456" cy="457200"/>
          </a:xfrm>
          <a:prstGeom prst="rect">
            <a:avLst/>
          </a:prstGeom>
          <a:noFill/>
          <a:ln/>
        </p:spPr>
        <p:txBody>
          <a:bodyPr wrap="square" lIns="0" tIns="0" rIns="0" bIns="0" rtlCol="0" anchor="ctr"/>
          <a:lstStyle/>
          <a:p>
            <a:pPr algn="ctr" indent="0" marL="0">
              <a:buNone/>
            </a:pPr>
            <a:r>
              <a:rPr lang="en-US" sz="1300" dirty="0">
                <a:solidFill>
                  <a:schemeClr val="tx1"/>
                </a:solidFill>
              </a:rPr>
              <a:t>Real-time sync</a:t>
            </a:r>
            <a:endParaRPr lang="en-US" sz="1300" dirty="0"/>
          </a:p>
        </p:txBody>
      </p:sp>
      <p:sp>
        <p:nvSpPr>
          <p:cNvPr id="24" name="theme chip Edge AI"/>
          <p:cNvSpPr/>
          <p:nvPr/>
        </p:nvSpPr>
        <p:spPr>
          <a:xfrm>
            <a:off x="7324344" y="4297680"/>
            <a:ext cx="818388" cy="457200"/>
          </a:xfrm>
          <a:prstGeom prst="roundRect">
            <a:avLst>
              <a:gd name="adj" fmla="val 50000"/>
            </a:avLst>
          </a:prstGeom>
          <a:solidFill>
            <a:schemeClr val="bg1"/>
          </a:solidFill>
          <a:ln w="12700">
            <a:solidFill>
              <a:schemeClr val="accent5"/>
            </a:solidFill>
            <a:prstDash val="solid"/>
          </a:ln>
        </p:spPr>
      </p:sp>
      <p:sp>
        <p:nvSpPr>
          <p:cNvPr id="25" name="Text 23"/>
          <p:cNvSpPr txBox="1"/>
          <p:nvPr/>
        </p:nvSpPr>
        <p:spPr>
          <a:xfrm>
            <a:off x="7324344" y="4297680"/>
            <a:ext cx="818388" cy="457200"/>
          </a:xfrm>
          <a:prstGeom prst="rect">
            <a:avLst/>
          </a:prstGeom>
          <a:noFill/>
          <a:ln/>
        </p:spPr>
        <p:txBody>
          <a:bodyPr wrap="square" lIns="0" tIns="0" rIns="0" bIns="0" rtlCol="0" anchor="ctr"/>
          <a:lstStyle/>
          <a:p>
            <a:pPr algn="ctr" indent="0" marL="0">
              <a:buNone/>
            </a:pPr>
            <a:r>
              <a:rPr lang="en-US" sz="1300" dirty="0">
                <a:solidFill>
                  <a:schemeClr val="tx1"/>
                </a:solidFill>
              </a:rPr>
              <a:t>Edge AI</a:t>
            </a:r>
            <a:endParaRPr lang="en-US" sz="1300" dirty="0"/>
          </a:p>
        </p:txBody>
      </p:sp>
      <p:sp>
        <p:nvSpPr>
          <p:cNvPr id="26" name="theme chip Fine-grained car classification"/>
          <p:cNvSpPr/>
          <p:nvPr/>
        </p:nvSpPr>
        <p:spPr>
          <a:xfrm>
            <a:off x="8279892" y="4297680"/>
            <a:ext cx="2683764" cy="457200"/>
          </a:xfrm>
          <a:prstGeom prst="roundRect">
            <a:avLst>
              <a:gd name="adj" fmla="val 50000"/>
            </a:avLst>
          </a:prstGeom>
          <a:solidFill>
            <a:schemeClr val="bg1"/>
          </a:solidFill>
          <a:ln w="12700">
            <a:solidFill>
              <a:schemeClr val="accent5"/>
            </a:solidFill>
            <a:prstDash val="solid"/>
          </a:ln>
        </p:spPr>
      </p:sp>
      <p:sp>
        <p:nvSpPr>
          <p:cNvPr id="27" name="Text 25"/>
          <p:cNvSpPr txBox="1"/>
          <p:nvPr/>
        </p:nvSpPr>
        <p:spPr>
          <a:xfrm>
            <a:off x="8279892" y="4297680"/>
            <a:ext cx="2683764" cy="457200"/>
          </a:xfrm>
          <a:prstGeom prst="rect">
            <a:avLst/>
          </a:prstGeom>
          <a:noFill/>
          <a:ln/>
        </p:spPr>
        <p:txBody>
          <a:bodyPr wrap="square" lIns="0" tIns="0" rIns="0" bIns="0" rtlCol="0" anchor="ctr"/>
          <a:lstStyle/>
          <a:p>
            <a:pPr algn="ctr" indent="0" marL="0">
              <a:buNone/>
            </a:pPr>
            <a:r>
              <a:rPr lang="en-US" sz="1300" dirty="0">
                <a:solidFill>
                  <a:schemeClr val="tx1"/>
                </a:solidFill>
              </a:rPr>
              <a:t>Fine-grained car classification</a:t>
            </a:r>
            <a:endParaRPr lang="en-US" sz="1300" dirty="0"/>
          </a:p>
        </p:txBody>
      </p:sp>
      <p:sp>
        <p:nvSpPr>
          <p:cNvPr id="28" name="Text 26"/>
          <p:cNvSpPr txBox="1"/>
          <p:nvPr/>
        </p:nvSpPr>
        <p:spPr>
          <a:xfrm>
            <a:off x="548640" y="5074920"/>
            <a:ext cx="11064240" cy="777240"/>
          </a:xfrm>
          <a:prstGeom prst="rect">
            <a:avLst/>
          </a:prstGeom>
          <a:noFill/>
          <a:ln/>
        </p:spPr>
        <p:txBody>
          <a:bodyPr wrap="square" lIns="0" tIns="0" rIns="0" bIns="0" rtlCol="0" anchor="t"/>
          <a:lstStyle/>
          <a:p>
            <a:pPr indent="0" marL="0">
              <a:buNone/>
            </a:pPr>
            <a:r>
              <a:rPr lang="en-US" sz="1500" dirty="0">
                <a:solidFill>
                  <a:schemeClr val="accent5"/>
                </a:solidFill>
              </a:rPr>
              <a:t>Google Scholar and publishers' libraries, October 2026. Kept if relevant, comparable, credible and recent (2015 onwards preferred). Almost no studies cover motorsport track setout, so most evidence comes from construction layout.</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Phones place AR content within ~16 cm</a:t>
            </a:r>
            <a:endParaRPr lang="en-US" sz="3600" dirty="0"/>
          </a:p>
        </p:txBody>
      </p:sp>
      <p:graphicFrame>
        <p:nvGraphicFramePr>
          <p:cNvPr id="3" name="Chart 0" descr=""/>
          <p:cNvGraphicFramePr/>
          <p:nvPr/>
        </p:nvGraphicFramePr>
        <p:xfrm>
          <a:off x="548640" y="141732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4" name="point 0"/>
          <p:cNvSpPr/>
          <p:nvPr/>
        </p:nvSpPr>
        <p:spPr>
          <a:xfrm>
            <a:off x="7589520" y="1554480"/>
            <a:ext cx="4023360" cy="1188720"/>
          </a:xfrm>
          <a:prstGeom prst="roundRect">
            <a:avLst>
              <a:gd name="adj" fmla="val 9231"/>
            </a:avLst>
          </a:prstGeom>
          <a:solidFill>
            <a:schemeClr val="bg2"/>
          </a:solidFill>
          <a:ln w="12700">
            <a:solidFill>
              <a:schemeClr val="bg2"/>
            </a:solidFill>
            <a:prstDash val="solid"/>
          </a:ln>
        </p:spPr>
      </p:sp>
      <p:sp>
        <p:nvSpPr>
          <p:cNvPr id="5" name="Text 2"/>
          <p:cNvSpPr txBox="1"/>
          <p:nvPr/>
        </p:nvSpPr>
        <p:spPr>
          <a:xfrm>
            <a:off x="7818120" y="1691640"/>
            <a:ext cx="3657600" cy="320040"/>
          </a:xfrm>
          <a:prstGeom prst="rect">
            <a:avLst/>
          </a:prstGeom>
          <a:noFill/>
          <a:ln/>
        </p:spPr>
        <p:txBody>
          <a:bodyPr wrap="square" lIns="0" tIns="0" rIns="0" bIns="0" rtlCol="0" anchor="t"/>
          <a:lstStyle/>
          <a:p>
            <a:pPr indent="0" marL="0">
              <a:buNone/>
            </a:pPr>
            <a:r>
              <a:rPr lang="en-US" sz="1700" b="1" dirty="0">
                <a:solidFill>
                  <a:schemeClr val="tx1"/>
                </a:solidFill>
              </a:rPr>
              <a:t>Our tolerance: 10–15 cm</a:t>
            </a:r>
            <a:endParaRPr lang="en-US" sz="1700" dirty="0"/>
          </a:p>
        </p:txBody>
      </p:sp>
      <p:sp>
        <p:nvSpPr>
          <p:cNvPr id="6" name="Text 3"/>
          <p:cNvSpPr txBox="1"/>
          <p:nvPr/>
        </p:nvSpPr>
        <p:spPr>
          <a:xfrm>
            <a:off x="7818120" y="2029968"/>
            <a:ext cx="3657600" cy="640080"/>
          </a:xfrm>
          <a:prstGeom prst="rect">
            <a:avLst/>
          </a:prstGeom>
          <a:noFill/>
          <a:ln/>
        </p:spPr>
        <p:txBody>
          <a:bodyPr wrap="square" lIns="0" tIns="0" rIns="0" bIns="0" rtlCol="0" anchor="t"/>
          <a:lstStyle/>
          <a:p>
            <a:pPr indent="0" marL="0">
              <a:buNone/>
            </a:pPr>
            <a:r>
              <a:rPr lang="en-US" sz="1400" dirty="0">
                <a:solidFill>
                  <a:schemeClr val="accent5"/>
                </a:solidFill>
              </a:rPr>
              <a:t>The phone result is right at the limit, and it was measured over a small area</a:t>
            </a:r>
            <a:endParaRPr lang="en-US" sz="1400" dirty="0"/>
          </a:p>
        </p:txBody>
      </p:sp>
      <p:sp>
        <p:nvSpPr>
          <p:cNvPr id="7" name="point 1"/>
          <p:cNvSpPr/>
          <p:nvPr/>
        </p:nvSpPr>
        <p:spPr>
          <a:xfrm>
            <a:off x="7589520" y="2926080"/>
            <a:ext cx="4023360" cy="1188720"/>
          </a:xfrm>
          <a:prstGeom prst="roundRect">
            <a:avLst>
              <a:gd name="adj" fmla="val 9231"/>
            </a:avLst>
          </a:prstGeom>
          <a:solidFill>
            <a:schemeClr val="bg2"/>
          </a:solidFill>
          <a:ln w="12700">
            <a:solidFill>
              <a:schemeClr val="bg2"/>
            </a:solidFill>
            <a:prstDash val="solid"/>
          </a:ln>
        </p:spPr>
      </p:sp>
      <p:sp>
        <p:nvSpPr>
          <p:cNvPr id="8" name="Text 5"/>
          <p:cNvSpPr txBox="1"/>
          <p:nvPr/>
        </p:nvSpPr>
        <p:spPr>
          <a:xfrm>
            <a:off x="7818120" y="3063240"/>
            <a:ext cx="3657600" cy="320040"/>
          </a:xfrm>
          <a:prstGeom prst="rect">
            <a:avLst/>
          </a:prstGeom>
          <a:noFill/>
          <a:ln/>
        </p:spPr>
        <p:txBody>
          <a:bodyPr wrap="square" lIns="0" tIns="0" rIns="0" bIns="0" rtlCol="0" anchor="t"/>
          <a:lstStyle/>
          <a:p>
            <a:pPr indent="0" marL="0">
              <a:buNone/>
            </a:pPr>
            <a:r>
              <a:rPr lang="en-US" sz="1700" b="1" dirty="0">
                <a:solidFill>
                  <a:schemeClr val="tx1"/>
                </a:solidFill>
              </a:rPr>
              <a:t>Indoors, near a marker: ≈5 cm</a:t>
            </a:r>
            <a:endParaRPr lang="en-US" sz="1700" dirty="0"/>
          </a:p>
        </p:txBody>
      </p:sp>
      <p:sp>
        <p:nvSpPr>
          <p:cNvPr id="9" name="Text 6"/>
          <p:cNvSpPr txBox="1"/>
          <p:nvPr/>
        </p:nvSpPr>
        <p:spPr>
          <a:xfrm>
            <a:off x="7818120" y="3401568"/>
            <a:ext cx="3657600" cy="640080"/>
          </a:xfrm>
          <a:prstGeom prst="rect">
            <a:avLst/>
          </a:prstGeom>
          <a:noFill/>
          <a:ln/>
        </p:spPr>
        <p:txBody>
          <a:bodyPr wrap="square" lIns="0" tIns="0" rIns="0" bIns="0" rtlCol="0" anchor="t"/>
          <a:lstStyle/>
          <a:p>
            <a:pPr indent="0" marL="0">
              <a:buNone/>
            </a:pPr>
            <a:r>
              <a:rPr lang="en-US" sz="1400" dirty="0">
                <a:solidFill>
                  <a:schemeClr val="accent5"/>
                </a:solidFill>
              </a:rPr>
              <a:t>HoloLens with a paper marker; error grew farther from the marker</a:t>
            </a:r>
            <a:endParaRPr lang="en-US" sz="1400" dirty="0"/>
          </a:p>
        </p:txBody>
      </p:sp>
      <p:sp>
        <p:nvSpPr>
          <p:cNvPr id="10" name="point 2"/>
          <p:cNvSpPr/>
          <p:nvPr/>
        </p:nvSpPr>
        <p:spPr>
          <a:xfrm>
            <a:off x="7589520" y="4297680"/>
            <a:ext cx="4023360" cy="1188720"/>
          </a:xfrm>
          <a:prstGeom prst="roundRect">
            <a:avLst>
              <a:gd name="adj" fmla="val 9231"/>
            </a:avLst>
          </a:prstGeom>
          <a:solidFill>
            <a:schemeClr val="tx2"/>
          </a:solidFill>
          <a:ln w="12700">
            <a:solidFill>
              <a:schemeClr val="tx2"/>
            </a:solidFill>
            <a:prstDash val="solid"/>
          </a:ln>
        </p:spPr>
      </p:sp>
      <p:sp>
        <p:nvSpPr>
          <p:cNvPr id="11" name="Text 8"/>
          <p:cNvSpPr txBox="1"/>
          <p:nvPr/>
        </p:nvSpPr>
        <p:spPr>
          <a:xfrm>
            <a:off x="7818120" y="4434840"/>
            <a:ext cx="3657600" cy="320040"/>
          </a:xfrm>
          <a:prstGeom prst="rect">
            <a:avLst/>
          </a:prstGeom>
          <a:noFill/>
          <a:ln/>
        </p:spPr>
        <p:txBody>
          <a:bodyPr wrap="square" lIns="0" tIns="0" rIns="0" bIns="0" rtlCol="0" anchor="t"/>
          <a:lstStyle/>
          <a:p>
            <a:pPr indent="0" marL="0">
              <a:buNone/>
            </a:pPr>
            <a:r>
              <a:rPr lang="en-US" sz="1700" b="1" dirty="0">
                <a:solidFill>
                  <a:schemeClr val="bg1"/>
                </a:solidFill>
              </a:rPr>
              <a:t>Takeaway</a:t>
            </a:r>
            <a:endParaRPr lang="en-US" sz="1700" dirty="0"/>
          </a:p>
        </p:txBody>
      </p:sp>
      <p:sp>
        <p:nvSpPr>
          <p:cNvPr id="12" name="Text 9"/>
          <p:cNvSpPr txBox="1"/>
          <p:nvPr/>
        </p:nvSpPr>
        <p:spPr>
          <a:xfrm>
            <a:off x="7818120" y="4773168"/>
            <a:ext cx="3657600" cy="640080"/>
          </a:xfrm>
          <a:prstGeom prst="rect">
            <a:avLst/>
          </a:prstGeom>
          <a:noFill/>
          <a:ln/>
        </p:spPr>
        <p:txBody>
          <a:bodyPr wrap="square" lIns="0" tIns="0" rIns="0" bIns="0" rtlCol="0" anchor="t"/>
          <a:lstStyle/>
          <a:p>
            <a:pPr indent="0" marL="0">
              <a:buNone/>
            </a:pPr>
            <a:r>
              <a:rPr lang="en-US" sz="1400" dirty="0">
                <a:solidFill>
                  <a:schemeClr val="bg2"/>
                </a:solidFill>
              </a:rPr>
              <a:t>AR guidance is feasible, but not accurate enough by default at track scale</a:t>
            </a:r>
            <a:endParaRPr lang="en-US" sz="1400" dirty="0"/>
          </a:p>
        </p:txBody>
      </p:sp>
      <p:sp>
        <p:nvSpPr>
          <p:cNvPr id="13" name="Text 1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Sources: Kim and Olsen, ISARC 2025; Chalhoub and Ayer, ITcon 2019</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Tracking error grows with distance</a:t>
            </a:r>
            <a:endParaRPr lang="en-US" sz="3600" dirty="0"/>
          </a:p>
        </p:txBody>
      </p:sp>
      <p:sp>
        <p:nvSpPr>
          <p:cNvPr id="3" name="drift card 0"/>
          <p:cNvSpPr/>
          <p:nvPr/>
        </p:nvSpPr>
        <p:spPr>
          <a:xfrm>
            <a:off x="548640" y="1508760"/>
            <a:ext cx="3474720" cy="3063240"/>
          </a:xfrm>
          <a:prstGeom prst="roundRect">
            <a:avLst>
              <a:gd name="adj" fmla="val 3582"/>
            </a:avLst>
          </a:prstGeom>
          <a:solidFill>
            <a:schemeClr val="bg2"/>
          </a:solidFill>
          <a:ln w="12700">
            <a:solidFill>
              <a:schemeClr val="bg2"/>
            </a:solidFill>
            <a:prstDash val="solid"/>
          </a:ln>
        </p:spPr>
      </p:sp>
      <p:sp>
        <p:nvSpPr>
          <p:cNvPr id="4" name="marker 0"/>
          <p:cNvSpPr/>
          <p:nvPr/>
        </p:nvSpPr>
        <p:spPr>
          <a:xfrm>
            <a:off x="822960" y="1783080"/>
            <a:ext cx="256032" cy="256032"/>
          </a:xfrm>
          <a:prstGeom prst="ellipse">
            <a:avLst/>
          </a:prstGeom>
          <a:solidFill>
            <a:schemeClr val="accent6"/>
          </a:solidFill>
          <a:ln w="12700">
            <a:solidFill>
              <a:schemeClr val="accent6"/>
            </a:solidFill>
            <a:prstDash val="solid"/>
          </a:ln>
        </p:spPr>
      </p:sp>
      <p:sp>
        <p:nvSpPr>
          <p:cNvPr id="5" name="Text 3"/>
          <p:cNvSpPr txBox="1"/>
          <p:nvPr/>
        </p:nvSpPr>
        <p:spPr>
          <a:xfrm>
            <a:off x="822960" y="2148840"/>
            <a:ext cx="3017520" cy="73152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≈17 m</a:t>
            </a:r>
            <a:endParaRPr lang="en-US" sz="3000" dirty="0"/>
          </a:p>
        </p:txBody>
      </p:sp>
      <p:sp>
        <p:nvSpPr>
          <p:cNvPr id="6" name="Text 4"/>
          <p:cNvSpPr txBox="1"/>
          <p:nvPr/>
        </p:nvSpPr>
        <p:spPr>
          <a:xfrm>
            <a:off x="822960" y="2880360"/>
            <a:ext cx="3017520" cy="365760"/>
          </a:xfrm>
          <a:prstGeom prst="rect">
            <a:avLst/>
          </a:prstGeom>
          <a:noFill/>
          <a:ln/>
        </p:spPr>
        <p:txBody>
          <a:bodyPr wrap="square" lIns="0" tIns="0" rIns="0" bIns="0" rtlCol="0" anchor="t"/>
          <a:lstStyle/>
          <a:p>
            <a:pPr indent="0" marL="0">
              <a:buNone/>
            </a:pPr>
            <a:r>
              <a:rPr lang="en-US" sz="1600" b="1" dirty="0">
                <a:solidFill>
                  <a:schemeClr val="accent5"/>
                </a:solidFill>
              </a:rPr>
              <a:t>per 120 m walked</a:t>
            </a:r>
            <a:endParaRPr lang="en-US" sz="1600" dirty="0"/>
          </a:p>
        </p:txBody>
      </p:sp>
      <p:sp>
        <p:nvSpPr>
          <p:cNvPr id="7" name="Text 5"/>
          <p:cNvSpPr txBox="1"/>
          <p:nvPr/>
        </p:nvSpPr>
        <p:spPr>
          <a:xfrm>
            <a:off x="822960" y="3291840"/>
            <a:ext cx="3017520" cy="685800"/>
          </a:xfrm>
          <a:prstGeom prst="rect">
            <a:avLst/>
          </a:prstGeom>
          <a:noFill/>
          <a:ln/>
        </p:spPr>
        <p:txBody>
          <a:bodyPr wrap="square" lIns="0" tIns="0" rIns="0" bIns="0" rtlCol="0" anchor="t"/>
          <a:lstStyle/>
          <a:p>
            <a:pPr indent="0" marL="0">
              <a:buNone/>
            </a:pPr>
            <a:r>
              <a:rPr lang="en-US" sz="1400" dirty="0">
                <a:solidFill>
                  <a:schemeClr val="tx1"/>
                </a:solidFill>
              </a:rPr>
              <a:t>ARCore, ARKit and HoloLens in a 1,600 m² hall</a:t>
            </a:r>
            <a:endParaRPr lang="en-US" sz="1400" dirty="0"/>
          </a:p>
        </p:txBody>
      </p:sp>
      <p:sp>
        <p:nvSpPr>
          <p:cNvPr id="8" name="Text 6"/>
          <p:cNvSpPr txBox="1"/>
          <p:nvPr/>
        </p:nvSpPr>
        <p:spPr>
          <a:xfrm>
            <a:off x="822960" y="4114800"/>
            <a:ext cx="3017520" cy="274320"/>
          </a:xfrm>
          <a:prstGeom prst="rect">
            <a:avLst/>
          </a:prstGeom>
          <a:noFill/>
          <a:ln/>
        </p:spPr>
        <p:txBody>
          <a:bodyPr wrap="square" lIns="0" tIns="0" rIns="0" bIns="0" rtlCol="0" anchor="t"/>
          <a:lstStyle/>
          <a:p>
            <a:pPr indent="0" marL="0">
              <a:buNone/>
            </a:pPr>
            <a:r>
              <a:rPr lang="en-US" sz="1100" i="1" dirty="0">
                <a:solidFill>
                  <a:schemeClr val="accent5"/>
                </a:solidFill>
              </a:rPr>
              <a:t>Feigl et al., 2020</a:t>
            </a:r>
            <a:endParaRPr lang="en-US" sz="1100" dirty="0"/>
          </a:p>
        </p:txBody>
      </p:sp>
      <p:sp>
        <p:nvSpPr>
          <p:cNvPr id="9" name="drift card 1"/>
          <p:cNvSpPr/>
          <p:nvPr/>
        </p:nvSpPr>
        <p:spPr>
          <a:xfrm>
            <a:off x="4297680" y="1508760"/>
            <a:ext cx="3474720" cy="3063240"/>
          </a:xfrm>
          <a:prstGeom prst="roundRect">
            <a:avLst>
              <a:gd name="adj" fmla="val 3582"/>
            </a:avLst>
          </a:prstGeom>
          <a:solidFill>
            <a:schemeClr val="bg2"/>
          </a:solidFill>
          <a:ln w="12700">
            <a:solidFill>
              <a:schemeClr val="bg2"/>
            </a:solidFill>
            <a:prstDash val="solid"/>
          </a:ln>
        </p:spPr>
      </p:sp>
      <p:sp>
        <p:nvSpPr>
          <p:cNvPr id="10" name="marker 1"/>
          <p:cNvSpPr/>
          <p:nvPr/>
        </p:nvSpPr>
        <p:spPr>
          <a:xfrm>
            <a:off x="4572000" y="1783080"/>
            <a:ext cx="256032" cy="256032"/>
          </a:xfrm>
          <a:prstGeom prst="ellipse">
            <a:avLst/>
          </a:prstGeom>
          <a:solidFill>
            <a:schemeClr val="accent2"/>
          </a:solidFill>
          <a:ln w="12700">
            <a:solidFill>
              <a:schemeClr val="accent2"/>
            </a:solidFill>
            <a:prstDash val="solid"/>
          </a:ln>
        </p:spPr>
      </p:sp>
      <p:sp>
        <p:nvSpPr>
          <p:cNvPr id="11" name="Text 9"/>
          <p:cNvSpPr txBox="1"/>
          <p:nvPr/>
        </p:nvSpPr>
        <p:spPr>
          <a:xfrm>
            <a:off x="4572000" y="2148840"/>
            <a:ext cx="3017520" cy="73152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4.8 vs 25.1 cm</a:t>
            </a:r>
            <a:endParaRPr lang="en-US" sz="3000" dirty="0"/>
          </a:p>
        </p:txBody>
      </p:sp>
      <p:sp>
        <p:nvSpPr>
          <p:cNvPr id="12" name="Text 10"/>
          <p:cNvSpPr txBox="1"/>
          <p:nvPr/>
        </p:nvSpPr>
        <p:spPr>
          <a:xfrm>
            <a:off x="4572000" y="2880360"/>
            <a:ext cx="3017520" cy="365760"/>
          </a:xfrm>
          <a:prstGeom prst="rect">
            <a:avLst/>
          </a:prstGeom>
          <a:noFill/>
          <a:ln/>
        </p:spPr>
        <p:txBody>
          <a:bodyPr wrap="square" lIns="0" tIns="0" rIns="0" bIns="0" rtlCol="0" anchor="t"/>
          <a:lstStyle/>
          <a:p>
            <a:pPr indent="0" marL="0">
              <a:buNone/>
            </a:pPr>
            <a:r>
              <a:rPr lang="en-US" sz="1600" b="1" dirty="0">
                <a:solidFill>
                  <a:schemeClr val="accent5"/>
                </a:solidFill>
              </a:rPr>
              <a:t>drift after walking away and back</a:t>
            </a:r>
            <a:endParaRPr lang="en-US" sz="1600" dirty="0"/>
          </a:p>
        </p:txBody>
      </p:sp>
      <p:sp>
        <p:nvSpPr>
          <p:cNvPr id="13" name="Text 11"/>
          <p:cNvSpPr txBox="1"/>
          <p:nvPr/>
        </p:nvSpPr>
        <p:spPr>
          <a:xfrm>
            <a:off x="4572000" y="3291840"/>
            <a:ext cx="3017520" cy="685800"/>
          </a:xfrm>
          <a:prstGeom prst="rect">
            <a:avLst/>
          </a:prstGeom>
          <a:noFill/>
          <a:ln/>
        </p:spPr>
        <p:txBody>
          <a:bodyPr wrap="square" lIns="0" tIns="0" rIns="0" bIns="0" rtlCol="0" anchor="t"/>
          <a:lstStyle/>
          <a:p>
            <a:pPr indent="0" marL="0">
              <a:buNone/>
            </a:pPr>
            <a:r>
              <a:rPr lang="en-US" sz="1400" dirty="0">
                <a:solidFill>
                  <a:schemeClr val="tx1"/>
                </a:solidFill>
              </a:rPr>
              <a:t>ARCore vs ARKit, 200+ indoor scenes; worse with low texture</a:t>
            </a:r>
            <a:endParaRPr lang="en-US" sz="1400" dirty="0"/>
          </a:p>
        </p:txBody>
      </p:sp>
      <p:sp>
        <p:nvSpPr>
          <p:cNvPr id="14" name="Text 12"/>
          <p:cNvSpPr txBox="1"/>
          <p:nvPr/>
        </p:nvSpPr>
        <p:spPr>
          <a:xfrm>
            <a:off x="4572000" y="4114800"/>
            <a:ext cx="3017520" cy="274320"/>
          </a:xfrm>
          <a:prstGeom prst="rect">
            <a:avLst/>
          </a:prstGeom>
          <a:noFill/>
          <a:ln/>
        </p:spPr>
        <p:txBody>
          <a:bodyPr wrap="square" lIns="0" tIns="0" rIns="0" bIns="0" rtlCol="0" anchor="t"/>
          <a:lstStyle/>
          <a:p>
            <a:pPr indent="0" marL="0">
              <a:buNone/>
            </a:pPr>
            <a:r>
              <a:rPr lang="en-US" sz="1100" i="1" dirty="0">
                <a:solidFill>
                  <a:schemeClr val="accent5"/>
                </a:solidFill>
              </a:rPr>
              <a:t>Scargill et al., 2021 (preprint)</a:t>
            </a:r>
            <a:endParaRPr lang="en-US" sz="1100" dirty="0"/>
          </a:p>
        </p:txBody>
      </p:sp>
      <p:sp>
        <p:nvSpPr>
          <p:cNvPr id="15" name="drift card 2"/>
          <p:cNvSpPr/>
          <p:nvPr/>
        </p:nvSpPr>
        <p:spPr>
          <a:xfrm>
            <a:off x="8046720" y="1508760"/>
            <a:ext cx="3474720" cy="3063240"/>
          </a:xfrm>
          <a:prstGeom prst="roundRect">
            <a:avLst>
              <a:gd name="adj" fmla="val 3582"/>
            </a:avLst>
          </a:prstGeom>
          <a:solidFill>
            <a:schemeClr val="bg2"/>
          </a:solidFill>
          <a:ln w="12700">
            <a:solidFill>
              <a:schemeClr val="bg2"/>
            </a:solidFill>
            <a:prstDash val="solid"/>
          </a:ln>
        </p:spPr>
      </p:sp>
      <p:sp>
        <p:nvSpPr>
          <p:cNvPr id="16" name="marker 2"/>
          <p:cNvSpPr/>
          <p:nvPr/>
        </p:nvSpPr>
        <p:spPr>
          <a:xfrm>
            <a:off x="8321040" y="1783080"/>
            <a:ext cx="256032" cy="256032"/>
          </a:xfrm>
          <a:prstGeom prst="ellipse">
            <a:avLst/>
          </a:prstGeom>
          <a:solidFill>
            <a:schemeClr val="accent4"/>
          </a:solidFill>
          <a:ln w="12700">
            <a:solidFill>
              <a:schemeClr val="accent4"/>
            </a:solidFill>
            <a:prstDash val="solid"/>
          </a:ln>
        </p:spPr>
      </p:sp>
      <p:sp>
        <p:nvSpPr>
          <p:cNvPr id="17" name="Text 15"/>
          <p:cNvSpPr txBox="1"/>
          <p:nvPr/>
        </p:nvSpPr>
        <p:spPr>
          <a:xfrm>
            <a:off x="8321040" y="2148840"/>
            <a:ext cx="3017520" cy="73152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1.1–2.1 cm</a:t>
            </a:r>
            <a:endParaRPr lang="en-US" sz="3000" dirty="0"/>
          </a:p>
        </p:txBody>
      </p:sp>
      <p:sp>
        <p:nvSpPr>
          <p:cNvPr id="18" name="Text 16"/>
          <p:cNvSpPr txBox="1"/>
          <p:nvPr/>
        </p:nvSpPr>
        <p:spPr>
          <a:xfrm>
            <a:off x="8321040" y="2880360"/>
            <a:ext cx="3017520" cy="365760"/>
          </a:xfrm>
          <a:prstGeom prst="rect">
            <a:avLst/>
          </a:prstGeom>
          <a:noFill/>
          <a:ln/>
        </p:spPr>
        <p:txBody>
          <a:bodyPr wrap="square" lIns="0" tIns="0" rIns="0" bIns="0" rtlCol="0" anchor="t"/>
          <a:lstStyle/>
          <a:p>
            <a:pPr indent="0" marL="0">
              <a:buNone/>
            </a:pPr>
            <a:r>
              <a:rPr lang="en-US" sz="1600" b="1" dirty="0">
                <a:solidFill>
                  <a:schemeClr val="accent5"/>
                </a:solidFill>
              </a:rPr>
              <a:t>static RMS error</a:t>
            </a:r>
            <a:endParaRPr lang="en-US" sz="1600" dirty="0"/>
          </a:p>
        </p:txBody>
      </p:sp>
      <p:sp>
        <p:nvSpPr>
          <p:cNvPr id="19" name="Text 17"/>
          <p:cNvSpPr txBox="1"/>
          <p:nvPr/>
        </p:nvSpPr>
        <p:spPr>
          <a:xfrm>
            <a:off x="8321040" y="3291840"/>
            <a:ext cx="3017520" cy="685800"/>
          </a:xfrm>
          <a:prstGeom prst="rect">
            <a:avLst/>
          </a:prstGeom>
          <a:noFill/>
          <a:ln/>
        </p:spPr>
        <p:txBody>
          <a:bodyPr wrap="square" lIns="0" tIns="0" rIns="0" bIns="0" rtlCol="0" anchor="t"/>
          <a:lstStyle/>
          <a:p>
            <a:pPr indent="0" marL="0">
              <a:buNone/>
            </a:pPr>
            <a:r>
              <a:rPr lang="en-US" sz="1400" dirty="0">
                <a:solidFill>
                  <a:schemeClr val="tx1"/>
                </a:solidFill>
              </a:rPr>
              <a:t>Smartphone RTK GNSS in open sky; no drift, needs corrections</a:t>
            </a:r>
            <a:endParaRPr lang="en-US" sz="1400" dirty="0"/>
          </a:p>
        </p:txBody>
      </p:sp>
      <p:sp>
        <p:nvSpPr>
          <p:cNvPr id="20" name="Text 18"/>
          <p:cNvSpPr txBox="1"/>
          <p:nvPr/>
        </p:nvSpPr>
        <p:spPr>
          <a:xfrm>
            <a:off x="8321040" y="4114800"/>
            <a:ext cx="3017520" cy="274320"/>
          </a:xfrm>
          <a:prstGeom prst="rect">
            <a:avLst/>
          </a:prstGeom>
          <a:noFill/>
          <a:ln/>
        </p:spPr>
        <p:txBody>
          <a:bodyPr wrap="square" lIns="0" tIns="0" rIns="0" bIns="0" rtlCol="0" anchor="t"/>
          <a:lstStyle/>
          <a:p>
            <a:pPr indent="0" marL="0">
              <a:buNone/>
            </a:pPr>
            <a:r>
              <a:rPr lang="en-US" sz="1100" i="1" dirty="0">
                <a:solidFill>
                  <a:schemeClr val="accent5"/>
                </a:solidFill>
              </a:rPr>
              <a:t>Jiang et al., 2023</a:t>
            </a:r>
            <a:endParaRPr lang="en-US" sz="1100" dirty="0"/>
          </a:p>
        </p:txBody>
      </p:sp>
      <p:sp>
        <p:nvSpPr>
          <p:cNvPr id="21" name="takeaway circle"/>
          <p:cNvSpPr/>
          <p:nvPr/>
        </p:nvSpPr>
        <p:spPr>
          <a:xfrm>
            <a:off x="548640" y="4937760"/>
            <a:ext cx="731520" cy="731520"/>
          </a:xfrm>
          <a:prstGeom prst="ellipse">
            <a:avLst/>
          </a:prstGeom>
          <a:solidFill>
            <a:schemeClr val="accent3"/>
          </a:solidFill>
          <a:ln w="12700">
            <a:solidFill>
              <a:schemeClr val="accent3"/>
            </a:solidFill>
            <a:prstDash val="solid"/>
          </a:ln>
        </p:spPr>
      </p:sp>
      <p:pic>
        <p:nvPicPr>
          <p:cNvPr id="22" name="takeaway icon" descr="takeaway">    </p:cNvPr>
          <p:cNvPicPr>
            <a:picLocks noChangeAspect="1"/>
          </p:cNvPicPr>
          <p:nvPr/>
        </p:nvPicPr>
        <p:blipFill>
          <a:blip r:embed="rId1"/>
          <a:stretch>
            <a:fillRect/>
          </a:stretch>
        </p:blipFill>
        <p:spPr>
          <a:xfrm>
            <a:off x="746150" y="5135270"/>
            <a:ext cx="336499" cy="336499"/>
          </a:xfrm>
          <a:prstGeom prst="rect">
            <a:avLst/>
          </a:prstGeom>
        </p:spPr>
      </p:pic>
      <p:sp>
        <p:nvSpPr>
          <p:cNvPr id="23" name="Text 20"/>
          <p:cNvSpPr txBox="1"/>
          <p:nvPr/>
        </p:nvSpPr>
        <p:spPr>
          <a:xfrm>
            <a:off x="1508760" y="4892040"/>
            <a:ext cx="10058400" cy="868680"/>
          </a:xfrm>
          <a:prstGeom prst="rect">
            <a:avLst/>
          </a:prstGeom>
          <a:noFill/>
          <a:ln/>
        </p:spPr>
        <p:txBody>
          <a:bodyPr wrap="square" lIns="0" tIns="0" rIns="0" bIns="0" rtlCol="0" anchor="ctr"/>
          <a:lstStyle/>
          <a:p>
            <a:pPr indent="0" marL="0">
              <a:buNone/>
            </a:pPr>
            <a:r>
              <a:rPr lang="en-US" sz="1600" b="1" dirty="0">
                <a:solidFill>
                  <a:schemeClr val="tx1"/>
                </a:solidFill>
              </a:rPr>
              <a:t>One alignment at the start line cannot hold a 200 m+ track. </a:t>
            </a:r>
            <a:pPr indent="0" marL="0">
              <a:buNone/>
            </a:pPr>
            <a:r>
              <a:rPr lang="en-US" sz="1600" dirty="0">
                <a:solidFill>
                  <a:schemeClr val="tx1"/>
                </a:solidFill>
              </a:rPr>
              <a:t>The plan must be re-aligned along the track, or anchored to absolute positions. Uniform asphalt is a further drift risk.</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A twin needs data flowing both ways</a:t>
            </a:r>
            <a:endParaRPr lang="en-US" sz="3600" dirty="0"/>
          </a:p>
        </p:txBody>
      </p:sp>
      <p:sp>
        <p:nvSpPr>
          <p:cNvPr id="3" name="Digital model card"/>
          <p:cNvSpPr/>
          <p:nvPr/>
        </p:nvSpPr>
        <p:spPr>
          <a:xfrm>
            <a:off x="548640" y="1508760"/>
            <a:ext cx="3474720" cy="3246120"/>
          </a:xfrm>
          <a:prstGeom prst="roundRect">
            <a:avLst>
              <a:gd name="adj" fmla="val 3380"/>
            </a:avLst>
          </a:prstGeom>
          <a:solidFill>
            <a:schemeClr val="bg2"/>
          </a:solidFill>
          <a:ln w="12700">
            <a:solidFill>
              <a:schemeClr val="bg2"/>
            </a:solidFill>
            <a:prstDash val="solid"/>
          </a:ln>
        </p:spPr>
      </p:sp>
      <p:sp>
        <p:nvSpPr>
          <p:cNvPr id="4" name="Text 2"/>
          <p:cNvSpPr txBox="1"/>
          <p:nvPr/>
        </p:nvSpPr>
        <p:spPr>
          <a:xfrm>
            <a:off x="822960" y="1691640"/>
            <a:ext cx="2926080" cy="411480"/>
          </a:xfrm>
          <a:prstGeom prst="rect">
            <a:avLst/>
          </a:prstGeom>
          <a:noFill/>
          <a:ln/>
        </p:spPr>
        <p:txBody>
          <a:bodyPr wrap="square" lIns="0" tIns="0" rIns="0" bIns="0" rtlCol="0" anchor="t"/>
          <a:lstStyle/>
          <a:p>
            <a:pPr indent="0" marL="0">
              <a:buNone/>
            </a:pPr>
            <a:r>
              <a:rPr lang="en-US" sz="2000" b="1" dirty="0">
                <a:solidFill>
                  <a:schemeClr val="tx1"/>
                </a:solidFill>
              </a:rPr>
              <a:t>Digital model</a:t>
            </a:r>
            <a:endParaRPr lang="en-US" sz="2000" dirty="0"/>
          </a:p>
        </p:txBody>
      </p:sp>
      <p:sp>
        <p:nvSpPr>
          <p:cNvPr id="5" name="Text 3"/>
          <p:cNvSpPr txBox="1"/>
          <p:nvPr/>
        </p:nvSpPr>
        <p:spPr>
          <a:xfrm>
            <a:off x="822960" y="2377440"/>
            <a:ext cx="1097280" cy="365760"/>
          </a:xfrm>
          <a:prstGeom prst="rect">
            <a:avLst/>
          </a:prstGeom>
          <a:noFill/>
          <a:ln/>
        </p:spPr>
        <p:txBody>
          <a:bodyPr wrap="square" lIns="0" tIns="0" rIns="0" bIns="0" rtlCol="0" anchor="ctr"/>
          <a:lstStyle/>
          <a:p>
            <a:pPr algn="ctr" indent="0" marL="0">
              <a:buNone/>
            </a:pPr>
            <a:r>
              <a:rPr lang="en-US" sz="1400" b="1" dirty="0">
                <a:solidFill>
                  <a:schemeClr val="tx1"/>
                </a:solidFill>
              </a:rPr>
              <a:t>Physical</a:t>
            </a:r>
            <a:endParaRPr lang="en-US" sz="1400" dirty="0"/>
          </a:p>
        </p:txBody>
      </p:sp>
      <p:sp>
        <p:nvSpPr>
          <p:cNvPr id="6" name="Text 4"/>
          <p:cNvSpPr txBox="1"/>
          <p:nvPr/>
        </p:nvSpPr>
        <p:spPr>
          <a:xfrm>
            <a:off x="2651760" y="2377440"/>
            <a:ext cx="1097280" cy="365760"/>
          </a:xfrm>
          <a:prstGeom prst="rect">
            <a:avLst/>
          </a:prstGeom>
          <a:noFill/>
          <a:ln/>
        </p:spPr>
        <p:txBody>
          <a:bodyPr wrap="square" lIns="0" tIns="0" rIns="0" bIns="0" rtlCol="0" anchor="ctr"/>
          <a:lstStyle/>
          <a:p>
            <a:pPr algn="ctr" indent="0" marL="0">
              <a:buNone/>
            </a:pPr>
            <a:r>
              <a:rPr lang="en-US" sz="1400" b="1" dirty="0">
                <a:solidFill>
                  <a:schemeClr val="tx1"/>
                </a:solidFill>
              </a:rPr>
              <a:t>Virtual</a:t>
            </a:r>
            <a:endParaRPr lang="en-US" sz="1400" dirty="0"/>
          </a:p>
        </p:txBody>
      </p:sp>
      <p:sp>
        <p:nvSpPr>
          <p:cNvPr id="7" name="Digital model up"/>
          <p:cNvSpPr/>
          <p:nvPr/>
        </p:nvSpPr>
        <p:spPr>
          <a:xfrm>
            <a:off x="1920240" y="2450592"/>
            <a:ext cx="731520" cy="0"/>
          </a:xfrm>
          <a:prstGeom prst="line">
            <a:avLst/>
          </a:prstGeom>
          <a:noFill/>
          <a:ln w="31750">
            <a:solidFill>
              <a:srgbClr val="6B7580"/>
            </a:solidFill>
            <a:prstDash val="dash"/>
            <a:tailEnd type="triangle"/>
          </a:ln>
        </p:spPr>
      </p:sp>
      <p:sp>
        <p:nvSpPr>
          <p:cNvPr id="8" name="Digital model down"/>
          <p:cNvSpPr/>
          <p:nvPr/>
        </p:nvSpPr>
        <p:spPr>
          <a:xfrm>
            <a:off x="1920240" y="2679192"/>
            <a:ext cx="731520" cy="0"/>
          </a:xfrm>
          <a:prstGeom prst="line">
            <a:avLst/>
          </a:prstGeom>
          <a:noFill/>
          <a:ln w="31750">
            <a:solidFill>
              <a:srgbClr val="6B7580"/>
            </a:solidFill>
            <a:prstDash val="dash"/>
            <a:headEnd type="triangle"/>
          </a:ln>
        </p:spPr>
      </p:sp>
      <p:sp>
        <p:nvSpPr>
          <p:cNvPr id="9" name="Text 7"/>
          <p:cNvSpPr txBox="1"/>
          <p:nvPr/>
        </p:nvSpPr>
        <p:spPr>
          <a:xfrm>
            <a:off x="822960" y="3063240"/>
            <a:ext cx="2926080" cy="822960"/>
          </a:xfrm>
          <a:prstGeom prst="rect">
            <a:avLst/>
          </a:prstGeom>
          <a:noFill/>
          <a:ln/>
        </p:spPr>
        <p:txBody>
          <a:bodyPr wrap="square" lIns="0" tIns="0" rIns="0" bIns="0" rtlCol="0" anchor="t"/>
          <a:lstStyle/>
          <a:p>
            <a:pPr indent="0" marL="0">
              <a:buNone/>
            </a:pPr>
            <a:r>
              <a:rPr lang="en-US" sz="1500" dirty="0">
                <a:solidFill>
                  <a:schemeClr val="accent5"/>
                </a:solidFill>
              </a:rPr>
              <a:t>No automatic data exchange</a:t>
            </a:r>
            <a:endParaRPr lang="en-US" sz="1500" dirty="0"/>
          </a:p>
        </p:txBody>
      </p:sp>
      <p:sp>
        <p:nvSpPr>
          <p:cNvPr id="10" name="Text 8"/>
          <p:cNvSpPr txBox="1"/>
          <p:nvPr/>
        </p:nvSpPr>
        <p:spPr>
          <a:xfrm>
            <a:off x="822960" y="4251960"/>
            <a:ext cx="2926080" cy="274320"/>
          </a:xfrm>
          <a:prstGeom prst="rect">
            <a:avLst/>
          </a:prstGeom>
          <a:noFill/>
          <a:ln/>
        </p:spPr>
        <p:txBody>
          <a:bodyPr wrap="square" lIns="0" tIns="0" rIns="0" bIns="0" rtlCol="0" anchor="t"/>
          <a:lstStyle/>
          <a:p>
            <a:pPr indent="0" marL="0">
              <a:buNone/>
            </a:pPr>
            <a:r>
              <a:rPr lang="en-US" sz="1100" i="1" dirty="0">
                <a:solidFill>
                  <a:schemeClr val="accent5"/>
                </a:solidFill>
              </a:rPr>
              <a:t>solid = automatic, dashed = manual</a:t>
            </a:r>
            <a:endParaRPr lang="en-US" sz="1100" dirty="0"/>
          </a:p>
        </p:txBody>
      </p:sp>
      <p:sp>
        <p:nvSpPr>
          <p:cNvPr id="11" name="Digital shadow card"/>
          <p:cNvSpPr/>
          <p:nvPr/>
        </p:nvSpPr>
        <p:spPr>
          <a:xfrm>
            <a:off x="4297680" y="1508760"/>
            <a:ext cx="3474720" cy="3246120"/>
          </a:xfrm>
          <a:prstGeom prst="roundRect">
            <a:avLst>
              <a:gd name="adj" fmla="val 3380"/>
            </a:avLst>
          </a:prstGeom>
          <a:solidFill>
            <a:schemeClr val="bg2"/>
          </a:solidFill>
          <a:ln w="12700">
            <a:solidFill>
              <a:schemeClr val="bg2"/>
            </a:solidFill>
            <a:prstDash val="solid"/>
          </a:ln>
        </p:spPr>
      </p:sp>
      <p:sp>
        <p:nvSpPr>
          <p:cNvPr id="12" name="Text 10"/>
          <p:cNvSpPr txBox="1"/>
          <p:nvPr/>
        </p:nvSpPr>
        <p:spPr>
          <a:xfrm>
            <a:off x="4572000" y="1691640"/>
            <a:ext cx="2926080" cy="411480"/>
          </a:xfrm>
          <a:prstGeom prst="rect">
            <a:avLst/>
          </a:prstGeom>
          <a:noFill/>
          <a:ln/>
        </p:spPr>
        <p:txBody>
          <a:bodyPr wrap="square" lIns="0" tIns="0" rIns="0" bIns="0" rtlCol="0" anchor="t"/>
          <a:lstStyle/>
          <a:p>
            <a:pPr indent="0" marL="0">
              <a:buNone/>
            </a:pPr>
            <a:r>
              <a:rPr lang="en-US" sz="2000" b="1" dirty="0">
                <a:solidFill>
                  <a:schemeClr val="tx1"/>
                </a:solidFill>
              </a:rPr>
              <a:t>Digital shadow</a:t>
            </a:r>
            <a:endParaRPr lang="en-US" sz="2000" dirty="0"/>
          </a:p>
        </p:txBody>
      </p:sp>
      <p:sp>
        <p:nvSpPr>
          <p:cNvPr id="13" name="Text 11"/>
          <p:cNvSpPr txBox="1"/>
          <p:nvPr/>
        </p:nvSpPr>
        <p:spPr>
          <a:xfrm>
            <a:off x="4572000" y="2377440"/>
            <a:ext cx="1097280" cy="365760"/>
          </a:xfrm>
          <a:prstGeom prst="rect">
            <a:avLst/>
          </a:prstGeom>
          <a:noFill/>
          <a:ln/>
        </p:spPr>
        <p:txBody>
          <a:bodyPr wrap="square" lIns="0" tIns="0" rIns="0" bIns="0" rtlCol="0" anchor="ctr"/>
          <a:lstStyle/>
          <a:p>
            <a:pPr algn="ctr" indent="0" marL="0">
              <a:buNone/>
            </a:pPr>
            <a:r>
              <a:rPr lang="en-US" sz="1400" b="1" dirty="0">
                <a:solidFill>
                  <a:schemeClr val="tx1"/>
                </a:solidFill>
              </a:rPr>
              <a:t>Physical</a:t>
            </a:r>
            <a:endParaRPr lang="en-US" sz="1400" dirty="0"/>
          </a:p>
        </p:txBody>
      </p:sp>
      <p:sp>
        <p:nvSpPr>
          <p:cNvPr id="14" name="Text 12"/>
          <p:cNvSpPr txBox="1"/>
          <p:nvPr/>
        </p:nvSpPr>
        <p:spPr>
          <a:xfrm>
            <a:off x="6400800" y="2377440"/>
            <a:ext cx="1097280" cy="365760"/>
          </a:xfrm>
          <a:prstGeom prst="rect">
            <a:avLst/>
          </a:prstGeom>
          <a:noFill/>
          <a:ln/>
        </p:spPr>
        <p:txBody>
          <a:bodyPr wrap="square" lIns="0" tIns="0" rIns="0" bIns="0" rtlCol="0" anchor="ctr"/>
          <a:lstStyle/>
          <a:p>
            <a:pPr algn="ctr" indent="0" marL="0">
              <a:buNone/>
            </a:pPr>
            <a:r>
              <a:rPr lang="en-US" sz="1400" b="1" dirty="0">
                <a:solidFill>
                  <a:schemeClr val="tx1"/>
                </a:solidFill>
              </a:rPr>
              <a:t>Virtual</a:t>
            </a:r>
            <a:endParaRPr lang="en-US" sz="1400" dirty="0"/>
          </a:p>
        </p:txBody>
      </p:sp>
      <p:sp>
        <p:nvSpPr>
          <p:cNvPr id="15" name="Digital shadow up"/>
          <p:cNvSpPr/>
          <p:nvPr/>
        </p:nvSpPr>
        <p:spPr>
          <a:xfrm>
            <a:off x="5669280" y="2450592"/>
            <a:ext cx="731520" cy="0"/>
          </a:xfrm>
          <a:prstGeom prst="line">
            <a:avLst/>
          </a:prstGeom>
          <a:noFill/>
          <a:ln w="31750">
            <a:solidFill>
              <a:srgbClr val="E8701A"/>
            </a:solidFill>
            <a:prstDash val="solid"/>
            <a:tailEnd type="triangle"/>
          </a:ln>
        </p:spPr>
      </p:sp>
      <p:sp>
        <p:nvSpPr>
          <p:cNvPr id="16" name="Digital shadow down"/>
          <p:cNvSpPr/>
          <p:nvPr/>
        </p:nvSpPr>
        <p:spPr>
          <a:xfrm>
            <a:off x="5669280" y="2679192"/>
            <a:ext cx="731520" cy="0"/>
          </a:xfrm>
          <a:prstGeom prst="line">
            <a:avLst/>
          </a:prstGeom>
          <a:noFill/>
          <a:ln w="31750">
            <a:solidFill>
              <a:srgbClr val="6B7580"/>
            </a:solidFill>
            <a:prstDash val="dash"/>
            <a:headEnd type="triangle"/>
          </a:ln>
        </p:spPr>
      </p:sp>
      <p:sp>
        <p:nvSpPr>
          <p:cNvPr id="17" name="Text 15"/>
          <p:cNvSpPr txBox="1"/>
          <p:nvPr/>
        </p:nvSpPr>
        <p:spPr>
          <a:xfrm>
            <a:off x="4572000" y="3063240"/>
            <a:ext cx="2926080" cy="822960"/>
          </a:xfrm>
          <a:prstGeom prst="rect">
            <a:avLst/>
          </a:prstGeom>
          <a:noFill/>
          <a:ln/>
        </p:spPr>
        <p:txBody>
          <a:bodyPr wrap="square" lIns="0" tIns="0" rIns="0" bIns="0" rtlCol="0" anchor="t"/>
          <a:lstStyle/>
          <a:p>
            <a:pPr indent="0" marL="0">
              <a:buNone/>
            </a:pPr>
            <a:r>
              <a:rPr lang="en-US" sz="1500" dirty="0">
                <a:solidFill>
                  <a:schemeClr val="accent5"/>
                </a:solidFill>
              </a:rPr>
              <a:t>Updated automatically from the physical object</a:t>
            </a:r>
            <a:endParaRPr lang="en-US" sz="1500" dirty="0"/>
          </a:p>
        </p:txBody>
      </p:sp>
      <p:sp>
        <p:nvSpPr>
          <p:cNvPr id="18" name="Text 16"/>
          <p:cNvSpPr txBox="1"/>
          <p:nvPr/>
        </p:nvSpPr>
        <p:spPr>
          <a:xfrm>
            <a:off x="4572000" y="4251960"/>
            <a:ext cx="2926080" cy="274320"/>
          </a:xfrm>
          <a:prstGeom prst="rect">
            <a:avLst/>
          </a:prstGeom>
          <a:noFill/>
          <a:ln/>
        </p:spPr>
        <p:txBody>
          <a:bodyPr wrap="square" lIns="0" tIns="0" rIns="0" bIns="0" rtlCol="0" anchor="t"/>
          <a:lstStyle/>
          <a:p>
            <a:pPr indent="0" marL="0">
              <a:buNone/>
            </a:pPr>
            <a:r>
              <a:rPr lang="en-US" sz="1100" i="1" dirty="0">
                <a:solidFill>
                  <a:schemeClr val="accent5"/>
                </a:solidFill>
              </a:rPr>
              <a:t>solid = automatic, dashed = manual</a:t>
            </a:r>
            <a:endParaRPr lang="en-US" sz="1100" dirty="0"/>
          </a:p>
        </p:txBody>
      </p:sp>
      <p:sp>
        <p:nvSpPr>
          <p:cNvPr id="19" name="Digital twin card"/>
          <p:cNvSpPr/>
          <p:nvPr/>
        </p:nvSpPr>
        <p:spPr>
          <a:xfrm>
            <a:off x="8046720" y="1508760"/>
            <a:ext cx="3474720" cy="3246120"/>
          </a:xfrm>
          <a:prstGeom prst="roundRect">
            <a:avLst>
              <a:gd name="adj" fmla="val 3380"/>
            </a:avLst>
          </a:prstGeom>
          <a:solidFill>
            <a:schemeClr val="tx2"/>
          </a:solidFill>
          <a:ln w="12700">
            <a:solidFill>
              <a:schemeClr val="tx2"/>
            </a:solidFill>
            <a:prstDash val="solid"/>
          </a:ln>
        </p:spPr>
      </p:sp>
      <p:sp>
        <p:nvSpPr>
          <p:cNvPr id="20" name="Text 18"/>
          <p:cNvSpPr txBox="1"/>
          <p:nvPr/>
        </p:nvSpPr>
        <p:spPr>
          <a:xfrm>
            <a:off x="8321040" y="1691640"/>
            <a:ext cx="2926080" cy="411480"/>
          </a:xfrm>
          <a:prstGeom prst="rect">
            <a:avLst/>
          </a:prstGeom>
          <a:noFill/>
          <a:ln/>
        </p:spPr>
        <p:txBody>
          <a:bodyPr wrap="square" lIns="0" tIns="0" rIns="0" bIns="0" rtlCol="0" anchor="t"/>
          <a:lstStyle/>
          <a:p>
            <a:pPr indent="0" marL="0">
              <a:buNone/>
            </a:pPr>
            <a:r>
              <a:rPr lang="en-US" sz="2000" b="1" dirty="0">
                <a:solidFill>
                  <a:schemeClr val="bg1"/>
                </a:solidFill>
              </a:rPr>
              <a:t>Digital twin</a:t>
            </a:r>
            <a:endParaRPr lang="en-US" sz="2000" dirty="0"/>
          </a:p>
        </p:txBody>
      </p:sp>
      <p:sp>
        <p:nvSpPr>
          <p:cNvPr id="21" name="Text 19"/>
          <p:cNvSpPr txBox="1"/>
          <p:nvPr/>
        </p:nvSpPr>
        <p:spPr>
          <a:xfrm>
            <a:off x="8321040" y="2377440"/>
            <a:ext cx="1097280" cy="365760"/>
          </a:xfrm>
          <a:prstGeom prst="rect">
            <a:avLst/>
          </a:prstGeom>
          <a:noFill/>
          <a:ln/>
        </p:spPr>
        <p:txBody>
          <a:bodyPr wrap="square" lIns="0" tIns="0" rIns="0" bIns="0" rtlCol="0" anchor="ctr"/>
          <a:lstStyle/>
          <a:p>
            <a:pPr algn="ctr" indent="0" marL="0">
              <a:buNone/>
            </a:pPr>
            <a:r>
              <a:rPr lang="en-US" sz="1400" b="1" dirty="0">
                <a:solidFill>
                  <a:schemeClr val="bg1"/>
                </a:solidFill>
              </a:rPr>
              <a:t>Physical</a:t>
            </a:r>
            <a:endParaRPr lang="en-US" sz="1400" dirty="0"/>
          </a:p>
        </p:txBody>
      </p:sp>
      <p:sp>
        <p:nvSpPr>
          <p:cNvPr id="22" name="Text 20"/>
          <p:cNvSpPr txBox="1"/>
          <p:nvPr/>
        </p:nvSpPr>
        <p:spPr>
          <a:xfrm>
            <a:off x="10149840" y="2377440"/>
            <a:ext cx="1097280" cy="365760"/>
          </a:xfrm>
          <a:prstGeom prst="rect">
            <a:avLst/>
          </a:prstGeom>
          <a:noFill/>
          <a:ln/>
        </p:spPr>
        <p:txBody>
          <a:bodyPr wrap="square" lIns="0" tIns="0" rIns="0" bIns="0" rtlCol="0" anchor="ctr"/>
          <a:lstStyle/>
          <a:p>
            <a:pPr algn="ctr" indent="0" marL="0">
              <a:buNone/>
            </a:pPr>
            <a:r>
              <a:rPr lang="en-US" sz="1400" b="1" dirty="0">
                <a:solidFill>
                  <a:schemeClr val="bg1"/>
                </a:solidFill>
              </a:rPr>
              <a:t>Virtual</a:t>
            </a:r>
            <a:endParaRPr lang="en-US" sz="1400" dirty="0"/>
          </a:p>
        </p:txBody>
      </p:sp>
      <p:sp>
        <p:nvSpPr>
          <p:cNvPr id="23" name="Digital twin up"/>
          <p:cNvSpPr/>
          <p:nvPr/>
        </p:nvSpPr>
        <p:spPr>
          <a:xfrm>
            <a:off x="9418320" y="2450592"/>
            <a:ext cx="731520" cy="0"/>
          </a:xfrm>
          <a:prstGeom prst="line">
            <a:avLst/>
          </a:prstGeom>
          <a:noFill/>
          <a:ln w="31750">
            <a:solidFill>
              <a:srgbClr val="D9A400"/>
            </a:solidFill>
            <a:prstDash val="solid"/>
            <a:tailEnd type="triangle"/>
          </a:ln>
        </p:spPr>
      </p:sp>
      <p:sp>
        <p:nvSpPr>
          <p:cNvPr id="24" name="Digital twin down"/>
          <p:cNvSpPr/>
          <p:nvPr/>
        </p:nvSpPr>
        <p:spPr>
          <a:xfrm>
            <a:off x="9418320" y="2679192"/>
            <a:ext cx="731520" cy="0"/>
          </a:xfrm>
          <a:prstGeom prst="line">
            <a:avLst/>
          </a:prstGeom>
          <a:noFill/>
          <a:ln w="31750">
            <a:solidFill>
              <a:srgbClr val="D9A400"/>
            </a:solidFill>
            <a:prstDash val="solid"/>
            <a:headEnd type="triangle"/>
          </a:ln>
        </p:spPr>
      </p:sp>
      <p:sp>
        <p:nvSpPr>
          <p:cNvPr id="25" name="Text 23"/>
          <p:cNvSpPr txBox="1"/>
          <p:nvPr/>
        </p:nvSpPr>
        <p:spPr>
          <a:xfrm>
            <a:off x="8321040" y="3063240"/>
            <a:ext cx="2926080" cy="822960"/>
          </a:xfrm>
          <a:prstGeom prst="rect">
            <a:avLst/>
          </a:prstGeom>
          <a:noFill/>
          <a:ln/>
        </p:spPr>
        <p:txBody>
          <a:bodyPr wrap="square" lIns="0" tIns="0" rIns="0" bIns="0" rtlCol="0" anchor="t"/>
          <a:lstStyle/>
          <a:p>
            <a:pPr indent="0" marL="0">
              <a:buNone/>
            </a:pPr>
            <a:r>
              <a:rPr lang="en-US" sz="1500" dirty="0">
                <a:solidFill>
                  <a:schemeClr val="bg2"/>
                </a:solidFill>
              </a:rPr>
              <a:t>Automatic exchange in both directions</a:t>
            </a:r>
            <a:endParaRPr lang="en-US" sz="1500" dirty="0"/>
          </a:p>
        </p:txBody>
      </p:sp>
      <p:sp>
        <p:nvSpPr>
          <p:cNvPr id="26" name="Text 24"/>
          <p:cNvSpPr txBox="1"/>
          <p:nvPr/>
        </p:nvSpPr>
        <p:spPr>
          <a:xfrm>
            <a:off x="8321040" y="4251960"/>
            <a:ext cx="2926080" cy="274320"/>
          </a:xfrm>
          <a:prstGeom prst="rect">
            <a:avLst/>
          </a:prstGeom>
          <a:noFill/>
          <a:ln/>
        </p:spPr>
        <p:txBody>
          <a:bodyPr wrap="square" lIns="0" tIns="0" rIns="0" bIns="0" rtlCol="0" anchor="t"/>
          <a:lstStyle/>
          <a:p>
            <a:pPr indent="0" marL="0">
              <a:buNone/>
            </a:pPr>
            <a:r>
              <a:rPr lang="en-US" sz="1100" i="1" dirty="0">
                <a:solidFill>
                  <a:schemeClr val="bg2"/>
                </a:solidFill>
              </a:rPr>
              <a:t>solid = automatic, dashed = manual</a:t>
            </a:r>
            <a:endParaRPr lang="en-US" sz="1100" dirty="0"/>
          </a:p>
        </p:txBody>
      </p:sp>
      <p:sp>
        <p:nvSpPr>
          <p:cNvPr id="27" name="trackseed twin"/>
          <p:cNvSpPr/>
          <p:nvPr/>
        </p:nvSpPr>
        <p:spPr>
          <a:xfrm>
            <a:off x="548640" y="4983480"/>
            <a:ext cx="11064240" cy="868680"/>
          </a:xfrm>
          <a:prstGeom prst="roundRect">
            <a:avLst>
              <a:gd name="adj" fmla="val 12632"/>
            </a:avLst>
          </a:prstGeom>
          <a:solidFill>
            <a:schemeClr val="bg2"/>
          </a:solidFill>
          <a:ln w="12700">
            <a:solidFill>
              <a:schemeClr val="bg2"/>
            </a:solidFill>
            <a:prstDash val="solid"/>
          </a:ln>
        </p:spPr>
      </p:sp>
      <p:sp>
        <p:nvSpPr>
          <p:cNvPr id="28" name="Text 26"/>
          <p:cNvSpPr txBox="1"/>
          <p:nvPr/>
        </p:nvSpPr>
        <p:spPr>
          <a:xfrm>
            <a:off x="822960" y="5029200"/>
            <a:ext cx="10515600" cy="777240"/>
          </a:xfrm>
          <a:prstGeom prst="rect">
            <a:avLst/>
          </a:prstGeom>
          <a:noFill/>
          <a:ln/>
        </p:spPr>
        <p:txBody>
          <a:bodyPr wrap="square" lIns="0" tIns="0" rIns="0" bIns="0" rtlCol="0" anchor="ctr"/>
          <a:lstStyle/>
          <a:p>
            <a:pPr indent="0" marL="0">
              <a:buNone/>
            </a:pPr>
            <a:r>
              <a:rPr lang="en-US" sz="1600" b="1" dirty="0">
                <a:solidFill>
                  <a:schemeClr val="tx1"/>
                </a:solidFill>
              </a:rPr>
              <a:t>TrackSeed: </a:t>
            </a:r>
            <a:pPr indent="0" marL="0">
              <a:buNone/>
            </a:pPr>
            <a:r>
              <a:rPr lang="en-US" sz="1600" dirty="0">
                <a:solidFill>
                  <a:schemeClr val="tx1"/>
                </a:solidFill>
              </a:rPr>
              <a:t>confirmed cones go to the dashboard, and dashboard edits (move, add, remove) change the guidance on the phone. Without the second direction it would only be a shadow.</a:t>
            </a:r>
            <a:endParaRPr lang="en-US" sz="1600" dirty="0"/>
          </a:p>
        </p:txBody>
      </p:sp>
      <p:sp>
        <p:nvSpPr>
          <p:cNvPr id="29" name="Text 27"/>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Sources: Kritzinger et al., 2018; Grieves and Vickers, 2017; Tao et al., 2019</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Sync over WebSocket, inference on the phone</a:t>
            </a:r>
            <a:endParaRPr lang="en-US" sz="3600" dirty="0"/>
          </a:p>
        </p:txBody>
      </p:sp>
      <p:sp>
        <p:nvSpPr>
          <p:cNvPr id="3" name="sync circle"/>
          <p:cNvSpPr/>
          <p:nvPr/>
        </p:nvSpPr>
        <p:spPr>
          <a:xfrm>
            <a:off x="548640" y="1463040"/>
            <a:ext cx="640080" cy="640080"/>
          </a:xfrm>
          <a:prstGeom prst="ellipse">
            <a:avLst/>
          </a:prstGeom>
          <a:solidFill>
            <a:schemeClr val="accent1"/>
          </a:solidFill>
          <a:ln w="12700">
            <a:solidFill>
              <a:schemeClr val="accent1"/>
            </a:solidFill>
            <a:prstDash val="solid"/>
          </a:ln>
        </p:spPr>
      </p:sp>
      <p:pic>
        <p:nvPicPr>
          <p:cNvPr id="4" name="sync icon" descr="sync">    </p:cNvPr>
          <p:cNvPicPr>
            <a:picLocks noChangeAspect="1"/>
          </p:cNvPicPr>
          <p:nvPr/>
        </p:nvPicPr>
        <p:blipFill>
          <a:blip r:embed="rId1"/>
          <a:stretch>
            <a:fillRect/>
          </a:stretch>
        </p:blipFill>
        <p:spPr>
          <a:xfrm>
            <a:off x="721462" y="1635862"/>
            <a:ext cx="294437" cy="294437"/>
          </a:xfrm>
          <a:prstGeom prst="rect">
            <a:avLst/>
          </a:prstGeom>
        </p:spPr>
      </p:pic>
      <p:sp>
        <p:nvSpPr>
          <p:cNvPr id="5" name="Text 2"/>
          <p:cNvSpPr txBox="1"/>
          <p:nvPr/>
        </p:nvSpPr>
        <p:spPr>
          <a:xfrm>
            <a:off x="1371600" y="1572768"/>
            <a:ext cx="4389120" cy="411480"/>
          </a:xfrm>
          <a:prstGeom prst="rect">
            <a:avLst/>
          </a:prstGeom>
          <a:noFill/>
          <a:ln/>
        </p:spPr>
        <p:txBody>
          <a:bodyPr wrap="square" lIns="0" tIns="0" rIns="0" bIns="0" rtlCol="0" anchor="t"/>
          <a:lstStyle/>
          <a:p>
            <a:pPr indent="0" marL="0">
              <a:buNone/>
            </a:pPr>
            <a:r>
              <a:rPr lang="en-US" sz="2000" b="1" dirty="0">
                <a:solidFill>
                  <a:schemeClr val="tx1"/>
                </a:solidFill>
              </a:rPr>
              <a:t>Phone ↔ cloud ↔ dashboard</a:t>
            </a:r>
            <a:endParaRPr lang="en-US" sz="2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5394960" cy="914400"/>
        </p:xfrm>
        <a:graphic>
          <a:graphicData uri="http://schemas.openxmlformats.org/drawingml/2006/table">
            <a:tbl>
              <a:tblPr/>
              <a:tblGrid>
                <a:gridCol w="1920240"/>
                <a:gridCol w="1554480"/>
                <a:gridCol w="1920240"/>
              </a:tblGrid>
              <a:tr h="45720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rgbClr val="1E2226"/>
                          </a:solidFill>
                          <a:latin typeface="Calibri" pitchFamily="34" charset="0"/>
                          <a:ea typeface="Calibri" pitchFamily="34" charset="-122"/>
                          <a:cs typeface="Calibri" pitchFamily="34" charset="-120"/>
                        </a:rPr>
                        <a:t>WebSocket</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b="1" dirty="0">
                          <a:solidFill>
                            <a:srgbClr val="1E2226"/>
                          </a:solidFill>
                          <a:latin typeface="Calibri" pitchFamily="34" charset="0"/>
                          <a:ea typeface="Calibri" pitchFamily="34" charset="-122"/>
                          <a:cs typeface="Calibri" pitchFamily="34" charset="-120"/>
                        </a:rPr>
                        <a:t>MQTT</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r>
              <a:tr h="457200">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Latency</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Lower</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Slightly higher</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r>
              <a:tr h="457200">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Throughput, resources</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Lower</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Higher, fewer resources</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r>
              <a:tr h="457200">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Browser client</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Native</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c>
                  <a:txBody>
                    <a:bodyPr/>
                    <a:lstStyle/>
                    <a:p>
                      <a:pPr indent="0" marL="0">
                        <a:buNone/>
                      </a:pPr>
                      <a:r>
                        <a:rPr lang="en-US" sz="1400" dirty="0">
                          <a:solidFill>
                            <a:srgbClr val="1E2226"/>
                          </a:solidFill>
                          <a:latin typeface="Calibri" pitchFamily="34" charset="0"/>
                          <a:ea typeface="Calibri" pitchFamily="34" charset="-122"/>
                          <a:cs typeface="Calibri" pitchFamily="34" charset="-120"/>
                        </a:rPr>
                        <a:t>Needs a broker</a:t>
                      </a:r>
                      <a:endParaRPr lang="en-US" sz="1400" dirty="0">
                        <a:latin typeface="Calibri" charset="0"/>
                        <a:ea typeface="Calibri" charset="0"/>
                        <a:cs typeface="Calibri" charset="0"/>
                      </a:endParaRPr>
                    </a:p>
                  </a:txBody>
                  <a:tcPr marL="91440" marR="91440" marT="45720" marB="4572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1F3F5"/>
                    </a:solidFill>
                  </a:tcPr>
                </a:tc>
              </a:tr>
            </a:tbl>
          </a:graphicData>
        </a:graphic>
      </p:graphicFrame>
      <p:sp>
        <p:nvSpPr>
          <p:cNvPr id="7" name="Text 3"/>
          <p:cNvSpPr txBox="1"/>
          <p:nvPr/>
        </p:nvSpPr>
        <p:spPr>
          <a:xfrm>
            <a:off x="548640" y="4434840"/>
            <a:ext cx="5394960" cy="914400"/>
          </a:xfrm>
          <a:prstGeom prst="rect">
            <a:avLst/>
          </a:prstGeom>
          <a:noFill/>
          <a:ln/>
        </p:spPr>
        <p:txBody>
          <a:bodyPr wrap="square" lIns="0" tIns="0" rIns="0" bIns="0" rtlCol="0" anchor="t"/>
          <a:lstStyle/>
          <a:p>
            <a:pPr indent="0" marL="0">
              <a:buNone/>
            </a:pPr>
            <a:r>
              <a:rPr lang="en-US" sz="1500" b="1" dirty="0">
                <a:solidFill>
                  <a:schemeClr val="tx1"/>
                </a:solidFill>
              </a:rPr>
              <a:t>Decision: </a:t>
            </a:r>
            <a:pPr indent="0" marL="0">
              <a:buNone/>
            </a:pPr>
            <a:r>
              <a:rPr lang="en-US" sz="1500" dirty="0">
                <a:solidFill>
                  <a:schemeClr val="tx1"/>
                </a:solidFill>
              </a:rPr>
              <a:t>WebSocket for live updates, REST for files, offline queue on the phone. One small message per cone.</a:t>
            </a:r>
            <a:endParaRPr lang="en-US" sz="1500" dirty="0"/>
          </a:p>
        </p:txBody>
      </p:sp>
      <p:sp>
        <p:nvSpPr>
          <p:cNvPr id="8" name="edge circle"/>
          <p:cNvSpPr/>
          <p:nvPr/>
        </p:nvSpPr>
        <p:spPr>
          <a:xfrm>
            <a:off x="6309360" y="1463040"/>
            <a:ext cx="640080" cy="640080"/>
          </a:xfrm>
          <a:prstGeom prst="ellipse">
            <a:avLst/>
          </a:prstGeom>
          <a:solidFill>
            <a:schemeClr val="accent4"/>
          </a:solidFill>
          <a:ln w="12700">
            <a:solidFill>
              <a:schemeClr val="accent4"/>
            </a:solidFill>
            <a:prstDash val="solid"/>
          </a:ln>
        </p:spPr>
      </p:sp>
      <p:pic>
        <p:nvPicPr>
          <p:cNvPr id="9" name="edge icon" descr="edge">    </p:cNvPr>
          <p:cNvPicPr>
            <a:picLocks noChangeAspect="1"/>
          </p:cNvPicPr>
          <p:nvPr/>
        </p:nvPicPr>
        <p:blipFill>
          <a:blip r:embed="rId2"/>
          <a:stretch>
            <a:fillRect/>
          </a:stretch>
        </p:blipFill>
        <p:spPr>
          <a:xfrm>
            <a:off x="6482182" y="1635862"/>
            <a:ext cx="294437" cy="294437"/>
          </a:xfrm>
          <a:prstGeom prst="rect">
            <a:avLst/>
          </a:prstGeom>
        </p:spPr>
      </p:pic>
      <p:sp>
        <p:nvSpPr>
          <p:cNvPr id="10" name="Text 5"/>
          <p:cNvSpPr txBox="1"/>
          <p:nvPr/>
        </p:nvSpPr>
        <p:spPr>
          <a:xfrm>
            <a:off x="7132320" y="1572768"/>
            <a:ext cx="4480560" cy="411480"/>
          </a:xfrm>
          <a:prstGeom prst="rect">
            <a:avLst/>
          </a:prstGeom>
          <a:noFill/>
          <a:ln/>
        </p:spPr>
        <p:txBody>
          <a:bodyPr wrap="square" lIns="0" tIns="0" rIns="0" bIns="0" rtlCol="0" anchor="t"/>
          <a:lstStyle/>
          <a:p>
            <a:pPr indent="0" marL="0">
              <a:buNone/>
            </a:pPr>
            <a:r>
              <a:rPr lang="en-US" sz="2000" b="1" dirty="0">
                <a:solidFill>
                  <a:schemeClr val="tx1"/>
                </a:solidFill>
              </a:rPr>
              <a:t>Edge vs cloud inference</a:t>
            </a:r>
            <a:endParaRPr lang="en-US" sz="2000" dirty="0"/>
          </a:p>
        </p:txBody>
      </p:sp>
      <p:sp>
        <p:nvSpPr>
          <p:cNvPr id="11" name="Text 6"/>
          <p:cNvSpPr txBox="1"/>
          <p:nvPr/>
        </p:nvSpPr>
        <p:spPr>
          <a:xfrm>
            <a:off x="6309360" y="2331720"/>
            <a:ext cx="5303520" cy="594360"/>
          </a:xfrm>
          <a:prstGeom prst="rect">
            <a:avLst/>
          </a:prstGeom>
          <a:noFill/>
          <a:ln/>
        </p:spPr>
        <p:txBody>
          <a:bodyPr wrap="square" lIns="0" tIns="0" rIns="0" bIns="0" rtlCol="0" anchor="t"/>
          <a:lstStyle/>
          <a:p>
            <a:pPr indent="0" marL="0">
              <a:buNone/>
            </a:pPr>
            <a:r>
              <a:rPr lang="en-US" sz="1500" b="1" dirty="0">
                <a:solidFill>
                  <a:schemeClr val="tx1"/>
                </a:solidFill>
              </a:rPr>
              <a:t>Cloud: </a:t>
            </a:r>
            <a:pPr indent="0" marL="0">
              <a:buNone/>
            </a:pPr>
            <a:r>
              <a:rPr lang="en-US" sz="1500" dirty="0">
                <a:solidFill>
                  <a:schemeClr val="tx1"/>
                </a:solidFill>
              </a:rPr>
              <a:t>More compute, but adds latency, uplink cost and privacy risk</a:t>
            </a:r>
            <a:endParaRPr lang="en-US" sz="1500" dirty="0"/>
          </a:p>
        </p:txBody>
      </p:sp>
      <p:sp>
        <p:nvSpPr>
          <p:cNvPr id="12" name="Text 7"/>
          <p:cNvSpPr txBox="1"/>
          <p:nvPr/>
        </p:nvSpPr>
        <p:spPr>
          <a:xfrm>
            <a:off x="6309360" y="3017520"/>
            <a:ext cx="5303520" cy="594360"/>
          </a:xfrm>
          <a:prstGeom prst="rect">
            <a:avLst/>
          </a:prstGeom>
          <a:noFill/>
          <a:ln/>
        </p:spPr>
        <p:txBody>
          <a:bodyPr wrap="square" lIns="0" tIns="0" rIns="0" bIns="0" rtlCol="0" anchor="t"/>
          <a:lstStyle/>
          <a:p>
            <a:pPr indent="0" marL="0">
              <a:buNone/>
            </a:pPr>
            <a:r>
              <a:rPr lang="en-US" sz="1500" b="1" dirty="0">
                <a:solidFill>
                  <a:schemeClr val="tx1"/>
                </a:solidFill>
              </a:rPr>
              <a:t>On the phone: </a:t>
            </a:r>
            <a:pPr indent="0" marL="0">
              <a:buNone/>
            </a:pPr>
            <a:r>
              <a:rPr lang="en-US" sz="1500" dirty="0">
                <a:solidFill>
                  <a:schemeClr val="tx1"/>
                </a:solidFill>
              </a:rPr>
              <a:t>No network needed; mobile NPUs approach desktop GPUs</a:t>
            </a:r>
            <a:endParaRPr lang="en-US" sz="1500" dirty="0"/>
          </a:p>
        </p:txBody>
      </p:sp>
      <p:sp>
        <p:nvSpPr>
          <p:cNvPr id="13" name="Text 8"/>
          <p:cNvSpPr txBox="1"/>
          <p:nvPr/>
        </p:nvSpPr>
        <p:spPr>
          <a:xfrm>
            <a:off x="6309360" y="3703320"/>
            <a:ext cx="5303520" cy="594360"/>
          </a:xfrm>
          <a:prstGeom prst="rect">
            <a:avLst/>
          </a:prstGeom>
          <a:noFill/>
          <a:ln/>
        </p:spPr>
        <p:txBody>
          <a:bodyPr wrap="square" lIns="0" tIns="0" rIns="0" bIns="0" rtlCol="0" anchor="t"/>
          <a:lstStyle/>
          <a:p>
            <a:pPr indent="0" marL="0">
              <a:buNone/>
            </a:pPr>
            <a:r>
              <a:rPr lang="en-US" sz="1500" b="1" dirty="0">
                <a:solidFill>
                  <a:schemeClr val="tx1"/>
                </a:solidFill>
              </a:rPr>
              <a:t>Test fields: </a:t>
            </a:r>
            <a:pPr indent="0" marL="0">
              <a:buNone/>
            </a:pPr>
            <a:r>
              <a:rPr lang="en-US" sz="1500" dirty="0">
                <a:solidFill>
                  <a:schemeClr val="tx1"/>
                </a:solidFill>
              </a:rPr>
              <a:t>Mobile coverage is often weak</a:t>
            </a:r>
            <a:endParaRPr lang="en-US" sz="1500" dirty="0"/>
          </a:p>
        </p:txBody>
      </p:sp>
      <p:sp>
        <p:nvSpPr>
          <p:cNvPr id="14" name="Text 9"/>
          <p:cNvSpPr txBox="1"/>
          <p:nvPr/>
        </p:nvSpPr>
        <p:spPr>
          <a:xfrm>
            <a:off x="6309360" y="4434840"/>
            <a:ext cx="5303520" cy="914400"/>
          </a:xfrm>
          <a:prstGeom prst="rect">
            <a:avLst/>
          </a:prstGeom>
          <a:noFill/>
          <a:ln/>
        </p:spPr>
        <p:txBody>
          <a:bodyPr wrap="square" lIns="0" tIns="0" rIns="0" bIns="0" rtlCol="0" anchor="t"/>
          <a:lstStyle/>
          <a:p>
            <a:pPr indent="0" marL="0">
              <a:buNone/>
            </a:pPr>
            <a:r>
              <a:rPr lang="en-US" sz="1500" b="1" dirty="0">
                <a:solidFill>
                  <a:schemeClr val="tx1"/>
                </a:solidFill>
              </a:rPr>
              <a:t>Decision: </a:t>
            </a:r>
            <a:pPr indent="0" marL="0">
              <a:buNone/>
            </a:pPr>
            <a:r>
              <a:rPr lang="en-US" sz="1500" dirty="0">
                <a:solidFill>
                  <a:schemeClr val="tx1"/>
                </a:solidFill>
              </a:rPr>
              <a:t>both vision models run on the phone with LiteRT; the cloud retrains and pushes new versions. FSOCO cone data as a starting point.</a:t>
            </a:r>
            <a:endParaRPr lang="en-US" sz="1500" dirty="0"/>
          </a:p>
        </p:txBody>
      </p:sp>
      <p:sp>
        <p:nvSpPr>
          <p:cNvPr id="15" name="Text 1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Sources: Ajayi et al., 2023; Chen and Ran, 2019; Ignatov et al., 2019; Vödisch et al., 2022</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Main vision task: which car is running?</a:t>
            </a:r>
            <a:endParaRPr lang="en-US" sz="3600" dirty="0"/>
          </a:p>
        </p:txBody>
      </p:sp>
      <p:sp>
        <p:nvSpPr>
          <p:cNvPr id="3" name="why card"/>
          <p:cNvSpPr/>
          <p:nvPr/>
        </p:nvSpPr>
        <p:spPr>
          <a:xfrm>
            <a:off x="548640" y="1463040"/>
            <a:ext cx="4754880" cy="4343400"/>
          </a:xfrm>
          <a:prstGeom prst="roundRect">
            <a:avLst>
              <a:gd name="adj" fmla="val 2526"/>
            </a:avLst>
          </a:prstGeom>
          <a:solidFill>
            <a:schemeClr val="bg2"/>
          </a:solidFill>
          <a:ln w="12700">
            <a:solidFill>
              <a:schemeClr val="bg2"/>
            </a:solidFill>
            <a:prstDash val="solid"/>
          </a:ln>
        </p:spPr>
      </p:sp>
      <p:sp>
        <p:nvSpPr>
          <p:cNvPr id="4" name="car circle"/>
          <p:cNvSpPr/>
          <p:nvPr/>
        </p:nvSpPr>
        <p:spPr>
          <a:xfrm>
            <a:off x="822960" y="1691640"/>
            <a:ext cx="685800" cy="685800"/>
          </a:xfrm>
          <a:prstGeom prst="ellipse">
            <a:avLst/>
          </a:prstGeom>
          <a:solidFill>
            <a:schemeClr val="accent3"/>
          </a:solidFill>
          <a:ln w="12700">
            <a:solidFill>
              <a:schemeClr val="accent3"/>
            </a:solidFill>
            <a:prstDash val="solid"/>
          </a:ln>
        </p:spPr>
      </p:sp>
      <p:pic>
        <p:nvPicPr>
          <p:cNvPr id="5" name="car icon" descr="car">    </p:cNvPr>
          <p:cNvPicPr>
            <a:picLocks noChangeAspect="1"/>
          </p:cNvPicPr>
          <p:nvPr/>
        </p:nvPicPr>
        <p:blipFill>
          <a:blip r:embed="rId1"/>
          <a:stretch>
            <a:fillRect/>
          </a:stretch>
        </p:blipFill>
        <p:spPr>
          <a:xfrm>
            <a:off x="1008126" y="1876806"/>
            <a:ext cx="315468" cy="315468"/>
          </a:xfrm>
          <a:prstGeom prst="rect">
            <a:avLst/>
          </a:prstGeom>
        </p:spPr>
      </p:pic>
      <p:sp>
        <p:nvSpPr>
          <p:cNvPr id="6" name="Text 3"/>
          <p:cNvSpPr txBox="1"/>
          <p:nvPr/>
        </p:nvSpPr>
        <p:spPr>
          <a:xfrm>
            <a:off x="1691640" y="1828800"/>
            <a:ext cx="3474720" cy="411480"/>
          </a:xfrm>
          <a:prstGeom prst="rect">
            <a:avLst/>
          </a:prstGeom>
          <a:noFill/>
          <a:ln/>
        </p:spPr>
        <p:txBody>
          <a:bodyPr wrap="square" lIns="0" tIns="0" rIns="0" bIns="0" rtlCol="0" anchor="t"/>
          <a:lstStyle/>
          <a:p>
            <a:pPr indent="0" marL="0">
              <a:buNone/>
            </a:pPr>
            <a:r>
              <a:rPr lang="en-US" sz="2000" b="1" dirty="0">
                <a:solidFill>
                  <a:schemeClr val="tx1"/>
                </a:solidFill>
              </a:rPr>
              <a:t>Why it is hard</a:t>
            </a:r>
            <a:endParaRPr lang="en-US" sz="2000" dirty="0"/>
          </a:p>
        </p:txBody>
      </p:sp>
      <p:sp>
        <p:nvSpPr>
          <p:cNvPr id="7" name="Text 4"/>
          <p:cNvSpPr txBox="1"/>
          <p:nvPr/>
        </p:nvSpPr>
        <p:spPr>
          <a:xfrm>
            <a:off x="822960" y="2697480"/>
            <a:ext cx="4206240" cy="292608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Fine-grained: the classes differ only in details</a:t>
            </a:r>
            <a:endParaRPr lang="en-US" sz="1700" dirty="0"/>
          </a:p>
          <a:p>
            <a:pPr marL="342900" indent="-342900">
              <a:spcAft>
                <a:spcPts val="1600"/>
              </a:spcAft>
              <a:buSzPct val="100000"/>
              <a:buChar char="•"/>
            </a:pPr>
            <a:r>
              <a:rPr lang="en-US" sz="1700" dirty="0">
                <a:solidFill>
                  <a:schemeClr val="tx1"/>
                </a:solidFill>
              </a:rPr>
              <a:t>Cars from the same team often look alike</a:t>
            </a:r>
            <a:endParaRPr lang="en-US" sz="1700" dirty="0"/>
          </a:p>
          <a:p>
            <a:pPr marL="342900" indent="-342900">
              <a:spcAft>
                <a:spcPts val="1600"/>
              </a:spcAft>
              <a:buSzPct val="100000"/>
              <a:buChar char="•"/>
            </a:pPr>
            <a:r>
              <a:rPr lang="en-US" sz="1700" dirty="0">
                <a:solidFill>
                  <a:schemeClr val="tx1"/>
                </a:solidFill>
              </a:rPr>
              <a:t>Accuracy depends on viewpoint (CompCars)</a:t>
            </a:r>
            <a:endParaRPr lang="en-US" sz="1700" dirty="0"/>
          </a:p>
          <a:p>
            <a:pPr marL="342900" indent="-342900">
              <a:spcAft>
                <a:spcPts val="1600"/>
              </a:spcAft>
              <a:buSzPct val="100000"/>
              <a:buChar char="•"/>
            </a:pPr>
            <a:r>
              <a:rPr lang="en-US" sz="1700" dirty="0">
                <a:solidFill>
                  <a:schemeClr val="tx1"/>
                </a:solidFill>
              </a:rPr>
              <a:t>No public dataset has our cars, so we build our own</a:t>
            </a:r>
            <a:endParaRPr lang="en-US" sz="1700" dirty="0"/>
          </a:p>
        </p:txBody>
      </p:sp>
      <p:sp>
        <p:nvSpPr>
          <p:cNvPr id="8" name="Collect circle"/>
          <p:cNvSpPr/>
          <p:nvPr/>
        </p:nvSpPr>
        <p:spPr>
          <a:xfrm>
            <a:off x="5669280" y="1463040"/>
            <a:ext cx="640080" cy="640080"/>
          </a:xfrm>
          <a:prstGeom prst="ellipse">
            <a:avLst/>
          </a:prstGeom>
          <a:solidFill>
            <a:schemeClr val="accent1"/>
          </a:solidFill>
          <a:ln w="12700">
            <a:solidFill>
              <a:schemeClr val="accent1"/>
            </a:solidFill>
            <a:prstDash val="solid"/>
          </a:ln>
        </p:spPr>
      </p:sp>
      <p:pic>
        <p:nvPicPr>
          <p:cNvPr id="9" name="Collect icon" descr="Collect">    </p:cNvPr>
          <p:cNvPicPr>
            <a:picLocks noChangeAspect="1"/>
          </p:cNvPicPr>
          <p:nvPr/>
        </p:nvPicPr>
        <p:blipFill>
          <a:blip r:embed="rId2"/>
          <a:stretch>
            <a:fillRect/>
          </a:stretch>
        </p:blipFill>
        <p:spPr>
          <a:xfrm>
            <a:off x="5842102" y="1635862"/>
            <a:ext cx="294437" cy="294437"/>
          </a:xfrm>
          <a:prstGeom prst="rect">
            <a:avLst/>
          </a:prstGeom>
        </p:spPr>
      </p:pic>
      <p:sp>
        <p:nvSpPr>
          <p:cNvPr id="10" name="Text 6"/>
          <p:cNvSpPr txBox="1"/>
          <p:nvPr/>
        </p:nvSpPr>
        <p:spPr>
          <a:xfrm>
            <a:off x="6492240" y="1435608"/>
            <a:ext cx="5120640" cy="320040"/>
          </a:xfrm>
          <a:prstGeom prst="rect">
            <a:avLst/>
          </a:prstGeom>
          <a:noFill/>
          <a:ln/>
        </p:spPr>
        <p:txBody>
          <a:bodyPr wrap="square" lIns="0" tIns="0" rIns="0" bIns="0" rtlCol="0" anchor="t"/>
          <a:lstStyle/>
          <a:p>
            <a:pPr indent="0" marL="0">
              <a:buNone/>
            </a:pPr>
            <a:r>
              <a:rPr lang="en-US" sz="1700" b="1" dirty="0">
                <a:solidFill>
                  <a:schemeClr val="tx1"/>
                </a:solidFill>
              </a:rPr>
              <a:t>Collect</a:t>
            </a:r>
            <a:endParaRPr lang="en-US" sz="1700" dirty="0"/>
          </a:p>
        </p:txBody>
      </p:sp>
      <p:sp>
        <p:nvSpPr>
          <p:cNvPr id="11" name="Text 7"/>
          <p:cNvSpPr txBox="1"/>
          <p:nvPr/>
        </p:nvSpPr>
        <p:spPr>
          <a:xfrm>
            <a:off x="6492240" y="1755648"/>
            <a:ext cx="5120640" cy="548640"/>
          </a:xfrm>
          <a:prstGeom prst="rect">
            <a:avLst/>
          </a:prstGeom>
          <a:noFill/>
          <a:ln/>
        </p:spPr>
        <p:txBody>
          <a:bodyPr wrap="square" lIns="0" tIns="0" rIns="0" bIns="0" rtlCol="0" anchor="t"/>
          <a:lstStyle/>
          <a:p>
            <a:pPr indent="0" marL="0">
              <a:buNone/>
            </a:pPr>
            <a:r>
              <a:rPr lang="en-US" sz="1400" dirty="0">
                <a:solidFill>
                  <a:schemeClr val="accent5"/>
                </a:solidFill>
              </a:rPr>
              <a:t>Photos and video frames of each car, all viewpoints, several test days, plus an unknown class</a:t>
            </a:r>
            <a:endParaRPr lang="en-US" sz="1400" dirty="0"/>
          </a:p>
        </p:txBody>
      </p:sp>
      <p:sp>
        <p:nvSpPr>
          <p:cNvPr id="12" name="Fine-tune circle"/>
          <p:cNvSpPr/>
          <p:nvPr/>
        </p:nvSpPr>
        <p:spPr>
          <a:xfrm>
            <a:off x="5669280" y="2395728"/>
            <a:ext cx="640080" cy="640080"/>
          </a:xfrm>
          <a:prstGeom prst="ellipse">
            <a:avLst/>
          </a:prstGeom>
          <a:solidFill>
            <a:schemeClr val="accent2"/>
          </a:solidFill>
          <a:ln w="12700">
            <a:solidFill>
              <a:schemeClr val="accent2"/>
            </a:solidFill>
            <a:prstDash val="solid"/>
          </a:ln>
        </p:spPr>
      </p:sp>
      <p:pic>
        <p:nvPicPr>
          <p:cNvPr id="13" name="Fine-tune icon" descr="Fine-tune">    </p:cNvPr>
          <p:cNvPicPr>
            <a:picLocks noChangeAspect="1"/>
          </p:cNvPicPr>
          <p:nvPr/>
        </p:nvPicPr>
        <p:blipFill>
          <a:blip r:embed="rId3"/>
          <a:stretch>
            <a:fillRect/>
          </a:stretch>
        </p:blipFill>
        <p:spPr>
          <a:xfrm>
            <a:off x="5842102" y="2568550"/>
            <a:ext cx="294437" cy="294437"/>
          </a:xfrm>
          <a:prstGeom prst="rect">
            <a:avLst/>
          </a:prstGeom>
        </p:spPr>
      </p:pic>
      <p:sp>
        <p:nvSpPr>
          <p:cNvPr id="14" name="Text 9"/>
          <p:cNvSpPr txBox="1"/>
          <p:nvPr/>
        </p:nvSpPr>
        <p:spPr>
          <a:xfrm>
            <a:off x="6492240" y="2368296"/>
            <a:ext cx="5120640" cy="320040"/>
          </a:xfrm>
          <a:prstGeom prst="rect">
            <a:avLst/>
          </a:prstGeom>
          <a:noFill/>
          <a:ln/>
        </p:spPr>
        <p:txBody>
          <a:bodyPr wrap="square" lIns="0" tIns="0" rIns="0" bIns="0" rtlCol="0" anchor="t"/>
          <a:lstStyle/>
          <a:p>
            <a:pPr indent="0" marL="0">
              <a:buNone/>
            </a:pPr>
            <a:r>
              <a:rPr lang="en-US" sz="1700" b="1" dirty="0">
                <a:solidFill>
                  <a:schemeClr val="tx1"/>
                </a:solidFill>
              </a:rPr>
              <a:t>Fine-tune</a:t>
            </a:r>
            <a:endParaRPr lang="en-US" sz="1700" dirty="0"/>
          </a:p>
        </p:txBody>
      </p:sp>
      <p:sp>
        <p:nvSpPr>
          <p:cNvPr id="15" name="Text 10"/>
          <p:cNvSpPr txBox="1"/>
          <p:nvPr/>
        </p:nvSpPr>
        <p:spPr>
          <a:xfrm>
            <a:off x="6492240" y="2688336"/>
            <a:ext cx="5120640" cy="548640"/>
          </a:xfrm>
          <a:prstGeom prst="rect">
            <a:avLst/>
          </a:prstGeom>
          <a:noFill/>
          <a:ln/>
        </p:spPr>
        <p:txBody>
          <a:bodyPr wrap="square" lIns="0" tIns="0" rIns="0" bIns="0" rtlCol="0" anchor="t"/>
          <a:lstStyle/>
          <a:p>
            <a:pPr indent="0" marL="0">
              <a:buNone/>
            </a:pPr>
            <a:r>
              <a:rPr lang="en-US" sz="1400" dirty="0">
                <a:solidFill>
                  <a:schemeClr val="accent5"/>
                </a:solidFill>
              </a:rPr>
              <a:t>ImageNet-pretrained MobileNetV2-class network (72% top-1, 3.4M parameters)</a:t>
            </a:r>
            <a:endParaRPr lang="en-US" sz="1400" dirty="0"/>
          </a:p>
        </p:txBody>
      </p:sp>
      <p:sp>
        <p:nvSpPr>
          <p:cNvPr id="16" name="Run on the phone circle"/>
          <p:cNvSpPr/>
          <p:nvPr/>
        </p:nvSpPr>
        <p:spPr>
          <a:xfrm>
            <a:off x="5669280" y="3328416"/>
            <a:ext cx="640080" cy="640080"/>
          </a:xfrm>
          <a:prstGeom prst="ellipse">
            <a:avLst/>
          </a:prstGeom>
          <a:solidFill>
            <a:schemeClr val="accent4"/>
          </a:solidFill>
          <a:ln w="12700">
            <a:solidFill>
              <a:schemeClr val="accent4"/>
            </a:solidFill>
            <a:prstDash val="solid"/>
          </a:ln>
        </p:spPr>
      </p:sp>
      <p:pic>
        <p:nvPicPr>
          <p:cNvPr id="17" name="Run on the phone icon" descr="Run on the phone">    </p:cNvPr>
          <p:cNvPicPr>
            <a:picLocks noChangeAspect="1"/>
          </p:cNvPicPr>
          <p:nvPr/>
        </p:nvPicPr>
        <p:blipFill>
          <a:blip r:embed="rId4"/>
          <a:stretch>
            <a:fillRect/>
          </a:stretch>
        </p:blipFill>
        <p:spPr>
          <a:xfrm>
            <a:off x="5842102" y="3501238"/>
            <a:ext cx="294437" cy="294437"/>
          </a:xfrm>
          <a:prstGeom prst="rect">
            <a:avLst/>
          </a:prstGeom>
        </p:spPr>
      </p:pic>
      <p:sp>
        <p:nvSpPr>
          <p:cNvPr id="18" name="Text 12"/>
          <p:cNvSpPr txBox="1"/>
          <p:nvPr/>
        </p:nvSpPr>
        <p:spPr>
          <a:xfrm>
            <a:off x="6492240" y="3300984"/>
            <a:ext cx="5120640" cy="320040"/>
          </a:xfrm>
          <a:prstGeom prst="rect">
            <a:avLst/>
          </a:prstGeom>
          <a:noFill/>
          <a:ln/>
        </p:spPr>
        <p:txBody>
          <a:bodyPr wrap="square" lIns="0" tIns="0" rIns="0" bIns="0" rtlCol="0" anchor="t"/>
          <a:lstStyle/>
          <a:p>
            <a:pPr indent="0" marL="0">
              <a:buNone/>
            </a:pPr>
            <a:r>
              <a:rPr lang="en-US" sz="1700" b="1" dirty="0">
                <a:solidFill>
                  <a:schemeClr val="tx1"/>
                </a:solidFill>
              </a:rPr>
              <a:t>Run on the phone</a:t>
            </a:r>
            <a:endParaRPr lang="en-US" sz="1700" dirty="0"/>
          </a:p>
        </p:txBody>
      </p:sp>
      <p:sp>
        <p:nvSpPr>
          <p:cNvPr id="19" name="Text 13"/>
          <p:cNvSpPr txBox="1"/>
          <p:nvPr/>
        </p:nvSpPr>
        <p:spPr>
          <a:xfrm>
            <a:off x="6492240" y="3621024"/>
            <a:ext cx="5120640" cy="548640"/>
          </a:xfrm>
          <a:prstGeom prst="rect">
            <a:avLst/>
          </a:prstGeom>
          <a:noFill/>
          <a:ln/>
        </p:spPr>
        <p:txBody>
          <a:bodyPr wrap="square" lIns="0" tIns="0" rIns="0" bIns="0" rtlCol="0" anchor="t"/>
          <a:lstStyle/>
          <a:p>
            <a:pPr indent="0" marL="0">
              <a:buNone/>
            </a:pPr>
            <a:r>
              <a:rPr lang="en-US" sz="1400" dirty="0">
                <a:solidFill>
                  <a:schemeClr val="accent5"/>
                </a:solidFill>
              </a:rPr>
              <a:t>Exported to LiteRT; target ≤100 ms per image</a:t>
            </a:r>
            <a:endParaRPr lang="en-US" sz="1400" dirty="0"/>
          </a:p>
        </p:txBody>
      </p:sp>
      <p:sp>
        <p:nvSpPr>
          <p:cNvPr id="20" name="Confirm and grow circle"/>
          <p:cNvSpPr/>
          <p:nvPr/>
        </p:nvSpPr>
        <p:spPr>
          <a:xfrm>
            <a:off x="5669280" y="4261104"/>
            <a:ext cx="640080" cy="640080"/>
          </a:xfrm>
          <a:prstGeom prst="ellipse">
            <a:avLst/>
          </a:prstGeom>
          <a:solidFill>
            <a:schemeClr val="accent5"/>
          </a:solidFill>
          <a:ln w="12700">
            <a:solidFill>
              <a:schemeClr val="accent5"/>
            </a:solidFill>
            <a:prstDash val="solid"/>
          </a:ln>
        </p:spPr>
      </p:sp>
      <p:pic>
        <p:nvPicPr>
          <p:cNvPr id="21" name="Confirm and grow icon" descr="Confirm and grow">    </p:cNvPr>
          <p:cNvPicPr>
            <a:picLocks noChangeAspect="1"/>
          </p:cNvPicPr>
          <p:nvPr/>
        </p:nvPicPr>
        <p:blipFill>
          <a:blip r:embed="rId5"/>
          <a:stretch>
            <a:fillRect/>
          </a:stretch>
        </p:blipFill>
        <p:spPr>
          <a:xfrm>
            <a:off x="5842102" y="4433926"/>
            <a:ext cx="294437" cy="294437"/>
          </a:xfrm>
          <a:prstGeom prst="rect">
            <a:avLst/>
          </a:prstGeom>
        </p:spPr>
      </p:pic>
      <p:sp>
        <p:nvSpPr>
          <p:cNvPr id="22" name="Text 15"/>
          <p:cNvSpPr txBox="1"/>
          <p:nvPr/>
        </p:nvSpPr>
        <p:spPr>
          <a:xfrm>
            <a:off x="6492240" y="4233672"/>
            <a:ext cx="5120640" cy="320040"/>
          </a:xfrm>
          <a:prstGeom prst="rect">
            <a:avLst/>
          </a:prstGeom>
          <a:noFill/>
          <a:ln/>
        </p:spPr>
        <p:txBody>
          <a:bodyPr wrap="square" lIns="0" tIns="0" rIns="0" bIns="0" rtlCol="0" anchor="t"/>
          <a:lstStyle/>
          <a:p>
            <a:pPr indent="0" marL="0">
              <a:buNone/>
            </a:pPr>
            <a:r>
              <a:rPr lang="en-US" sz="1700" b="1" dirty="0">
                <a:solidFill>
                  <a:schemeClr val="tx1"/>
                </a:solidFill>
              </a:rPr>
              <a:t>Confirm and grow</a:t>
            </a:r>
            <a:endParaRPr lang="en-US" sz="1700" dirty="0"/>
          </a:p>
        </p:txBody>
      </p:sp>
      <p:sp>
        <p:nvSpPr>
          <p:cNvPr id="23" name="Text 16"/>
          <p:cNvSpPr txBox="1"/>
          <p:nvPr/>
        </p:nvSpPr>
        <p:spPr>
          <a:xfrm>
            <a:off x="6492240" y="4553712"/>
            <a:ext cx="5120640" cy="548640"/>
          </a:xfrm>
          <a:prstGeom prst="rect">
            <a:avLst/>
          </a:prstGeom>
          <a:noFill/>
          <a:ln/>
        </p:spPr>
        <p:txBody>
          <a:bodyPr wrap="square" lIns="0" tIns="0" rIns="0" bIns="0" rtlCol="0" anchor="t"/>
          <a:lstStyle/>
          <a:p>
            <a:pPr indent="0" marL="0">
              <a:buNone/>
            </a:pPr>
            <a:r>
              <a:rPr lang="en-US" sz="1400" dirty="0">
                <a:solidFill>
                  <a:schemeClr val="accent5"/>
                </a:solidFill>
              </a:rPr>
              <a:t>Low confidence: the user confirms; new images join the dataset</a:t>
            </a:r>
            <a:endParaRPr lang="en-US" sz="1400" dirty="0"/>
          </a:p>
        </p:txBody>
      </p:sp>
      <p:sp>
        <p:nvSpPr>
          <p:cNvPr id="24" name="Text 17"/>
          <p:cNvSpPr txBox="1"/>
          <p:nvPr/>
        </p:nvSpPr>
        <p:spPr>
          <a:xfrm>
            <a:off x="5669280" y="5257800"/>
            <a:ext cx="5943600" cy="548640"/>
          </a:xfrm>
          <a:prstGeom prst="rect">
            <a:avLst/>
          </a:prstGeom>
          <a:noFill/>
          <a:ln/>
        </p:spPr>
        <p:txBody>
          <a:bodyPr wrap="square" lIns="0" tIns="0" rIns="0" bIns="0" rtlCol="0" anchor="t"/>
          <a:lstStyle/>
          <a:p>
            <a:pPr indent="0" marL="0">
              <a:buNone/>
            </a:pPr>
            <a:r>
              <a:rPr lang="en-US" sz="1500" b="1" dirty="0">
                <a:solidFill>
                  <a:schemeClr val="tx1"/>
                </a:solidFill>
              </a:rPr>
              <a:t>Split by test day, not at random: </a:t>
            </a:r>
            <a:pPr indent="0" marL="0">
              <a:buNone/>
            </a:pPr>
            <a:r>
              <a:rPr lang="en-US" sz="1500" dirty="0">
                <a:solidFill>
                  <a:schemeClr val="tx1"/>
                </a:solidFill>
              </a:rPr>
              <a:t>frames from one session in both sets would overestimate accuracy.</a:t>
            </a:r>
            <a:endParaRPr lang="en-US" sz="1500" dirty="0"/>
          </a:p>
        </p:txBody>
      </p:sp>
      <p:sp>
        <p:nvSpPr>
          <p:cNvPr id="25" name="Text 18"/>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Sources: Yang et al., CVPR 2015; Yosinski et al., NeurIPS 2014; Sandler et al., CVPR 2018</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From evidence to design decisions</a:t>
            </a:r>
            <a:endParaRPr lang="en-US" sz="3600" dirty="0"/>
          </a:p>
        </p:txBody>
      </p:sp>
      <p:sp>
        <p:nvSpPr>
          <p:cNvPr id="3" name="Text 1"/>
          <p:cNvSpPr txBox="1"/>
          <p:nvPr/>
        </p:nvSpPr>
        <p:spPr>
          <a:xfrm>
            <a:off x="548640" y="1325880"/>
            <a:ext cx="11064240" cy="548640"/>
          </a:xfrm>
          <a:prstGeom prst="rect">
            <a:avLst/>
          </a:prstGeom>
          <a:noFill/>
          <a:ln/>
        </p:spPr>
        <p:txBody>
          <a:bodyPr wrap="square" lIns="0" tIns="0" rIns="0" bIns="0" rtlCol="0" anchor="t"/>
          <a:lstStyle/>
          <a:p>
            <a:pPr indent="0" marL="0">
              <a:buNone/>
            </a:pPr>
            <a:r>
              <a:rPr lang="en-US" sz="1600" b="1" dirty="0">
                <a:solidFill>
                  <a:schemeClr val="accent3"/>
                </a:solidFill>
              </a:rPr>
              <a:t>Gap: </a:t>
            </a:r>
            <a:pPr indent="0" marL="0">
              <a:buNone/>
            </a:pPr>
            <a:r>
              <a:rPr lang="en-US" sz="1600" dirty="0">
                <a:solidFill>
                  <a:schemeClr val="tx1"/>
                </a:solidFill>
              </a:rPr>
              <a:t>no study tested phone AR setout over a full track, or combined guidance, verification, vehicle ID and a two-way twin.</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5760720"/>
                <a:gridCol w="5303520"/>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Evidence</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2B30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Decision</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2B3036"/>
                    </a:solidFill>
                  </a:tcPr>
                </a:tc>
              </a:tr>
              <a:tr h="512064">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AR accuracy degrades with distance from the marker</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Two-point alignment at the start</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r>
              <a:tr h="512064">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Tracking error grows with distance walked</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Re-alignment markers; RTK as an option</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r>
              <a:tr h="512064">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WebSocket has lower latency; the client is a browser</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WebSocket, with an offline queue on the phone</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r>
              <a:tr h="512064">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Only two-way data flow makes a twin</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Dashboard edits update the guidance</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r>
              <a:tr h="512064">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On-device inference avoids network cost; weak coverage</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Cone check on the phone; models updated remotely</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r>
              <a:tr h="512064">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Pretrained features transfer; viewpoint drives accuracy</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Self-made all-view dataset; fine-tuned mobile CNN</a:t>
                      </a:r>
                      <a:endParaRPr lang="en-US" sz="1500" dirty="0">
                        <a:latin typeface="Calibri" charset="0"/>
                        <a:ea typeface="Calibri" charset="0"/>
                        <a:cs typeface="Calibri" charset="0"/>
                      </a:endParaRPr>
                    </a:p>
                  </a:txBody>
                  <a:tcPr marL="109728" marR="109728"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Two markers, re-aligned along the track</a:t>
            </a:r>
            <a:endParaRPr lang="en-US" sz="3600" dirty="0"/>
          </a:p>
        </p:txBody>
      </p:sp>
      <p:sp>
        <p:nvSpPr>
          <p:cNvPr id="3" name="heading stat"/>
          <p:cNvSpPr/>
          <p:nvPr/>
        </p:nvSpPr>
        <p:spPr>
          <a:xfrm>
            <a:off x="548640" y="1463040"/>
            <a:ext cx="4480560" cy="4343400"/>
          </a:xfrm>
          <a:prstGeom prst="roundRect">
            <a:avLst>
              <a:gd name="adj" fmla="val 2526"/>
            </a:avLst>
          </a:prstGeom>
          <a:solidFill>
            <a:schemeClr val="tx2"/>
          </a:solidFill>
          <a:ln w="12700">
            <a:solidFill>
              <a:schemeClr val="tx2"/>
            </a:solidFill>
            <a:prstDash val="solid"/>
          </a:ln>
        </p:spPr>
      </p:sp>
      <p:sp>
        <p:nvSpPr>
          <p:cNvPr id="4" name="Text 2"/>
          <p:cNvSpPr txBox="1"/>
          <p:nvPr/>
        </p:nvSpPr>
        <p:spPr>
          <a:xfrm>
            <a:off x="868680" y="1737360"/>
            <a:ext cx="3840480" cy="1005840"/>
          </a:xfrm>
          <a:prstGeom prst="rect">
            <a:avLst/>
          </a:prstGeom>
          <a:noFill/>
          <a:ln/>
        </p:spPr>
        <p:txBody>
          <a:bodyPr wrap="square" lIns="0" tIns="0" rIns="0" bIns="0" rtlCol="0" anchor="t"/>
          <a:lstStyle/>
          <a:p>
            <a:pPr indent="0" marL="0">
              <a:buNone/>
            </a:pPr>
            <a:r>
              <a:rPr lang="en-US" sz="6600" b="1" dirty="0">
                <a:solidFill>
                  <a:schemeClr val="accent2"/>
                </a:solidFill>
                <a:latin typeface="Arial" pitchFamily="34" charset="0"/>
                <a:ea typeface="Arial" pitchFamily="34" charset="-122"/>
                <a:cs typeface="Arial" pitchFamily="34" charset="-120"/>
              </a:rPr>
              <a:t>1°</a:t>
            </a:r>
            <a:endParaRPr lang="en-US" sz="6600" dirty="0"/>
          </a:p>
        </p:txBody>
      </p:sp>
      <p:sp>
        <p:nvSpPr>
          <p:cNvPr id="5" name="Text 3"/>
          <p:cNvSpPr txBox="1"/>
          <p:nvPr/>
        </p:nvSpPr>
        <p:spPr>
          <a:xfrm>
            <a:off x="868680" y="2788920"/>
            <a:ext cx="3840480" cy="731520"/>
          </a:xfrm>
          <a:prstGeom prst="rect">
            <a:avLst/>
          </a:prstGeom>
          <a:noFill/>
          <a:ln/>
        </p:spPr>
        <p:txBody>
          <a:bodyPr wrap="square" lIns="0" tIns="0" rIns="0" bIns="0" rtlCol="0" anchor="t"/>
          <a:lstStyle/>
          <a:p>
            <a:pPr indent="0" marL="0">
              <a:buNone/>
            </a:pPr>
            <a:r>
              <a:rPr lang="en-US" sz="1600" dirty="0">
                <a:solidFill>
                  <a:schemeClr val="bg1"/>
                </a:solidFill>
              </a:rPr>
              <a:t>heading error at a single start marker puts a cone 200 m away</a:t>
            </a:r>
            <a:endParaRPr lang="en-US" sz="1600" dirty="0"/>
          </a:p>
        </p:txBody>
      </p:sp>
      <p:sp>
        <p:nvSpPr>
          <p:cNvPr id="6" name="Text 4"/>
          <p:cNvSpPr txBox="1"/>
          <p:nvPr/>
        </p:nvSpPr>
        <p:spPr>
          <a:xfrm>
            <a:off x="868680" y="3611880"/>
            <a:ext cx="3840480" cy="914400"/>
          </a:xfrm>
          <a:prstGeom prst="rect">
            <a:avLst/>
          </a:prstGeom>
          <a:noFill/>
          <a:ln/>
        </p:spPr>
        <p:txBody>
          <a:bodyPr wrap="square" lIns="0" tIns="0" rIns="0" bIns="0" rtlCol="0" anchor="t"/>
          <a:lstStyle/>
          <a:p>
            <a:pPr indent="0" marL="0">
              <a:buNone/>
            </a:pPr>
            <a:r>
              <a:rPr lang="en-US" sz="5400" b="1" dirty="0">
                <a:solidFill>
                  <a:schemeClr val="accent3"/>
                </a:solidFill>
                <a:latin typeface="Arial" pitchFamily="34" charset="0"/>
                <a:ea typeface="Arial" pitchFamily="34" charset="-122"/>
                <a:cs typeface="Arial" pitchFamily="34" charset="-120"/>
              </a:rPr>
              <a:t>≈3.5 m</a:t>
            </a:r>
            <a:endParaRPr lang="en-US" sz="5400" dirty="0"/>
          </a:p>
        </p:txBody>
      </p:sp>
      <p:sp>
        <p:nvSpPr>
          <p:cNvPr id="7" name="Text 5"/>
          <p:cNvSpPr txBox="1"/>
          <p:nvPr/>
        </p:nvSpPr>
        <p:spPr>
          <a:xfrm>
            <a:off x="868680" y="4572000"/>
            <a:ext cx="3840480" cy="731520"/>
          </a:xfrm>
          <a:prstGeom prst="rect">
            <a:avLst/>
          </a:prstGeom>
          <a:noFill/>
          <a:ln/>
        </p:spPr>
        <p:txBody>
          <a:bodyPr wrap="square" lIns="0" tIns="0" rIns="0" bIns="0" rtlCol="0" anchor="t"/>
          <a:lstStyle/>
          <a:p>
            <a:pPr indent="0" marL="0">
              <a:buNone/>
            </a:pPr>
            <a:r>
              <a:rPr lang="en-US" sz="1600" dirty="0">
                <a:solidFill>
                  <a:schemeClr val="bg1"/>
                </a:solidFill>
              </a:rPr>
              <a:t>off its planned position, before any drift is added</a:t>
            </a:r>
            <a:endParaRPr lang="en-US" sz="1600" dirty="0"/>
          </a:p>
        </p:txBody>
      </p:sp>
      <p:sp>
        <p:nvSpPr>
          <p:cNvPr id="8" name="Text 6"/>
          <p:cNvSpPr txBox="1"/>
          <p:nvPr/>
        </p:nvSpPr>
        <p:spPr>
          <a:xfrm>
            <a:off x="5394960" y="1463040"/>
            <a:ext cx="4754880" cy="365760"/>
          </a:xfrm>
          <a:prstGeom prst="rect">
            <a:avLst/>
          </a:prstGeom>
          <a:noFill/>
          <a:ln/>
        </p:spPr>
        <p:txBody>
          <a:bodyPr wrap="square" lIns="0" tIns="0" rIns="0" bIns="0" rtlCol="0" anchor="t"/>
          <a:lstStyle/>
          <a:p>
            <a:pPr indent="0" marL="0">
              <a:buNone/>
            </a:pPr>
            <a:r>
              <a:rPr lang="en-US" sz="1700" b="1" dirty="0">
                <a:solidFill>
                  <a:schemeClr val="tx1"/>
                </a:solidFill>
              </a:rPr>
              <a:t>Two-point alignment + re-alignment markers</a:t>
            </a:r>
            <a:endParaRPr lang="en-US" sz="1700" dirty="0"/>
          </a:p>
        </p:txBody>
      </p:sp>
      <p:sp>
        <p:nvSpPr>
          <p:cNvPr id="9" name="Text 7"/>
          <p:cNvSpPr txBox="1"/>
          <p:nvPr/>
        </p:nvSpPr>
        <p:spPr>
          <a:xfrm>
            <a:off x="5394960" y="1847088"/>
            <a:ext cx="4754880" cy="548640"/>
          </a:xfrm>
          <a:prstGeom prst="rect">
            <a:avLst/>
          </a:prstGeom>
          <a:noFill/>
          <a:ln/>
        </p:spPr>
        <p:txBody>
          <a:bodyPr wrap="square" lIns="0" tIns="0" rIns="0" bIns="0" rtlCol="0" anchor="t"/>
          <a:lstStyle/>
          <a:p>
            <a:pPr indent="0" marL="0">
              <a:buNone/>
            </a:pPr>
            <a:r>
              <a:rPr lang="en-US" sz="1400" dirty="0">
                <a:solidFill>
                  <a:schemeClr val="accent5"/>
                </a:solidFill>
              </a:rPr>
              <a:t>Fixes position and heading; drift limited to marker spacing</a:t>
            </a:r>
            <a:endParaRPr lang="en-US" sz="1400" dirty="0"/>
          </a:p>
        </p:txBody>
      </p:sp>
      <p:sp>
        <p:nvSpPr>
          <p:cNvPr id="10" name="Adopted chip 0"/>
          <p:cNvSpPr/>
          <p:nvPr/>
        </p:nvSpPr>
        <p:spPr>
          <a:xfrm>
            <a:off x="10332720" y="1508760"/>
            <a:ext cx="1280160" cy="384048"/>
          </a:xfrm>
          <a:prstGeom prst="roundRect">
            <a:avLst>
              <a:gd name="adj" fmla="val 50000"/>
            </a:avLst>
          </a:prstGeom>
          <a:solidFill>
            <a:srgbClr val="2E8B57"/>
          </a:solidFill>
          <a:ln w="12700">
            <a:solidFill>
              <a:srgbClr val="2E8B57"/>
            </a:solidFill>
            <a:prstDash val="solid"/>
          </a:ln>
        </p:spPr>
      </p:sp>
      <p:sp>
        <p:nvSpPr>
          <p:cNvPr id="11" name="Text 9"/>
          <p:cNvSpPr txBox="1"/>
          <p:nvPr/>
        </p:nvSpPr>
        <p:spPr>
          <a:xfrm>
            <a:off x="10332720" y="1508760"/>
            <a:ext cx="1280160" cy="384048"/>
          </a:xfrm>
          <a:prstGeom prst="rect">
            <a:avLst/>
          </a:prstGeom>
          <a:noFill/>
          <a:ln/>
        </p:spPr>
        <p:txBody>
          <a:bodyPr wrap="square" lIns="0" tIns="0" rIns="0" bIns="0" rtlCol="0" anchor="ctr"/>
          <a:lstStyle/>
          <a:p>
            <a:pPr algn="ctr" indent="0" marL="0">
              <a:buNone/>
            </a:pPr>
            <a:r>
              <a:rPr lang="en-US" sz="1400" b="1" dirty="0">
                <a:solidFill>
                  <a:schemeClr val="bg1"/>
                </a:solidFill>
              </a:rPr>
              <a:t>Adopted</a:t>
            </a:r>
            <a:endParaRPr lang="en-US" sz="1400" dirty="0"/>
          </a:p>
        </p:txBody>
      </p:sp>
      <p:sp>
        <p:nvSpPr>
          <p:cNvPr id="12" name="Text 10"/>
          <p:cNvSpPr txBox="1"/>
          <p:nvPr/>
        </p:nvSpPr>
        <p:spPr>
          <a:xfrm>
            <a:off x="5394960" y="2560320"/>
            <a:ext cx="4754880" cy="365760"/>
          </a:xfrm>
          <a:prstGeom prst="rect">
            <a:avLst/>
          </a:prstGeom>
          <a:noFill/>
          <a:ln/>
        </p:spPr>
        <p:txBody>
          <a:bodyPr wrap="square" lIns="0" tIns="0" rIns="0" bIns="0" rtlCol="0" anchor="t"/>
          <a:lstStyle/>
          <a:p>
            <a:pPr indent="0" marL="0">
              <a:buNone/>
            </a:pPr>
            <a:r>
              <a:rPr lang="en-US" sz="1700" b="1" dirty="0">
                <a:solidFill>
                  <a:schemeClr val="tx1"/>
                </a:solidFill>
              </a:rPr>
              <a:t>Smartphone RTK GNSS</a:t>
            </a:r>
            <a:endParaRPr lang="en-US" sz="1700" dirty="0"/>
          </a:p>
        </p:txBody>
      </p:sp>
      <p:sp>
        <p:nvSpPr>
          <p:cNvPr id="13" name="Text 11"/>
          <p:cNvSpPr txBox="1"/>
          <p:nvPr/>
        </p:nvSpPr>
        <p:spPr>
          <a:xfrm>
            <a:off x="5394960" y="2944368"/>
            <a:ext cx="4754880" cy="548640"/>
          </a:xfrm>
          <a:prstGeom prst="rect">
            <a:avLst/>
          </a:prstGeom>
          <a:noFill/>
          <a:ln/>
        </p:spPr>
        <p:txBody>
          <a:bodyPr wrap="square" lIns="0" tIns="0" rIns="0" bIns="0" rtlCol="0" anchor="t"/>
          <a:lstStyle/>
          <a:p>
            <a:pPr indent="0" marL="0">
              <a:buNone/>
            </a:pPr>
            <a:r>
              <a:rPr lang="en-US" sz="1400" dirty="0">
                <a:solidFill>
                  <a:schemeClr val="accent5"/>
                </a:solidFill>
              </a:rPr>
              <a:t>Centimetre accuracy, no drift; needs a receiver and corrections</a:t>
            </a:r>
            <a:endParaRPr lang="en-US" sz="1400" dirty="0"/>
          </a:p>
        </p:txBody>
      </p:sp>
      <p:sp>
        <p:nvSpPr>
          <p:cNvPr id="14" name="Optional chip 1"/>
          <p:cNvSpPr/>
          <p:nvPr/>
        </p:nvSpPr>
        <p:spPr>
          <a:xfrm>
            <a:off x="10332720" y="2606040"/>
            <a:ext cx="1280160" cy="384048"/>
          </a:xfrm>
          <a:prstGeom prst="roundRect">
            <a:avLst>
              <a:gd name="adj" fmla="val 50000"/>
            </a:avLst>
          </a:prstGeom>
          <a:solidFill>
            <a:srgbClr val="D9A400"/>
          </a:solidFill>
          <a:ln w="12700">
            <a:solidFill>
              <a:srgbClr val="D9A400"/>
            </a:solidFill>
            <a:prstDash val="solid"/>
          </a:ln>
        </p:spPr>
      </p:sp>
      <p:sp>
        <p:nvSpPr>
          <p:cNvPr id="15" name="Text 13"/>
          <p:cNvSpPr txBox="1"/>
          <p:nvPr/>
        </p:nvSpPr>
        <p:spPr>
          <a:xfrm>
            <a:off x="10332720" y="2606040"/>
            <a:ext cx="1280160" cy="384048"/>
          </a:xfrm>
          <a:prstGeom prst="rect">
            <a:avLst/>
          </a:prstGeom>
          <a:noFill/>
          <a:ln/>
        </p:spPr>
        <p:txBody>
          <a:bodyPr wrap="square" lIns="0" tIns="0" rIns="0" bIns="0" rtlCol="0" anchor="ctr"/>
          <a:lstStyle/>
          <a:p>
            <a:pPr algn="ctr" indent="0" marL="0">
              <a:buNone/>
            </a:pPr>
            <a:r>
              <a:rPr lang="en-US" sz="1400" b="1" dirty="0">
                <a:solidFill>
                  <a:schemeClr val="bg1"/>
                </a:solidFill>
              </a:rPr>
              <a:t>Optional</a:t>
            </a:r>
            <a:endParaRPr lang="en-US" sz="1400" dirty="0"/>
          </a:p>
        </p:txBody>
      </p:sp>
      <p:sp>
        <p:nvSpPr>
          <p:cNvPr id="16" name="Text 14"/>
          <p:cNvSpPr txBox="1"/>
          <p:nvPr/>
        </p:nvSpPr>
        <p:spPr>
          <a:xfrm>
            <a:off x="5394960" y="3657600"/>
            <a:ext cx="4754880" cy="365760"/>
          </a:xfrm>
          <a:prstGeom prst="rect">
            <a:avLst/>
          </a:prstGeom>
          <a:noFill/>
          <a:ln/>
        </p:spPr>
        <p:txBody>
          <a:bodyPr wrap="square" lIns="0" tIns="0" rIns="0" bIns="0" rtlCol="0" anchor="t"/>
          <a:lstStyle/>
          <a:p>
            <a:pPr indent="0" marL="0">
              <a:buNone/>
            </a:pPr>
            <a:r>
              <a:rPr lang="en-US" sz="1700" b="1" dirty="0">
                <a:solidFill>
                  <a:schemeClr val="tx1"/>
                </a:solidFill>
              </a:rPr>
              <a:t>Single start marker</a:t>
            </a:r>
            <a:endParaRPr lang="en-US" sz="1700" dirty="0"/>
          </a:p>
        </p:txBody>
      </p:sp>
      <p:sp>
        <p:nvSpPr>
          <p:cNvPr id="17" name="Text 15"/>
          <p:cNvSpPr txBox="1"/>
          <p:nvPr/>
        </p:nvSpPr>
        <p:spPr>
          <a:xfrm>
            <a:off x="5394960" y="4041648"/>
            <a:ext cx="4754880" cy="548640"/>
          </a:xfrm>
          <a:prstGeom prst="rect">
            <a:avLst/>
          </a:prstGeom>
          <a:noFill/>
          <a:ln/>
        </p:spPr>
        <p:txBody>
          <a:bodyPr wrap="square" lIns="0" tIns="0" rIns="0" bIns="0" rtlCol="0" anchor="t"/>
          <a:lstStyle/>
          <a:p>
            <a:pPr indent="0" marL="0">
              <a:buNone/>
            </a:pPr>
            <a:r>
              <a:rPr lang="en-US" sz="1400" dirty="0">
                <a:solidFill>
                  <a:schemeClr val="accent5"/>
                </a:solidFill>
              </a:rPr>
              <a:t>Heading error and drift grow along the track</a:t>
            </a:r>
            <a:endParaRPr lang="en-US" sz="1400" dirty="0"/>
          </a:p>
        </p:txBody>
      </p:sp>
      <p:sp>
        <p:nvSpPr>
          <p:cNvPr id="18" name="Rejected chip 2"/>
          <p:cNvSpPr/>
          <p:nvPr/>
        </p:nvSpPr>
        <p:spPr>
          <a:xfrm>
            <a:off x="10332720" y="3703320"/>
            <a:ext cx="1280160" cy="384048"/>
          </a:xfrm>
          <a:prstGeom prst="roundRect">
            <a:avLst>
              <a:gd name="adj" fmla="val 50000"/>
            </a:avLst>
          </a:prstGeom>
          <a:solidFill>
            <a:srgbClr val="C0392B"/>
          </a:solidFill>
          <a:ln w="12700">
            <a:solidFill>
              <a:srgbClr val="C0392B"/>
            </a:solidFill>
            <a:prstDash val="solid"/>
          </a:ln>
        </p:spPr>
      </p:sp>
      <p:sp>
        <p:nvSpPr>
          <p:cNvPr id="19" name="Text 17"/>
          <p:cNvSpPr txBox="1"/>
          <p:nvPr/>
        </p:nvSpPr>
        <p:spPr>
          <a:xfrm>
            <a:off x="10332720" y="3703320"/>
            <a:ext cx="1280160" cy="384048"/>
          </a:xfrm>
          <a:prstGeom prst="rect">
            <a:avLst/>
          </a:prstGeom>
          <a:noFill/>
          <a:ln/>
        </p:spPr>
        <p:txBody>
          <a:bodyPr wrap="square" lIns="0" tIns="0" rIns="0" bIns="0" rtlCol="0" anchor="ctr"/>
          <a:lstStyle/>
          <a:p>
            <a:pPr algn="ctr" indent="0" marL="0">
              <a:buNone/>
            </a:pPr>
            <a:r>
              <a:rPr lang="en-US" sz="1400" b="1" dirty="0">
                <a:solidFill>
                  <a:schemeClr val="bg1"/>
                </a:solidFill>
              </a:rPr>
              <a:t>Rejected</a:t>
            </a:r>
            <a:endParaRPr lang="en-US" sz="1400" dirty="0"/>
          </a:p>
        </p:txBody>
      </p:sp>
      <p:sp>
        <p:nvSpPr>
          <p:cNvPr id="20" name="Text 18"/>
          <p:cNvSpPr txBox="1"/>
          <p:nvPr/>
        </p:nvSpPr>
        <p:spPr>
          <a:xfrm>
            <a:off x="5394960" y="4754880"/>
            <a:ext cx="4754880" cy="365760"/>
          </a:xfrm>
          <a:prstGeom prst="rect">
            <a:avLst/>
          </a:prstGeom>
          <a:noFill/>
          <a:ln/>
        </p:spPr>
        <p:txBody>
          <a:bodyPr wrap="square" lIns="0" tIns="0" rIns="0" bIns="0" rtlCol="0" anchor="t"/>
          <a:lstStyle/>
          <a:p>
            <a:pPr indent="0" marL="0">
              <a:buNone/>
            </a:pPr>
            <a:r>
              <a:rPr lang="en-US" sz="1700" b="1" dirty="0">
                <a:solidFill>
                  <a:schemeClr val="tx1"/>
                </a:solidFill>
              </a:rPr>
              <a:t>ARCore Geospatial API</a:t>
            </a:r>
            <a:endParaRPr lang="en-US" sz="1700" dirty="0"/>
          </a:p>
        </p:txBody>
      </p:sp>
      <p:sp>
        <p:nvSpPr>
          <p:cNvPr id="21" name="Text 19"/>
          <p:cNvSpPr txBox="1"/>
          <p:nvPr/>
        </p:nvSpPr>
        <p:spPr>
          <a:xfrm>
            <a:off x="5394960" y="5138928"/>
            <a:ext cx="4754880" cy="548640"/>
          </a:xfrm>
          <a:prstGeom prst="rect">
            <a:avLst/>
          </a:prstGeom>
          <a:noFill/>
          <a:ln/>
        </p:spPr>
        <p:txBody>
          <a:bodyPr wrap="square" lIns="0" tIns="0" rIns="0" bIns="0" rtlCol="0" anchor="t"/>
          <a:lstStyle/>
          <a:p>
            <a:pPr indent="0" marL="0">
              <a:buNone/>
            </a:pPr>
            <a:r>
              <a:rPr lang="en-US" sz="1400" dirty="0">
                <a:solidFill>
                  <a:schemeClr val="accent5"/>
                </a:solidFill>
              </a:rPr>
              <a:t>No published cm-level accuracy; needs Street View</a:t>
            </a:r>
            <a:endParaRPr lang="en-US" sz="1400" dirty="0"/>
          </a:p>
        </p:txBody>
      </p:sp>
      <p:sp>
        <p:nvSpPr>
          <p:cNvPr id="22" name="Rejected chip 3"/>
          <p:cNvSpPr/>
          <p:nvPr/>
        </p:nvSpPr>
        <p:spPr>
          <a:xfrm>
            <a:off x="10332720" y="4800600"/>
            <a:ext cx="1280160" cy="384048"/>
          </a:xfrm>
          <a:prstGeom prst="roundRect">
            <a:avLst>
              <a:gd name="adj" fmla="val 50000"/>
            </a:avLst>
          </a:prstGeom>
          <a:solidFill>
            <a:srgbClr val="C0392B"/>
          </a:solidFill>
          <a:ln w="12700">
            <a:solidFill>
              <a:srgbClr val="C0392B"/>
            </a:solidFill>
            <a:prstDash val="solid"/>
          </a:ln>
        </p:spPr>
      </p:sp>
      <p:sp>
        <p:nvSpPr>
          <p:cNvPr id="23" name="Text 21"/>
          <p:cNvSpPr txBox="1"/>
          <p:nvPr/>
        </p:nvSpPr>
        <p:spPr>
          <a:xfrm>
            <a:off x="10332720" y="4800600"/>
            <a:ext cx="1280160" cy="384048"/>
          </a:xfrm>
          <a:prstGeom prst="rect">
            <a:avLst/>
          </a:prstGeom>
          <a:noFill/>
          <a:ln/>
        </p:spPr>
        <p:txBody>
          <a:bodyPr wrap="square" lIns="0" tIns="0" rIns="0" bIns="0" rtlCol="0" anchor="ctr"/>
          <a:lstStyle/>
          <a:p>
            <a:pPr algn="ctr" indent="0" marL="0">
              <a:buNone/>
            </a:pPr>
            <a:r>
              <a:rPr lang="en-US" sz="1400" b="1" dirty="0">
                <a:solidFill>
                  <a:schemeClr val="bg1"/>
                </a:solidFill>
              </a:rPr>
              <a:t>Rejected</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Conceptual architecture</a:t>
            </a:r>
            <a:endParaRPr lang="en-US" sz="3600" dirty="0"/>
          </a:p>
        </p:txBody>
      </p:sp>
      <p:pic>
        <p:nvPicPr>
          <p:cNvPr id="3" name="architecture" descr="TrackSeed architecture: Android app, cloud platform and web dashboard">    </p:cNvPr>
          <p:cNvPicPr>
            <a:picLocks noChangeAspect="1"/>
          </p:cNvPicPr>
          <p:nvPr/>
        </p:nvPicPr>
        <p:blipFill>
          <a:blip r:embed="rId1"/>
          <a:stretch>
            <a:fillRect/>
          </a:stretch>
        </p:blipFill>
        <p:spPr>
          <a:xfrm>
            <a:off x="548640" y="1417320"/>
            <a:ext cx="11064240" cy="3706520"/>
          </a:xfrm>
          <a:prstGeom prst="rect">
            <a:avLst/>
          </a:prstGeom>
        </p:spPr>
      </p:pic>
      <p:sp>
        <p:nvSpPr>
          <p:cNvPr id="4" name="Text 1"/>
          <p:cNvSpPr txBox="1"/>
          <p:nvPr/>
        </p:nvSpPr>
        <p:spPr>
          <a:xfrm>
            <a:off x="548640" y="5257800"/>
            <a:ext cx="3474720" cy="731520"/>
          </a:xfrm>
          <a:prstGeom prst="rect">
            <a:avLst/>
          </a:prstGeom>
          <a:noFill/>
          <a:ln/>
        </p:spPr>
        <p:txBody>
          <a:bodyPr wrap="square" lIns="0" tIns="0" rIns="0" bIns="0" rtlCol="0" anchor="t"/>
          <a:lstStyle/>
          <a:p>
            <a:pPr indent="0" marL="0">
              <a:buNone/>
            </a:pPr>
            <a:r>
              <a:rPr lang="en-US" sz="1400" b="1" dirty="0">
                <a:solidFill>
                  <a:schemeClr val="tx1"/>
                </a:solidFill>
              </a:rPr>
              <a:t>Android app</a:t>
            </a:r>
            <a:endParaRPr lang="en-US" sz="1400" dirty="0"/>
          </a:p>
          <a:p>
            <a:pPr indent="0" marL="0">
              <a:buNone/>
            </a:pPr>
            <a:r>
              <a:rPr lang="en-US" sz="1400" dirty="0">
                <a:solidFill>
                  <a:schemeClr val="accent5"/>
                </a:solidFill>
              </a:rPr>
              <a:t>AR alignment and guidance, cone check, car recognition, offline store</a:t>
            </a:r>
            <a:endParaRPr lang="en-US" sz="1400" dirty="0"/>
          </a:p>
        </p:txBody>
      </p:sp>
      <p:sp>
        <p:nvSpPr>
          <p:cNvPr id="5" name="Text 2"/>
          <p:cNvSpPr txBox="1"/>
          <p:nvPr/>
        </p:nvSpPr>
        <p:spPr>
          <a:xfrm>
            <a:off x="4297680" y="5257800"/>
            <a:ext cx="3474720" cy="731520"/>
          </a:xfrm>
          <a:prstGeom prst="rect">
            <a:avLst/>
          </a:prstGeom>
          <a:noFill/>
          <a:ln/>
        </p:spPr>
        <p:txBody>
          <a:bodyPr wrap="square" lIns="0" tIns="0" rIns="0" bIns="0" rtlCol="0" anchor="t"/>
          <a:lstStyle/>
          <a:p>
            <a:pPr indent="0" marL="0">
              <a:buNone/>
            </a:pPr>
            <a:r>
              <a:rPr lang="en-US" sz="1400" b="1" dirty="0">
                <a:solidFill>
                  <a:schemeClr val="tx1"/>
                </a:solidFill>
              </a:rPr>
              <a:t>Cloud platform</a:t>
            </a:r>
            <a:endParaRPr lang="en-US" sz="1400" dirty="0"/>
          </a:p>
          <a:p>
            <a:pPr indent="0" marL="0">
              <a:buNone/>
            </a:pPr>
            <a:r>
              <a:rPr lang="en-US" sz="1400" dirty="0">
                <a:solidFill>
                  <a:schemeClr val="accent5"/>
                </a:solidFill>
              </a:rPr>
              <a:t>REST API, WebSocket sync, twin database, car dataset, model store</a:t>
            </a:r>
            <a:endParaRPr lang="en-US" sz="1400" dirty="0"/>
          </a:p>
        </p:txBody>
      </p:sp>
      <p:sp>
        <p:nvSpPr>
          <p:cNvPr id="6" name="Text 3"/>
          <p:cNvSpPr txBox="1"/>
          <p:nvPr/>
        </p:nvSpPr>
        <p:spPr>
          <a:xfrm>
            <a:off x="8046720" y="5257800"/>
            <a:ext cx="3474720" cy="731520"/>
          </a:xfrm>
          <a:prstGeom prst="rect">
            <a:avLst/>
          </a:prstGeom>
          <a:noFill/>
          <a:ln/>
        </p:spPr>
        <p:txBody>
          <a:bodyPr wrap="square" lIns="0" tIns="0" rIns="0" bIns="0" rtlCol="0" anchor="t"/>
          <a:lstStyle/>
          <a:p>
            <a:pPr indent="0" marL="0">
              <a:buNone/>
            </a:pPr>
            <a:r>
              <a:rPr lang="en-US" sz="1400" b="1" dirty="0">
                <a:solidFill>
                  <a:schemeClr val="tx1"/>
                </a:solidFill>
              </a:rPr>
              <a:t>Web dashboard</a:t>
            </a:r>
            <a:endParaRPr lang="en-US" sz="1400" dirty="0"/>
          </a:p>
          <a:p>
            <a:pPr indent="0" marL="0">
              <a:buNone/>
            </a:pPr>
            <a:r>
              <a:rPr lang="en-US" sz="1400" dirty="0">
                <a:solidFill>
                  <a:schemeClr val="accent5"/>
                </a:solidFill>
              </a:rPr>
              <a:t>2D live twin, track editor, session reports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How we will validate it</a:t>
            </a:r>
            <a:endParaRPr lang="en-US" sz="3600" dirty="0"/>
          </a:p>
        </p:txBody>
      </p:sp>
      <p:sp>
        <p:nvSpPr>
          <p:cNvPr id="3" name="H1 card"/>
          <p:cNvSpPr/>
          <p:nvPr/>
        </p:nvSpPr>
        <p:spPr>
          <a:xfrm>
            <a:off x="548640" y="1463040"/>
            <a:ext cx="2560320" cy="4343400"/>
          </a:xfrm>
          <a:prstGeom prst="roundRect">
            <a:avLst>
              <a:gd name="adj" fmla="val 4286"/>
            </a:avLst>
          </a:prstGeom>
          <a:solidFill>
            <a:schemeClr val="bg2"/>
          </a:solidFill>
          <a:ln w="12700">
            <a:solidFill>
              <a:schemeClr val="bg2"/>
            </a:solidFill>
            <a:prstDash val="solid"/>
          </a:ln>
        </p:spPr>
      </p:sp>
      <p:sp>
        <p:nvSpPr>
          <p:cNvPr id="4" name="Placement accuracy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Placement accuracy icon" descr="Placement accuracy">    </p:cNvPr>
          <p:cNvPicPr>
            <a:picLocks noChangeAspect="1"/>
          </p:cNvPicPr>
          <p:nvPr/>
        </p:nvPicPr>
        <p:blipFill>
          <a:blip r:embed="rId1"/>
          <a:stretch>
            <a:fillRect/>
          </a:stretch>
        </p:blipFill>
        <p:spPr>
          <a:xfrm>
            <a:off x="995782" y="1864462"/>
            <a:ext cx="294437" cy="294437"/>
          </a:xfrm>
          <a:prstGeom prst="rect">
            <a:avLst/>
          </a:prstGeom>
        </p:spPr>
      </p:pic>
      <p:sp>
        <p:nvSpPr>
          <p:cNvPr id="6" name="Text 3"/>
          <p:cNvSpPr txBox="1"/>
          <p:nvPr/>
        </p:nvSpPr>
        <p:spPr>
          <a:xfrm>
            <a:off x="1600200" y="1783080"/>
            <a:ext cx="1280160" cy="457200"/>
          </a:xfrm>
          <a:prstGeom prst="rect">
            <a:avLst/>
          </a:prstGeom>
          <a:noFill/>
          <a:ln/>
        </p:spPr>
        <p:txBody>
          <a:bodyPr wrap="square" lIns="0" tIns="0" rIns="0" bIns="0" rtlCol="0" anchor="ctr"/>
          <a:lstStyle/>
          <a:p>
            <a:pPr indent="0" marL="0">
              <a:buNone/>
            </a:pPr>
            <a:r>
              <a:rPr lang="en-US" sz="2200" b="1" dirty="0">
                <a:solidFill>
                  <a:schemeClr val="accent5"/>
                </a:solidFill>
              </a:rPr>
              <a:t>H1</a:t>
            </a:r>
            <a:endParaRPr lang="en-US" sz="2200" dirty="0"/>
          </a:p>
        </p:txBody>
      </p:sp>
      <p:sp>
        <p:nvSpPr>
          <p:cNvPr id="7" name="Text 4"/>
          <p:cNvSpPr txBox="1"/>
          <p:nvPr/>
        </p:nvSpPr>
        <p:spPr>
          <a:xfrm>
            <a:off x="822960" y="25146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Placement accuracy</a:t>
            </a:r>
            <a:endParaRPr lang="en-US" sz="1700" dirty="0"/>
          </a:p>
        </p:txBody>
      </p:sp>
      <p:sp>
        <p:nvSpPr>
          <p:cNvPr id="8" name="Text 5"/>
          <p:cNvSpPr txBox="1"/>
          <p:nvPr/>
        </p:nvSpPr>
        <p:spPr>
          <a:xfrm>
            <a:off x="822960" y="2971800"/>
            <a:ext cx="2194560" cy="50292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≤15 cm median</a:t>
            </a:r>
            <a:endParaRPr lang="en-US" sz="2000" dirty="0"/>
          </a:p>
        </p:txBody>
      </p:sp>
      <p:sp>
        <p:nvSpPr>
          <p:cNvPr id="9" name="Text 6"/>
          <p:cNvSpPr txBox="1"/>
          <p:nvPr/>
        </p:nvSpPr>
        <p:spPr>
          <a:xfrm>
            <a:off x="822960" y="3474720"/>
            <a:ext cx="2103120" cy="320040"/>
          </a:xfrm>
          <a:prstGeom prst="rect">
            <a:avLst/>
          </a:prstGeom>
          <a:noFill/>
          <a:ln/>
        </p:spPr>
        <p:txBody>
          <a:bodyPr wrap="square" lIns="0" tIns="0" rIns="0" bIns="0" rtlCol="0" anchor="t"/>
          <a:lstStyle/>
          <a:p>
            <a:pPr indent="0" marL="0">
              <a:buNone/>
            </a:pPr>
            <a:r>
              <a:rPr lang="en-US" sz="1400" dirty="0">
                <a:solidFill>
                  <a:schemeClr val="accent5"/>
                </a:solidFill>
              </a:rPr>
              <a:t>no cone over 30 cm</a:t>
            </a:r>
            <a:endParaRPr lang="en-US" sz="1400" dirty="0"/>
          </a:p>
        </p:txBody>
      </p:sp>
      <p:sp>
        <p:nvSpPr>
          <p:cNvPr id="10" name="Text 7"/>
          <p:cNvSpPr txBox="1"/>
          <p:nvPr/>
        </p:nvSpPr>
        <p:spPr>
          <a:xfrm>
            <a:off x="822960" y="4069080"/>
            <a:ext cx="2103120" cy="1280160"/>
          </a:xfrm>
          <a:prstGeom prst="rect">
            <a:avLst/>
          </a:prstGeom>
          <a:noFill/>
          <a:ln/>
        </p:spPr>
        <p:txBody>
          <a:bodyPr wrap="square" lIns="0" tIns="0" rIns="0" bIns="0" rtlCol="0" anchor="t"/>
          <a:lstStyle/>
          <a:p>
            <a:pPr indent="0" marL="0">
              <a:buNone/>
            </a:pPr>
            <a:r>
              <a:rPr lang="en-US" sz="1400" dirty="0">
                <a:solidFill>
                  <a:schemeClr val="tx1"/>
                </a:solidFill>
              </a:rPr>
              <a:t>Skidpad and autocross section vs surveyed reference points</a:t>
            </a:r>
            <a:endParaRPr lang="en-US" sz="1400" dirty="0"/>
          </a:p>
        </p:txBody>
      </p:sp>
      <p:sp>
        <p:nvSpPr>
          <p:cNvPr id="11" name="H2 card"/>
          <p:cNvSpPr/>
          <p:nvPr/>
        </p:nvSpPr>
        <p:spPr>
          <a:xfrm>
            <a:off x="3383280" y="1463040"/>
            <a:ext cx="2560320" cy="4343400"/>
          </a:xfrm>
          <a:prstGeom prst="roundRect">
            <a:avLst>
              <a:gd name="adj" fmla="val 4286"/>
            </a:avLst>
          </a:prstGeom>
          <a:solidFill>
            <a:schemeClr val="bg2"/>
          </a:solidFill>
          <a:ln w="12700">
            <a:solidFill>
              <a:schemeClr val="bg2"/>
            </a:solidFill>
            <a:prstDash val="solid"/>
          </a:ln>
        </p:spPr>
      </p:sp>
      <p:sp>
        <p:nvSpPr>
          <p:cNvPr id="12" name="Setup time circle"/>
          <p:cNvSpPr/>
          <p:nvPr/>
        </p:nvSpPr>
        <p:spPr>
          <a:xfrm>
            <a:off x="3657600" y="1691640"/>
            <a:ext cx="640080" cy="640080"/>
          </a:xfrm>
          <a:prstGeom prst="ellipse">
            <a:avLst/>
          </a:prstGeom>
          <a:solidFill>
            <a:schemeClr val="accent2"/>
          </a:solidFill>
          <a:ln w="12700">
            <a:solidFill>
              <a:schemeClr val="accent2"/>
            </a:solidFill>
            <a:prstDash val="solid"/>
          </a:ln>
        </p:spPr>
      </p:sp>
      <p:pic>
        <p:nvPicPr>
          <p:cNvPr id="13" name="Setup time icon" descr="Setup time">    </p:cNvPr>
          <p:cNvPicPr>
            <a:picLocks noChangeAspect="1"/>
          </p:cNvPicPr>
          <p:nvPr/>
        </p:nvPicPr>
        <p:blipFill>
          <a:blip r:embed="rId2"/>
          <a:stretch>
            <a:fillRect/>
          </a:stretch>
        </p:blipFill>
        <p:spPr>
          <a:xfrm>
            <a:off x="3830422" y="1864462"/>
            <a:ext cx="294437" cy="294437"/>
          </a:xfrm>
          <a:prstGeom prst="rect">
            <a:avLst/>
          </a:prstGeom>
        </p:spPr>
      </p:pic>
      <p:sp>
        <p:nvSpPr>
          <p:cNvPr id="14" name="Text 10"/>
          <p:cNvSpPr txBox="1"/>
          <p:nvPr/>
        </p:nvSpPr>
        <p:spPr>
          <a:xfrm>
            <a:off x="4434840" y="1783080"/>
            <a:ext cx="1280160" cy="457200"/>
          </a:xfrm>
          <a:prstGeom prst="rect">
            <a:avLst/>
          </a:prstGeom>
          <a:noFill/>
          <a:ln/>
        </p:spPr>
        <p:txBody>
          <a:bodyPr wrap="square" lIns="0" tIns="0" rIns="0" bIns="0" rtlCol="0" anchor="ctr"/>
          <a:lstStyle/>
          <a:p>
            <a:pPr indent="0" marL="0">
              <a:buNone/>
            </a:pPr>
            <a:r>
              <a:rPr lang="en-US" sz="2200" b="1" dirty="0">
                <a:solidFill>
                  <a:schemeClr val="accent5"/>
                </a:solidFill>
              </a:rPr>
              <a:t>H2</a:t>
            </a:r>
            <a:endParaRPr lang="en-US" sz="2200" dirty="0"/>
          </a:p>
        </p:txBody>
      </p:sp>
      <p:sp>
        <p:nvSpPr>
          <p:cNvPr id="15" name="Text 11"/>
          <p:cNvSpPr txBox="1"/>
          <p:nvPr/>
        </p:nvSpPr>
        <p:spPr>
          <a:xfrm>
            <a:off x="3657600" y="25146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Setup time</a:t>
            </a:r>
            <a:endParaRPr lang="en-US" sz="1700" dirty="0"/>
          </a:p>
        </p:txBody>
      </p:sp>
      <p:sp>
        <p:nvSpPr>
          <p:cNvPr id="16" name="Text 12"/>
          <p:cNvSpPr txBox="1"/>
          <p:nvPr/>
        </p:nvSpPr>
        <p:spPr>
          <a:xfrm>
            <a:off x="3657600" y="2971800"/>
            <a:ext cx="2194560" cy="50292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≥30% faster</a:t>
            </a:r>
            <a:endParaRPr lang="en-US" sz="2000" dirty="0"/>
          </a:p>
        </p:txBody>
      </p:sp>
      <p:sp>
        <p:nvSpPr>
          <p:cNvPr id="17" name="Text 13"/>
          <p:cNvSpPr txBox="1"/>
          <p:nvPr/>
        </p:nvSpPr>
        <p:spPr>
          <a:xfrm>
            <a:off x="3657600" y="3474720"/>
            <a:ext cx="2103120" cy="320040"/>
          </a:xfrm>
          <a:prstGeom prst="rect">
            <a:avLst/>
          </a:prstGeom>
          <a:noFill/>
          <a:ln/>
        </p:spPr>
        <p:txBody>
          <a:bodyPr wrap="square" lIns="0" tIns="0" rIns="0" bIns="0" rtlCol="0" anchor="t"/>
          <a:lstStyle/>
          <a:p>
            <a:pPr indent="0" marL="0">
              <a:buNone/>
            </a:pPr>
            <a:r>
              <a:rPr lang="en-US" sz="1400" dirty="0">
                <a:solidFill>
                  <a:schemeClr val="accent5"/>
                </a:solidFill>
              </a:rPr>
              <a:t>than the tape method</a:t>
            </a:r>
            <a:endParaRPr lang="en-US" sz="1400" dirty="0"/>
          </a:p>
        </p:txBody>
      </p:sp>
      <p:sp>
        <p:nvSpPr>
          <p:cNvPr id="18" name="Text 14"/>
          <p:cNvSpPr txBox="1"/>
          <p:nvPr/>
        </p:nvSpPr>
        <p:spPr>
          <a:xfrm>
            <a:off x="3657600" y="4069080"/>
            <a:ext cx="2103120" cy="1280160"/>
          </a:xfrm>
          <a:prstGeom prst="rect">
            <a:avLst/>
          </a:prstGeom>
          <a:noFill/>
          <a:ln/>
        </p:spPr>
        <p:txBody>
          <a:bodyPr wrap="square" lIns="0" tIns="0" rIns="0" bIns="0" rtlCol="0" anchor="t"/>
          <a:lstStyle/>
          <a:p>
            <a:pPr indent="0" marL="0">
              <a:buNone/>
            </a:pPr>
            <a:r>
              <a:rPr lang="en-US" sz="1400" dirty="0">
                <a:solidFill>
                  <a:schemeClr val="tx1"/>
                </a:solidFill>
              </a:rPr>
              <a:t>One person with TrackSeed vs the team's usual method, same track</a:t>
            </a:r>
            <a:endParaRPr lang="en-US" sz="1400" dirty="0"/>
          </a:p>
        </p:txBody>
      </p:sp>
      <p:sp>
        <p:nvSpPr>
          <p:cNvPr id="19" name="H3 card"/>
          <p:cNvSpPr/>
          <p:nvPr/>
        </p:nvSpPr>
        <p:spPr>
          <a:xfrm>
            <a:off x="6217920" y="1463040"/>
            <a:ext cx="2560320" cy="4343400"/>
          </a:xfrm>
          <a:prstGeom prst="roundRect">
            <a:avLst>
              <a:gd name="adj" fmla="val 4286"/>
            </a:avLst>
          </a:prstGeom>
          <a:solidFill>
            <a:schemeClr val="bg2"/>
          </a:solidFill>
          <a:ln w="12700">
            <a:solidFill>
              <a:schemeClr val="bg2"/>
            </a:solidFill>
            <a:prstDash val="solid"/>
          </a:ln>
        </p:spPr>
      </p:sp>
      <p:sp>
        <p:nvSpPr>
          <p:cNvPr id="20" name="Twin latency circle"/>
          <p:cNvSpPr/>
          <p:nvPr/>
        </p:nvSpPr>
        <p:spPr>
          <a:xfrm>
            <a:off x="6492240" y="1691640"/>
            <a:ext cx="640080" cy="640080"/>
          </a:xfrm>
          <a:prstGeom prst="ellipse">
            <a:avLst/>
          </a:prstGeom>
          <a:solidFill>
            <a:schemeClr val="accent3"/>
          </a:solidFill>
          <a:ln w="12700">
            <a:solidFill>
              <a:schemeClr val="accent3"/>
            </a:solidFill>
            <a:prstDash val="solid"/>
          </a:ln>
        </p:spPr>
      </p:sp>
      <p:pic>
        <p:nvPicPr>
          <p:cNvPr id="21" name="Twin latency icon" descr="Twin latency">    </p:cNvPr>
          <p:cNvPicPr>
            <a:picLocks noChangeAspect="1"/>
          </p:cNvPicPr>
          <p:nvPr/>
        </p:nvPicPr>
        <p:blipFill>
          <a:blip r:embed="rId3"/>
          <a:stretch>
            <a:fillRect/>
          </a:stretch>
        </p:blipFill>
        <p:spPr>
          <a:xfrm>
            <a:off x="6665062" y="1864462"/>
            <a:ext cx="294437" cy="294437"/>
          </a:xfrm>
          <a:prstGeom prst="rect">
            <a:avLst/>
          </a:prstGeom>
        </p:spPr>
      </p:pic>
      <p:sp>
        <p:nvSpPr>
          <p:cNvPr id="22" name="Text 17"/>
          <p:cNvSpPr txBox="1"/>
          <p:nvPr/>
        </p:nvSpPr>
        <p:spPr>
          <a:xfrm>
            <a:off x="7269480" y="1783080"/>
            <a:ext cx="1280160" cy="457200"/>
          </a:xfrm>
          <a:prstGeom prst="rect">
            <a:avLst/>
          </a:prstGeom>
          <a:noFill/>
          <a:ln/>
        </p:spPr>
        <p:txBody>
          <a:bodyPr wrap="square" lIns="0" tIns="0" rIns="0" bIns="0" rtlCol="0" anchor="ctr"/>
          <a:lstStyle/>
          <a:p>
            <a:pPr indent="0" marL="0">
              <a:buNone/>
            </a:pPr>
            <a:r>
              <a:rPr lang="en-US" sz="2200" b="1" dirty="0">
                <a:solidFill>
                  <a:schemeClr val="accent5"/>
                </a:solidFill>
              </a:rPr>
              <a:t>H3</a:t>
            </a:r>
            <a:endParaRPr lang="en-US" sz="2200" dirty="0"/>
          </a:p>
        </p:txBody>
      </p:sp>
      <p:sp>
        <p:nvSpPr>
          <p:cNvPr id="23" name="Text 18"/>
          <p:cNvSpPr txBox="1"/>
          <p:nvPr/>
        </p:nvSpPr>
        <p:spPr>
          <a:xfrm>
            <a:off x="6492240" y="25146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Twin latency</a:t>
            </a:r>
            <a:endParaRPr lang="en-US" sz="1700" dirty="0"/>
          </a:p>
        </p:txBody>
      </p:sp>
      <p:sp>
        <p:nvSpPr>
          <p:cNvPr id="24" name="Text 19"/>
          <p:cNvSpPr txBox="1"/>
          <p:nvPr/>
        </p:nvSpPr>
        <p:spPr>
          <a:xfrm>
            <a:off x="6492240" y="2971800"/>
            <a:ext cx="2194560" cy="50292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≤1 s median</a:t>
            </a:r>
            <a:endParaRPr lang="en-US" sz="2000" dirty="0"/>
          </a:p>
        </p:txBody>
      </p:sp>
      <p:sp>
        <p:nvSpPr>
          <p:cNvPr id="25" name="Text 20"/>
          <p:cNvSpPr txBox="1"/>
          <p:nvPr/>
        </p:nvSpPr>
        <p:spPr>
          <a:xfrm>
            <a:off x="6492240" y="3474720"/>
            <a:ext cx="2103120" cy="320040"/>
          </a:xfrm>
          <a:prstGeom prst="rect">
            <a:avLst/>
          </a:prstGeom>
          <a:noFill/>
          <a:ln/>
        </p:spPr>
        <p:txBody>
          <a:bodyPr wrap="square" lIns="0" tIns="0" rIns="0" bIns="0" rtlCol="0" anchor="t"/>
          <a:lstStyle/>
          <a:p>
            <a:pPr indent="0" marL="0">
              <a:buNone/>
            </a:pPr>
            <a:r>
              <a:rPr lang="en-US" sz="1400" dirty="0">
                <a:solidFill>
                  <a:schemeClr val="accent5"/>
                </a:solidFill>
              </a:rPr>
              <a:t>cone to dashboard</a:t>
            </a:r>
            <a:endParaRPr lang="en-US" sz="1400" dirty="0"/>
          </a:p>
        </p:txBody>
      </p:sp>
      <p:sp>
        <p:nvSpPr>
          <p:cNvPr id="26" name="Text 21"/>
          <p:cNvSpPr txBox="1"/>
          <p:nvPr/>
        </p:nvSpPr>
        <p:spPr>
          <a:xfrm>
            <a:off x="6492240" y="4069080"/>
            <a:ext cx="2103120" cy="1280160"/>
          </a:xfrm>
          <a:prstGeom prst="rect">
            <a:avLst/>
          </a:prstGeom>
          <a:noFill/>
          <a:ln/>
        </p:spPr>
        <p:txBody>
          <a:bodyPr wrap="square" lIns="0" tIns="0" rIns="0" bIns="0" rtlCol="0" anchor="t"/>
          <a:lstStyle/>
          <a:p>
            <a:pPr indent="0" marL="0">
              <a:buNone/>
            </a:pPr>
            <a:r>
              <a:rPr lang="en-US" sz="1400" dirty="0">
                <a:solidFill>
                  <a:schemeClr val="tx1"/>
                </a:solidFill>
              </a:rPr>
              <a:t>Timestamps on Wi-Fi and mobile data</a:t>
            </a:r>
            <a:endParaRPr lang="en-US" sz="1400" dirty="0"/>
          </a:p>
        </p:txBody>
      </p:sp>
      <p:sp>
        <p:nvSpPr>
          <p:cNvPr id="27" name="H4 card"/>
          <p:cNvSpPr/>
          <p:nvPr/>
        </p:nvSpPr>
        <p:spPr>
          <a:xfrm>
            <a:off x="9052560" y="1463040"/>
            <a:ext cx="2560320" cy="4343400"/>
          </a:xfrm>
          <a:prstGeom prst="roundRect">
            <a:avLst>
              <a:gd name="adj" fmla="val 4286"/>
            </a:avLst>
          </a:prstGeom>
          <a:solidFill>
            <a:schemeClr val="bg2"/>
          </a:solidFill>
          <a:ln w="12700">
            <a:solidFill>
              <a:schemeClr val="bg2"/>
            </a:solidFill>
            <a:prstDash val="solid"/>
          </a:ln>
        </p:spPr>
      </p:sp>
      <p:sp>
        <p:nvSpPr>
          <p:cNvPr id="28" name="Car identification circle"/>
          <p:cNvSpPr/>
          <p:nvPr/>
        </p:nvSpPr>
        <p:spPr>
          <a:xfrm>
            <a:off x="9326880" y="1691640"/>
            <a:ext cx="640080" cy="640080"/>
          </a:xfrm>
          <a:prstGeom prst="ellipse">
            <a:avLst/>
          </a:prstGeom>
          <a:solidFill>
            <a:schemeClr val="accent4"/>
          </a:solidFill>
          <a:ln w="12700">
            <a:solidFill>
              <a:schemeClr val="accent4"/>
            </a:solidFill>
            <a:prstDash val="solid"/>
          </a:ln>
        </p:spPr>
      </p:sp>
      <p:pic>
        <p:nvPicPr>
          <p:cNvPr id="29" name="Car identification icon" descr="Car identification">    </p:cNvPr>
          <p:cNvPicPr>
            <a:picLocks noChangeAspect="1"/>
          </p:cNvPicPr>
          <p:nvPr/>
        </p:nvPicPr>
        <p:blipFill>
          <a:blip r:embed="rId4"/>
          <a:stretch>
            <a:fillRect/>
          </a:stretch>
        </p:blipFill>
        <p:spPr>
          <a:xfrm>
            <a:off x="9499702" y="1864462"/>
            <a:ext cx="294437" cy="294437"/>
          </a:xfrm>
          <a:prstGeom prst="rect">
            <a:avLst/>
          </a:prstGeom>
        </p:spPr>
      </p:pic>
      <p:sp>
        <p:nvSpPr>
          <p:cNvPr id="30" name="Text 24"/>
          <p:cNvSpPr txBox="1"/>
          <p:nvPr/>
        </p:nvSpPr>
        <p:spPr>
          <a:xfrm>
            <a:off x="10104120" y="1783080"/>
            <a:ext cx="1280160" cy="457200"/>
          </a:xfrm>
          <a:prstGeom prst="rect">
            <a:avLst/>
          </a:prstGeom>
          <a:noFill/>
          <a:ln/>
        </p:spPr>
        <p:txBody>
          <a:bodyPr wrap="square" lIns="0" tIns="0" rIns="0" bIns="0" rtlCol="0" anchor="ctr"/>
          <a:lstStyle/>
          <a:p>
            <a:pPr indent="0" marL="0">
              <a:buNone/>
            </a:pPr>
            <a:r>
              <a:rPr lang="en-US" sz="2200" b="1" dirty="0">
                <a:solidFill>
                  <a:schemeClr val="accent5"/>
                </a:solidFill>
              </a:rPr>
              <a:t>H4</a:t>
            </a:r>
            <a:endParaRPr lang="en-US" sz="2200" dirty="0"/>
          </a:p>
        </p:txBody>
      </p:sp>
      <p:sp>
        <p:nvSpPr>
          <p:cNvPr id="31" name="Text 25"/>
          <p:cNvSpPr txBox="1"/>
          <p:nvPr/>
        </p:nvSpPr>
        <p:spPr>
          <a:xfrm>
            <a:off x="9326880" y="25146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Car identification</a:t>
            </a:r>
            <a:endParaRPr lang="en-US" sz="1700" dirty="0"/>
          </a:p>
        </p:txBody>
      </p:sp>
      <p:sp>
        <p:nvSpPr>
          <p:cNvPr id="32" name="Text 26"/>
          <p:cNvSpPr txBox="1"/>
          <p:nvPr/>
        </p:nvSpPr>
        <p:spPr>
          <a:xfrm>
            <a:off x="9326880" y="2971800"/>
            <a:ext cx="2194560" cy="50292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≥95% accuracy</a:t>
            </a:r>
            <a:endParaRPr lang="en-US" sz="2000" dirty="0"/>
          </a:p>
        </p:txBody>
      </p:sp>
      <p:sp>
        <p:nvSpPr>
          <p:cNvPr id="33" name="Text 27"/>
          <p:cNvSpPr txBox="1"/>
          <p:nvPr/>
        </p:nvSpPr>
        <p:spPr>
          <a:xfrm>
            <a:off x="9326880" y="3474720"/>
            <a:ext cx="2103120" cy="320040"/>
          </a:xfrm>
          <a:prstGeom prst="rect">
            <a:avLst/>
          </a:prstGeom>
          <a:noFill/>
          <a:ln/>
        </p:spPr>
        <p:txBody>
          <a:bodyPr wrap="square" lIns="0" tIns="0" rIns="0" bIns="0" rtlCol="0" anchor="t"/>
          <a:lstStyle/>
          <a:p>
            <a:pPr indent="0" marL="0">
              <a:buNone/>
            </a:pPr>
            <a:r>
              <a:rPr lang="en-US" sz="1400" dirty="0">
                <a:solidFill>
                  <a:schemeClr val="accent5"/>
                </a:solidFill>
              </a:rPr>
              <a:t>≤100 ms on the phone</a:t>
            </a:r>
            <a:endParaRPr lang="en-US" sz="1400" dirty="0"/>
          </a:p>
        </p:txBody>
      </p:sp>
      <p:sp>
        <p:nvSpPr>
          <p:cNvPr id="34" name="Text 28"/>
          <p:cNvSpPr txBox="1"/>
          <p:nvPr/>
        </p:nvSpPr>
        <p:spPr>
          <a:xfrm>
            <a:off x="9326880" y="4069080"/>
            <a:ext cx="2103120" cy="1280160"/>
          </a:xfrm>
          <a:prstGeom prst="rect">
            <a:avLst/>
          </a:prstGeom>
          <a:noFill/>
          <a:ln/>
        </p:spPr>
        <p:txBody>
          <a:bodyPr wrap="square" lIns="0" tIns="0" rIns="0" bIns="0" rtlCol="0" anchor="t"/>
          <a:lstStyle/>
          <a:p>
            <a:pPr indent="0" marL="0">
              <a:buNone/>
            </a:pPr>
            <a:r>
              <a:rPr lang="en-US" sz="1400" dirty="0">
                <a:solidFill>
                  <a:schemeClr val="tx1"/>
                </a:solidFill>
              </a:rPr>
              <a:t>Self-made dataset, held-out test days only</a:t>
            </a:r>
            <a:endParaRPr lang="en-US" sz="1400" dirty="0"/>
          </a:p>
        </p:txBody>
      </p:sp>
      <p:sp>
        <p:nvSpPr>
          <p:cNvPr id="35" name="Text 2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All success indicators are provisional and will be reviewed after the first field test</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Risks and plan</a:t>
            </a:r>
            <a:endParaRPr lang="en-US" sz="3600" dirty="0"/>
          </a:p>
        </p:txBody>
      </p:sp>
      <p:sp>
        <p:nvSpPr>
          <p:cNvPr id="3" name="Text 1"/>
          <p:cNvSpPr txBox="1"/>
          <p:nvPr/>
        </p:nvSpPr>
        <p:spPr>
          <a:xfrm>
            <a:off x="548640" y="1417320"/>
            <a:ext cx="4572000" cy="411480"/>
          </a:xfrm>
          <a:prstGeom prst="rect">
            <a:avLst/>
          </a:prstGeom>
          <a:noFill/>
          <a:ln/>
        </p:spPr>
        <p:txBody>
          <a:bodyPr wrap="square" lIns="0" tIns="0" rIns="0" bIns="0" rtlCol="0" anchor="t"/>
          <a:lstStyle/>
          <a:p>
            <a:pPr indent="0" marL="0">
              <a:buNone/>
            </a:pPr>
            <a:r>
              <a:rPr lang="en-US" sz="2000" b="1" dirty="0">
                <a:solidFill>
                  <a:schemeClr val="tx1"/>
                </a:solidFill>
              </a:rPr>
              <a:t>Main risks</a:t>
            </a:r>
            <a:endParaRPr lang="en-US" sz="2000" dirty="0"/>
          </a:p>
        </p:txBody>
      </p:sp>
      <p:sp>
        <p:nvSpPr>
          <p:cNvPr id="4" name="risk 0 circle"/>
          <p:cNvSpPr/>
          <p:nvPr/>
        </p:nvSpPr>
        <p:spPr>
          <a:xfrm>
            <a:off x="548640" y="2011680"/>
            <a:ext cx="502920" cy="502920"/>
          </a:xfrm>
          <a:prstGeom prst="ellipse">
            <a:avLst/>
          </a:prstGeom>
          <a:solidFill>
            <a:schemeClr val="accent6"/>
          </a:solidFill>
          <a:ln w="12700">
            <a:solidFill>
              <a:schemeClr val="accent6"/>
            </a:solidFill>
            <a:prstDash val="solid"/>
          </a:ln>
        </p:spPr>
      </p:sp>
      <p:pic>
        <p:nvPicPr>
          <p:cNvPr id="5" name="risk 0 icon" descr="risk 0">    </p:cNvPr>
          <p:cNvPicPr>
            <a:picLocks noChangeAspect="1"/>
          </p:cNvPicPr>
          <p:nvPr/>
        </p:nvPicPr>
        <p:blipFill>
          <a:blip r:embed="rId1"/>
          <a:stretch>
            <a:fillRect/>
          </a:stretch>
        </p:blipFill>
        <p:spPr>
          <a:xfrm>
            <a:off x="684428" y="2147468"/>
            <a:ext cx="231343" cy="231343"/>
          </a:xfrm>
          <a:prstGeom prst="rect">
            <a:avLst/>
          </a:prstGeom>
        </p:spPr>
      </p:pic>
      <p:sp>
        <p:nvSpPr>
          <p:cNvPr id="6" name="Text 3"/>
          <p:cNvSpPr txBox="1"/>
          <p:nvPr/>
        </p:nvSpPr>
        <p:spPr>
          <a:xfrm>
            <a:off x="1234440" y="2011680"/>
            <a:ext cx="4206240" cy="502920"/>
          </a:xfrm>
          <a:prstGeom prst="rect">
            <a:avLst/>
          </a:prstGeom>
          <a:noFill/>
          <a:ln/>
        </p:spPr>
        <p:txBody>
          <a:bodyPr wrap="square" lIns="0" tIns="0" rIns="0" bIns="0" rtlCol="0" anchor="ctr"/>
          <a:lstStyle/>
          <a:p>
            <a:pPr indent="0" marL="0">
              <a:buNone/>
            </a:pPr>
            <a:r>
              <a:rPr lang="en-US" sz="1500" dirty="0">
                <a:solidFill>
                  <a:schemeClr val="tx1"/>
                </a:solidFill>
              </a:rPr>
              <a:t>Drift on low-texture asphalt; not measured in any study</a:t>
            </a:r>
            <a:endParaRPr lang="en-US" sz="1500" dirty="0"/>
          </a:p>
        </p:txBody>
      </p:sp>
      <p:sp>
        <p:nvSpPr>
          <p:cNvPr id="7" name="risk 1 circle"/>
          <p:cNvSpPr/>
          <p:nvPr/>
        </p:nvSpPr>
        <p:spPr>
          <a:xfrm>
            <a:off x="548640" y="2761488"/>
            <a:ext cx="502920" cy="502920"/>
          </a:xfrm>
          <a:prstGeom prst="ellipse">
            <a:avLst/>
          </a:prstGeom>
          <a:solidFill>
            <a:schemeClr val="accent6"/>
          </a:solidFill>
          <a:ln w="12700">
            <a:solidFill>
              <a:schemeClr val="accent6"/>
            </a:solidFill>
            <a:prstDash val="solid"/>
          </a:ln>
        </p:spPr>
      </p:sp>
      <p:pic>
        <p:nvPicPr>
          <p:cNvPr id="8" name="risk 1 icon" descr="risk 1">    </p:cNvPr>
          <p:cNvPicPr>
            <a:picLocks noChangeAspect="1"/>
          </p:cNvPicPr>
          <p:nvPr/>
        </p:nvPicPr>
        <p:blipFill>
          <a:blip r:embed="rId2"/>
          <a:stretch>
            <a:fillRect/>
          </a:stretch>
        </p:blipFill>
        <p:spPr>
          <a:xfrm>
            <a:off x="684428" y="2897276"/>
            <a:ext cx="231343" cy="231343"/>
          </a:xfrm>
          <a:prstGeom prst="rect">
            <a:avLst/>
          </a:prstGeom>
        </p:spPr>
      </p:pic>
      <p:sp>
        <p:nvSpPr>
          <p:cNvPr id="9" name="Text 5"/>
          <p:cNvSpPr txBox="1"/>
          <p:nvPr/>
        </p:nvSpPr>
        <p:spPr>
          <a:xfrm>
            <a:off x="1234440" y="2761488"/>
            <a:ext cx="4206240" cy="502920"/>
          </a:xfrm>
          <a:prstGeom prst="rect">
            <a:avLst/>
          </a:prstGeom>
          <a:noFill/>
          <a:ln/>
        </p:spPr>
        <p:txBody>
          <a:bodyPr wrap="square" lIns="0" tIns="0" rIns="0" bIns="0" rtlCol="0" anchor="ctr"/>
          <a:lstStyle/>
          <a:p>
            <a:pPr indent="0" marL="0">
              <a:buNone/>
            </a:pPr>
            <a:r>
              <a:rPr lang="en-US" sz="1500" dirty="0">
                <a:solidFill>
                  <a:schemeClr val="tx1"/>
                </a:solidFill>
              </a:rPr>
              <a:t>Outdoor light, screen glare and winter rain</a:t>
            </a:r>
            <a:endParaRPr lang="en-US" sz="1500" dirty="0"/>
          </a:p>
        </p:txBody>
      </p:sp>
      <p:sp>
        <p:nvSpPr>
          <p:cNvPr id="10" name="risk 2 circle"/>
          <p:cNvSpPr/>
          <p:nvPr/>
        </p:nvSpPr>
        <p:spPr>
          <a:xfrm>
            <a:off x="548640" y="3511296"/>
            <a:ext cx="502920" cy="502920"/>
          </a:xfrm>
          <a:prstGeom prst="ellipse">
            <a:avLst/>
          </a:prstGeom>
          <a:solidFill>
            <a:schemeClr val="accent6"/>
          </a:solidFill>
          <a:ln w="12700">
            <a:solidFill>
              <a:schemeClr val="accent6"/>
            </a:solidFill>
            <a:prstDash val="solid"/>
          </a:ln>
        </p:spPr>
      </p:sp>
      <p:pic>
        <p:nvPicPr>
          <p:cNvPr id="11" name="risk 2 icon" descr="risk 2">    </p:cNvPr>
          <p:cNvPicPr>
            <a:picLocks noChangeAspect="1"/>
          </p:cNvPicPr>
          <p:nvPr/>
        </p:nvPicPr>
        <p:blipFill>
          <a:blip r:embed="rId3"/>
          <a:stretch>
            <a:fillRect/>
          </a:stretch>
        </p:blipFill>
        <p:spPr>
          <a:xfrm>
            <a:off x="684428" y="3647084"/>
            <a:ext cx="231343" cy="231343"/>
          </a:xfrm>
          <a:prstGeom prst="rect">
            <a:avLst/>
          </a:prstGeom>
        </p:spPr>
      </p:pic>
      <p:sp>
        <p:nvSpPr>
          <p:cNvPr id="12" name="Text 7"/>
          <p:cNvSpPr txBox="1"/>
          <p:nvPr/>
        </p:nvSpPr>
        <p:spPr>
          <a:xfrm>
            <a:off x="1234440" y="3511296"/>
            <a:ext cx="4206240" cy="502920"/>
          </a:xfrm>
          <a:prstGeom prst="rect">
            <a:avLst/>
          </a:prstGeom>
          <a:noFill/>
          <a:ln/>
        </p:spPr>
        <p:txBody>
          <a:bodyPr wrap="square" lIns="0" tIns="0" rIns="0" bIns="0" rtlCol="0" anchor="ctr"/>
          <a:lstStyle/>
          <a:p>
            <a:pPr indent="0" marL="0">
              <a:buNone/>
            </a:pPr>
            <a:r>
              <a:rPr lang="en-US" sz="1500" dirty="0">
                <a:solidFill>
                  <a:schemeClr val="tx1"/>
                </a:solidFill>
              </a:rPr>
              <a:t>Cone data come from car-mounted cameras</a:t>
            </a:r>
            <a:endParaRPr lang="en-US" sz="1500" dirty="0"/>
          </a:p>
        </p:txBody>
      </p:sp>
      <p:sp>
        <p:nvSpPr>
          <p:cNvPr id="13" name="risk 3 circle"/>
          <p:cNvSpPr/>
          <p:nvPr/>
        </p:nvSpPr>
        <p:spPr>
          <a:xfrm>
            <a:off x="548640" y="4261104"/>
            <a:ext cx="502920" cy="502920"/>
          </a:xfrm>
          <a:prstGeom prst="ellipse">
            <a:avLst/>
          </a:prstGeom>
          <a:solidFill>
            <a:schemeClr val="accent6"/>
          </a:solidFill>
          <a:ln w="12700">
            <a:solidFill>
              <a:schemeClr val="accent6"/>
            </a:solidFill>
            <a:prstDash val="solid"/>
          </a:ln>
        </p:spPr>
      </p:sp>
      <p:pic>
        <p:nvPicPr>
          <p:cNvPr id="14" name="risk 3 icon" descr="risk 3">    </p:cNvPr>
          <p:cNvPicPr>
            <a:picLocks noChangeAspect="1"/>
          </p:cNvPicPr>
          <p:nvPr/>
        </p:nvPicPr>
        <p:blipFill>
          <a:blip r:embed="rId4"/>
          <a:stretch>
            <a:fillRect/>
          </a:stretch>
        </p:blipFill>
        <p:spPr>
          <a:xfrm>
            <a:off x="684428" y="4396892"/>
            <a:ext cx="231343" cy="231343"/>
          </a:xfrm>
          <a:prstGeom prst="rect">
            <a:avLst/>
          </a:prstGeom>
        </p:spPr>
      </p:pic>
      <p:sp>
        <p:nvSpPr>
          <p:cNvPr id="15" name="Text 9"/>
          <p:cNvSpPr txBox="1"/>
          <p:nvPr/>
        </p:nvSpPr>
        <p:spPr>
          <a:xfrm>
            <a:off x="1234440" y="4261104"/>
            <a:ext cx="4206240" cy="502920"/>
          </a:xfrm>
          <a:prstGeom prst="rect">
            <a:avLst/>
          </a:prstGeom>
          <a:noFill/>
          <a:ln/>
        </p:spPr>
        <p:txBody>
          <a:bodyPr wrap="square" lIns="0" tIns="0" rIns="0" bIns="0" rtlCol="0" anchor="ctr"/>
          <a:lstStyle/>
          <a:p>
            <a:pPr indent="0" marL="0">
              <a:buNone/>
            </a:pPr>
            <a:r>
              <a:rPr lang="en-US" sz="1500" dirty="0">
                <a:solidFill>
                  <a:schemeClr val="tx1"/>
                </a:solidFill>
              </a:rPr>
              <a:t>Small car dataset; similar-looking cars</a:t>
            </a:r>
            <a:endParaRPr lang="en-US" sz="1500" dirty="0"/>
          </a:p>
        </p:txBody>
      </p:sp>
      <p:sp>
        <p:nvSpPr>
          <p:cNvPr id="16" name="risk 4 circle"/>
          <p:cNvSpPr/>
          <p:nvPr/>
        </p:nvSpPr>
        <p:spPr>
          <a:xfrm>
            <a:off x="548640" y="5010912"/>
            <a:ext cx="502920" cy="502920"/>
          </a:xfrm>
          <a:prstGeom prst="ellipse">
            <a:avLst/>
          </a:prstGeom>
          <a:solidFill>
            <a:schemeClr val="accent6"/>
          </a:solidFill>
          <a:ln w="12700">
            <a:solidFill>
              <a:schemeClr val="accent6"/>
            </a:solidFill>
            <a:prstDash val="solid"/>
          </a:ln>
        </p:spPr>
      </p:sp>
      <p:pic>
        <p:nvPicPr>
          <p:cNvPr id="17" name="risk 4 icon" descr="risk 4">    </p:cNvPr>
          <p:cNvPicPr>
            <a:picLocks noChangeAspect="1"/>
          </p:cNvPicPr>
          <p:nvPr/>
        </p:nvPicPr>
        <p:blipFill>
          <a:blip r:embed="rId5"/>
          <a:stretch>
            <a:fillRect/>
          </a:stretch>
        </p:blipFill>
        <p:spPr>
          <a:xfrm>
            <a:off x="684428" y="5146700"/>
            <a:ext cx="231343" cy="231343"/>
          </a:xfrm>
          <a:prstGeom prst="rect">
            <a:avLst/>
          </a:prstGeom>
        </p:spPr>
      </p:pic>
      <p:sp>
        <p:nvSpPr>
          <p:cNvPr id="18" name="Text 11"/>
          <p:cNvSpPr txBox="1"/>
          <p:nvPr/>
        </p:nvSpPr>
        <p:spPr>
          <a:xfrm>
            <a:off x="1234440" y="5010912"/>
            <a:ext cx="4206240" cy="502920"/>
          </a:xfrm>
          <a:prstGeom prst="rect">
            <a:avLst/>
          </a:prstGeom>
          <a:noFill/>
          <a:ln/>
        </p:spPr>
        <p:txBody>
          <a:bodyPr wrap="square" lIns="0" tIns="0" rIns="0" bIns="0" rtlCol="0" anchor="ctr"/>
          <a:lstStyle/>
          <a:p>
            <a:pPr indent="0" marL="0">
              <a:buNone/>
            </a:pPr>
            <a:r>
              <a:rPr lang="en-US" sz="1500" dirty="0">
                <a:solidFill>
                  <a:schemeClr val="tx1"/>
                </a:solidFill>
              </a:rPr>
              <a:t>User looks at the screen while walking: closed track only</a:t>
            </a:r>
            <a:endParaRPr lang="en-US" sz="1500" dirty="0"/>
          </a:p>
        </p:txBody>
      </p:sp>
      <p:sp>
        <p:nvSpPr>
          <p:cNvPr id="19" name="Text 12"/>
          <p:cNvSpPr txBox="1"/>
          <p:nvPr/>
        </p:nvSpPr>
        <p:spPr>
          <a:xfrm>
            <a:off x="6035040" y="1417320"/>
            <a:ext cx="4572000" cy="411480"/>
          </a:xfrm>
          <a:prstGeom prst="rect">
            <a:avLst/>
          </a:prstGeom>
          <a:noFill/>
          <a:ln/>
        </p:spPr>
        <p:txBody>
          <a:bodyPr wrap="square" lIns="0" tIns="0" rIns="0" bIns="0" rtlCol="0" anchor="t"/>
          <a:lstStyle/>
          <a:p>
            <a:pPr indent="0" marL="0">
              <a:buNone/>
            </a:pPr>
            <a:r>
              <a:rPr lang="en-US" sz="2000" b="1" dirty="0">
                <a:solidFill>
                  <a:schemeClr val="tx1"/>
                </a:solidFill>
              </a:rPr>
              <a:t>Plan</a:t>
            </a:r>
            <a:endParaRPr lang="en-US" sz="2000" dirty="0"/>
          </a:p>
        </p:txBody>
      </p:sp>
      <p:sp>
        <p:nvSpPr>
          <p:cNvPr id="20" name="timeline"/>
          <p:cNvSpPr/>
          <p:nvPr/>
        </p:nvSpPr>
        <p:spPr>
          <a:xfrm>
            <a:off x="6446520" y="2240280"/>
            <a:ext cx="0" cy="3017520"/>
          </a:xfrm>
          <a:prstGeom prst="line">
            <a:avLst/>
          </a:prstGeom>
          <a:noFill/>
          <a:ln w="19050">
            <a:solidFill>
              <a:srgbClr val="6B7580"/>
            </a:solidFill>
            <a:prstDash val="solid"/>
          </a:ln>
        </p:spPr>
      </p:sp>
      <p:sp>
        <p:nvSpPr>
          <p:cNvPr id="21" name="Oct dot"/>
          <p:cNvSpPr/>
          <p:nvPr/>
        </p:nvSpPr>
        <p:spPr>
          <a:xfrm>
            <a:off x="6035040" y="2011680"/>
            <a:ext cx="822960" cy="822960"/>
          </a:xfrm>
          <a:prstGeom prst="ellipse">
            <a:avLst/>
          </a:prstGeom>
          <a:solidFill>
            <a:schemeClr val="accent1"/>
          </a:solidFill>
          <a:ln w="38100">
            <a:solidFill>
              <a:srgbClr val="FFFFFF"/>
            </a:solidFill>
            <a:prstDash val="solid"/>
          </a:ln>
        </p:spPr>
      </p:sp>
      <p:sp>
        <p:nvSpPr>
          <p:cNvPr id="22" name="Text 15"/>
          <p:cNvSpPr txBox="1"/>
          <p:nvPr/>
        </p:nvSpPr>
        <p:spPr>
          <a:xfrm>
            <a:off x="6035040" y="20116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Oct</a:t>
            </a:r>
            <a:endParaRPr lang="en-US" sz="1600" dirty="0"/>
          </a:p>
        </p:txBody>
      </p:sp>
      <p:sp>
        <p:nvSpPr>
          <p:cNvPr id="23" name="Text 16"/>
          <p:cNvSpPr txBox="1"/>
          <p:nvPr/>
        </p:nvSpPr>
        <p:spPr>
          <a:xfrm>
            <a:off x="7086600" y="2011680"/>
            <a:ext cx="4526280" cy="822960"/>
          </a:xfrm>
          <a:prstGeom prst="rect">
            <a:avLst/>
          </a:prstGeom>
          <a:noFill/>
          <a:ln/>
        </p:spPr>
        <p:txBody>
          <a:bodyPr wrap="square" lIns="0" tIns="0" rIns="0" bIns="0" rtlCol="0" anchor="ctr"/>
          <a:lstStyle/>
          <a:p>
            <a:pPr indent="0" marL="0">
              <a:buNone/>
            </a:pPr>
            <a:r>
              <a:rPr lang="en-US" sz="1500" dirty="0">
                <a:solidFill>
                  <a:schemeClr val="tx1"/>
                </a:solidFill>
              </a:rPr>
              <a:t>Track format, AR alignment on a skidpad, start collecting car images</a:t>
            </a:r>
            <a:endParaRPr lang="en-US" sz="1500" dirty="0"/>
          </a:p>
        </p:txBody>
      </p:sp>
      <p:sp>
        <p:nvSpPr>
          <p:cNvPr id="24" name="Nov dot"/>
          <p:cNvSpPr/>
          <p:nvPr/>
        </p:nvSpPr>
        <p:spPr>
          <a:xfrm>
            <a:off x="6035040" y="2999232"/>
            <a:ext cx="822960" cy="822960"/>
          </a:xfrm>
          <a:prstGeom prst="ellipse">
            <a:avLst/>
          </a:prstGeom>
          <a:solidFill>
            <a:schemeClr val="accent2"/>
          </a:solidFill>
          <a:ln w="38100">
            <a:solidFill>
              <a:srgbClr val="FFFFFF"/>
            </a:solidFill>
            <a:prstDash val="solid"/>
          </a:ln>
        </p:spPr>
      </p:sp>
      <p:sp>
        <p:nvSpPr>
          <p:cNvPr id="25" name="Text 18"/>
          <p:cNvSpPr txBox="1"/>
          <p:nvPr/>
        </p:nvSpPr>
        <p:spPr>
          <a:xfrm>
            <a:off x="6035040" y="2999232"/>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Nov</a:t>
            </a:r>
            <a:endParaRPr lang="en-US" sz="1600" dirty="0"/>
          </a:p>
        </p:txBody>
      </p:sp>
      <p:sp>
        <p:nvSpPr>
          <p:cNvPr id="26" name="Text 19"/>
          <p:cNvSpPr txBox="1"/>
          <p:nvPr/>
        </p:nvSpPr>
        <p:spPr>
          <a:xfrm>
            <a:off x="7086600" y="2999232"/>
            <a:ext cx="4526280" cy="822960"/>
          </a:xfrm>
          <a:prstGeom prst="rect">
            <a:avLst/>
          </a:prstGeom>
          <a:noFill/>
          <a:ln/>
        </p:spPr>
        <p:txBody>
          <a:bodyPr wrap="square" lIns="0" tIns="0" rIns="0" bIns="0" rtlCol="0" anchor="ctr"/>
          <a:lstStyle/>
          <a:p>
            <a:pPr indent="0" marL="0">
              <a:buNone/>
            </a:pPr>
            <a:r>
              <a:rPr lang="en-US" sz="1500" dirty="0">
                <a:solidFill>
                  <a:schemeClr val="tx1"/>
                </a:solidFill>
              </a:rPr>
              <a:t>Cone verification, car classifier, cloud platform and sync</a:t>
            </a:r>
            <a:endParaRPr lang="en-US" sz="1500" dirty="0"/>
          </a:p>
        </p:txBody>
      </p:sp>
      <p:sp>
        <p:nvSpPr>
          <p:cNvPr id="27" name="Dec dot"/>
          <p:cNvSpPr/>
          <p:nvPr/>
        </p:nvSpPr>
        <p:spPr>
          <a:xfrm>
            <a:off x="6035040" y="3986784"/>
            <a:ext cx="822960" cy="822960"/>
          </a:xfrm>
          <a:prstGeom prst="ellipse">
            <a:avLst/>
          </a:prstGeom>
          <a:solidFill>
            <a:schemeClr val="accent3"/>
          </a:solidFill>
          <a:ln w="38100">
            <a:solidFill>
              <a:srgbClr val="FFFFFF"/>
            </a:solidFill>
            <a:prstDash val="solid"/>
          </a:ln>
        </p:spPr>
      </p:sp>
      <p:sp>
        <p:nvSpPr>
          <p:cNvPr id="28" name="Text 21"/>
          <p:cNvSpPr txBox="1"/>
          <p:nvPr/>
        </p:nvSpPr>
        <p:spPr>
          <a:xfrm>
            <a:off x="6035040" y="3986784"/>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Dec</a:t>
            </a:r>
            <a:endParaRPr lang="en-US" sz="1600" dirty="0"/>
          </a:p>
        </p:txBody>
      </p:sp>
      <p:sp>
        <p:nvSpPr>
          <p:cNvPr id="29" name="Text 22"/>
          <p:cNvSpPr txBox="1"/>
          <p:nvPr/>
        </p:nvSpPr>
        <p:spPr>
          <a:xfrm>
            <a:off x="7086600" y="3986784"/>
            <a:ext cx="4526280" cy="822960"/>
          </a:xfrm>
          <a:prstGeom prst="rect">
            <a:avLst/>
          </a:prstGeom>
          <a:noFill/>
          <a:ln/>
        </p:spPr>
        <p:txBody>
          <a:bodyPr wrap="square" lIns="0" tIns="0" rIns="0" bIns="0" rtlCol="0" anchor="ctr"/>
          <a:lstStyle/>
          <a:p>
            <a:pPr indent="0" marL="0">
              <a:buNone/>
            </a:pPr>
            <a:r>
              <a:rPr lang="en-US" sz="1500" dirty="0">
                <a:solidFill>
                  <a:schemeClr val="tx1"/>
                </a:solidFill>
              </a:rPr>
              <a:t>Dashboard twin, full autocross tests</a:t>
            </a:r>
            <a:endParaRPr lang="en-US" sz="1500" dirty="0"/>
          </a:p>
        </p:txBody>
      </p:sp>
      <p:sp>
        <p:nvSpPr>
          <p:cNvPr id="30" name="Jan dot"/>
          <p:cNvSpPr/>
          <p:nvPr/>
        </p:nvSpPr>
        <p:spPr>
          <a:xfrm>
            <a:off x="6035040" y="4974336"/>
            <a:ext cx="822960" cy="822960"/>
          </a:xfrm>
          <a:prstGeom prst="ellipse">
            <a:avLst/>
          </a:prstGeom>
          <a:solidFill>
            <a:schemeClr val="accent4"/>
          </a:solidFill>
          <a:ln w="38100">
            <a:solidFill>
              <a:srgbClr val="FFFFFF"/>
            </a:solidFill>
            <a:prstDash val="solid"/>
          </a:ln>
        </p:spPr>
      </p:sp>
      <p:sp>
        <p:nvSpPr>
          <p:cNvPr id="31" name="Text 24"/>
          <p:cNvSpPr txBox="1"/>
          <p:nvPr/>
        </p:nvSpPr>
        <p:spPr>
          <a:xfrm>
            <a:off x="6035040" y="4974336"/>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Jan</a:t>
            </a:r>
            <a:endParaRPr lang="en-US" sz="1600" dirty="0"/>
          </a:p>
        </p:txBody>
      </p:sp>
      <p:sp>
        <p:nvSpPr>
          <p:cNvPr id="32" name="Text 25"/>
          <p:cNvSpPr txBox="1"/>
          <p:nvPr/>
        </p:nvSpPr>
        <p:spPr>
          <a:xfrm>
            <a:off x="7086600" y="4974336"/>
            <a:ext cx="4526280" cy="822960"/>
          </a:xfrm>
          <a:prstGeom prst="rect">
            <a:avLst/>
          </a:prstGeom>
          <a:noFill/>
          <a:ln/>
        </p:spPr>
        <p:txBody>
          <a:bodyPr wrap="square" lIns="0" tIns="0" rIns="0" bIns="0" rtlCol="0" anchor="ctr"/>
          <a:lstStyle/>
          <a:p>
            <a:pPr indent="0" marL="0">
              <a:buNone/>
            </a:pPr>
            <a:r>
              <a:rPr lang="en-US" sz="1500" dirty="0">
                <a:solidFill>
                  <a:schemeClr val="tx1"/>
                </a:solidFill>
              </a:rPr>
              <a:t>Validation and report</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lIns="0" tIns="0" rIns="0" bIns="0" rtlCol="0" anchor="ctr"/>
          <a:lstStyle/>
          <a:p>
            <a:pPr indent="0" marL="0">
              <a:buNone/>
            </a:pPr>
            <a:r>
              <a:rPr lang="en-US" sz="4000" b="1" dirty="0">
                <a:solidFill>
                  <a:schemeClr val="bg1"/>
                </a:solidFill>
                <a:latin typeface="Arial" pitchFamily="34" charset="0"/>
                <a:ea typeface="Arial" pitchFamily="34" charset="-122"/>
                <a:cs typeface="Arial" pitchFamily="34" charset="-120"/>
              </a:rPr>
              <a:t>Takeaways</a:t>
            </a:r>
            <a:endParaRPr lang="en-US" sz="4000" dirty="0"/>
          </a:p>
        </p:txBody>
      </p:sp>
      <p:sp>
        <p:nvSpPr>
          <p:cNvPr id="3" name="Phone AR is feasible but unproven at track scale circle"/>
          <p:cNvSpPr/>
          <p:nvPr/>
        </p:nvSpPr>
        <p:spPr>
          <a:xfrm>
            <a:off x="640080" y="1600200"/>
            <a:ext cx="777240" cy="777240"/>
          </a:xfrm>
          <a:prstGeom prst="ellipse">
            <a:avLst/>
          </a:prstGeom>
          <a:solidFill>
            <a:schemeClr val="accent2"/>
          </a:solidFill>
          <a:ln w="12700">
            <a:solidFill>
              <a:schemeClr val="accent2"/>
            </a:solidFill>
            <a:prstDash val="solid"/>
          </a:ln>
        </p:spPr>
      </p:sp>
      <p:pic>
        <p:nvPicPr>
          <p:cNvPr id="4" name="Phone AR is feasible but unproven at track scale icon" descr="Phone AR is feasible but unproven at track scale">    </p:cNvPr>
          <p:cNvPicPr>
            <a:picLocks noChangeAspect="1"/>
          </p:cNvPicPr>
          <p:nvPr/>
        </p:nvPicPr>
        <p:blipFill>
          <a:blip r:embed="rId1"/>
          <a:stretch>
            <a:fillRect/>
          </a:stretch>
        </p:blipFill>
        <p:spPr>
          <a:xfrm>
            <a:off x="849935" y="1810055"/>
            <a:ext cx="357530" cy="357530"/>
          </a:xfrm>
          <a:prstGeom prst="rect">
            <a:avLst/>
          </a:prstGeom>
        </p:spPr>
      </p:pic>
      <p:sp>
        <p:nvSpPr>
          <p:cNvPr id="5" name="Text 2"/>
          <p:cNvSpPr txBox="1"/>
          <p:nvPr/>
        </p:nvSpPr>
        <p:spPr>
          <a:xfrm>
            <a:off x="1691640" y="1600200"/>
            <a:ext cx="9601200" cy="411480"/>
          </a:xfrm>
          <a:prstGeom prst="rect">
            <a:avLst/>
          </a:prstGeom>
          <a:noFill/>
          <a:ln/>
        </p:spPr>
        <p:txBody>
          <a:bodyPr wrap="square" lIns="0" tIns="0" rIns="0" bIns="0" rtlCol="0" anchor="t"/>
          <a:lstStyle/>
          <a:p>
            <a:pPr indent="0" marL="0">
              <a:buNone/>
            </a:pPr>
            <a:r>
              <a:rPr lang="en-US" sz="2100" b="1" dirty="0">
                <a:solidFill>
                  <a:schemeClr val="bg1"/>
                </a:solidFill>
              </a:rPr>
              <a:t>Phone AR is feasible but unproven at track scale</a:t>
            </a:r>
            <a:endParaRPr lang="en-US" sz="2100" dirty="0"/>
          </a:p>
        </p:txBody>
      </p:sp>
      <p:sp>
        <p:nvSpPr>
          <p:cNvPr id="6" name="Text 3"/>
          <p:cNvSpPr txBox="1"/>
          <p:nvPr/>
        </p:nvSpPr>
        <p:spPr>
          <a:xfrm>
            <a:off x="1691640" y="2029968"/>
            <a:ext cx="9601200" cy="411480"/>
          </a:xfrm>
          <a:prstGeom prst="rect">
            <a:avLst/>
          </a:prstGeom>
          <a:noFill/>
          <a:ln/>
        </p:spPr>
        <p:txBody>
          <a:bodyPr wrap="square" lIns="0" tIns="0" rIns="0" bIns="0" rtlCol="0" anchor="t"/>
          <a:lstStyle/>
          <a:p>
            <a:pPr indent="0" marL="0">
              <a:buNone/>
            </a:pPr>
            <a:r>
              <a:rPr lang="en-US" sz="1600" dirty="0">
                <a:solidFill>
                  <a:schemeClr val="bg2"/>
                </a:solidFill>
              </a:rPr>
              <a:t>Error grows with distance, so we align on two markers and re-align along the track</a:t>
            </a:r>
            <a:endParaRPr lang="en-US" sz="1600" dirty="0"/>
          </a:p>
        </p:txBody>
      </p:sp>
      <p:sp>
        <p:nvSpPr>
          <p:cNvPr id="7" name="A true two-way digital twin circle"/>
          <p:cNvSpPr/>
          <p:nvPr/>
        </p:nvSpPr>
        <p:spPr>
          <a:xfrm>
            <a:off x="640080" y="2788920"/>
            <a:ext cx="777240" cy="777240"/>
          </a:xfrm>
          <a:prstGeom prst="ellipse">
            <a:avLst/>
          </a:prstGeom>
          <a:solidFill>
            <a:schemeClr val="accent3"/>
          </a:solidFill>
          <a:ln w="12700">
            <a:solidFill>
              <a:schemeClr val="accent3"/>
            </a:solidFill>
            <a:prstDash val="solid"/>
          </a:ln>
        </p:spPr>
      </p:sp>
      <p:pic>
        <p:nvPicPr>
          <p:cNvPr id="8" name="A true two-way digital twin icon" descr="A true two-way digital twin">    </p:cNvPr>
          <p:cNvPicPr>
            <a:picLocks noChangeAspect="1"/>
          </p:cNvPicPr>
          <p:nvPr/>
        </p:nvPicPr>
        <p:blipFill>
          <a:blip r:embed="rId2"/>
          <a:stretch>
            <a:fillRect/>
          </a:stretch>
        </p:blipFill>
        <p:spPr>
          <a:xfrm>
            <a:off x="849935" y="2998775"/>
            <a:ext cx="357530" cy="357530"/>
          </a:xfrm>
          <a:prstGeom prst="rect">
            <a:avLst/>
          </a:prstGeom>
        </p:spPr>
      </p:pic>
      <p:sp>
        <p:nvSpPr>
          <p:cNvPr id="9" name="Text 5"/>
          <p:cNvSpPr txBox="1"/>
          <p:nvPr/>
        </p:nvSpPr>
        <p:spPr>
          <a:xfrm>
            <a:off x="1691640" y="2788920"/>
            <a:ext cx="9601200" cy="411480"/>
          </a:xfrm>
          <a:prstGeom prst="rect">
            <a:avLst/>
          </a:prstGeom>
          <a:noFill/>
          <a:ln/>
        </p:spPr>
        <p:txBody>
          <a:bodyPr wrap="square" lIns="0" tIns="0" rIns="0" bIns="0" rtlCol="0" anchor="t"/>
          <a:lstStyle/>
          <a:p>
            <a:pPr indent="0" marL="0">
              <a:buNone/>
            </a:pPr>
            <a:r>
              <a:rPr lang="en-US" sz="2100" b="1" dirty="0">
                <a:solidFill>
                  <a:schemeClr val="bg1"/>
                </a:solidFill>
              </a:rPr>
              <a:t>A true two-way digital twin</a:t>
            </a:r>
            <a:endParaRPr lang="en-US" sz="2100" dirty="0"/>
          </a:p>
        </p:txBody>
      </p:sp>
      <p:sp>
        <p:nvSpPr>
          <p:cNvPr id="10" name="Text 6"/>
          <p:cNvSpPr txBox="1"/>
          <p:nvPr/>
        </p:nvSpPr>
        <p:spPr>
          <a:xfrm>
            <a:off x="1691640" y="3218688"/>
            <a:ext cx="9601200" cy="411480"/>
          </a:xfrm>
          <a:prstGeom prst="rect">
            <a:avLst/>
          </a:prstGeom>
          <a:noFill/>
          <a:ln/>
        </p:spPr>
        <p:txBody>
          <a:bodyPr wrap="square" lIns="0" tIns="0" rIns="0" bIns="0" rtlCol="0" anchor="t"/>
          <a:lstStyle/>
          <a:p>
            <a:pPr indent="0" marL="0">
              <a:buNone/>
            </a:pPr>
            <a:r>
              <a:rPr lang="en-US" sz="1600" dirty="0">
                <a:solidFill>
                  <a:schemeClr val="bg2"/>
                </a:solidFill>
              </a:rPr>
              <a:t>Confirmed cones reach the dashboard; dashboard edits reach the phone over WebSocket</a:t>
            </a:r>
            <a:endParaRPr lang="en-US" sz="1600" dirty="0"/>
          </a:p>
        </p:txBody>
      </p:sp>
      <p:sp>
        <p:nvSpPr>
          <p:cNvPr id="11" name="Two on-device vision tasks circle"/>
          <p:cNvSpPr/>
          <p:nvPr/>
        </p:nvSpPr>
        <p:spPr>
          <a:xfrm>
            <a:off x="640080" y="3977640"/>
            <a:ext cx="777240" cy="777240"/>
          </a:xfrm>
          <a:prstGeom prst="ellipse">
            <a:avLst/>
          </a:prstGeom>
          <a:solidFill>
            <a:schemeClr val="accent4"/>
          </a:solidFill>
          <a:ln w="12700">
            <a:solidFill>
              <a:schemeClr val="accent4"/>
            </a:solidFill>
            <a:prstDash val="solid"/>
          </a:ln>
        </p:spPr>
      </p:sp>
      <p:pic>
        <p:nvPicPr>
          <p:cNvPr id="12" name="Two on-device vision tasks icon" descr="Two on-device vision tasks">    </p:cNvPr>
          <p:cNvPicPr>
            <a:picLocks noChangeAspect="1"/>
          </p:cNvPicPr>
          <p:nvPr/>
        </p:nvPicPr>
        <p:blipFill>
          <a:blip r:embed="rId3"/>
          <a:stretch>
            <a:fillRect/>
          </a:stretch>
        </p:blipFill>
        <p:spPr>
          <a:xfrm>
            <a:off x="849935" y="4187495"/>
            <a:ext cx="357530" cy="357530"/>
          </a:xfrm>
          <a:prstGeom prst="rect">
            <a:avLst/>
          </a:prstGeom>
        </p:spPr>
      </p:pic>
      <p:sp>
        <p:nvSpPr>
          <p:cNvPr id="13" name="Text 8"/>
          <p:cNvSpPr txBox="1"/>
          <p:nvPr/>
        </p:nvSpPr>
        <p:spPr>
          <a:xfrm>
            <a:off x="1691640" y="3977640"/>
            <a:ext cx="9601200" cy="411480"/>
          </a:xfrm>
          <a:prstGeom prst="rect">
            <a:avLst/>
          </a:prstGeom>
          <a:noFill/>
          <a:ln/>
        </p:spPr>
        <p:txBody>
          <a:bodyPr wrap="square" lIns="0" tIns="0" rIns="0" bIns="0" rtlCol="0" anchor="t"/>
          <a:lstStyle/>
          <a:p>
            <a:pPr indent="0" marL="0">
              <a:buNone/>
            </a:pPr>
            <a:r>
              <a:rPr lang="en-US" sz="2100" b="1" dirty="0">
                <a:solidFill>
                  <a:schemeClr val="bg1"/>
                </a:solidFill>
              </a:rPr>
              <a:t>Two on-device vision tasks</a:t>
            </a:r>
            <a:endParaRPr lang="en-US" sz="2100" dirty="0"/>
          </a:p>
        </p:txBody>
      </p:sp>
      <p:sp>
        <p:nvSpPr>
          <p:cNvPr id="14" name="Text 9"/>
          <p:cNvSpPr txBox="1"/>
          <p:nvPr/>
        </p:nvSpPr>
        <p:spPr>
          <a:xfrm>
            <a:off x="1691640" y="4407408"/>
            <a:ext cx="9601200" cy="411480"/>
          </a:xfrm>
          <a:prstGeom prst="rect">
            <a:avLst/>
          </a:prstGeom>
          <a:noFill/>
          <a:ln/>
        </p:spPr>
        <p:txBody>
          <a:bodyPr wrap="square" lIns="0" tIns="0" rIns="0" bIns="0" rtlCol="0" anchor="t"/>
          <a:lstStyle/>
          <a:p>
            <a:pPr indent="0" marL="0">
              <a:buNone/>
            </a:pPr>
            <a:r>
              <a:rPr lang="en-US" sz="1600" dirty="0">
                <a:solidFill>
                  <a:schemeClr val="bg2"/>
                </a:solidFill>
              </a:rPr>
              <a:t>Cone verification and car identification from a self-made dataset</a:t>
            </a:r>
            <a:endParaRPr lang="en-US" sz="1600" dirty="0"/>
          </a:p>
        </p:txBody>
      </p:sp>
      <p:sp>
        <p:nvSpPr>
          <p:cNvPr id="15" name="Text 10"/>
          <p:cNvSpPr txBox="1"/>
          <p:nvPr/>
        </p:nvSpPr>
        <p:spPr>
          <a:xfrm>
            <a:off x="640080" y="5257800"/>
            <a:ext cx="8686800" cy="457200"/>
          </a:xfrm>
          <a:prstGeom prst="rect">
            <a:avLst/>
          </a:prstGeom>
          <a:noFill/>
          <a:ln/>
        </p:spPr>
        <p:txBody>
          <a:bodyPr wrap="square" lIns="0" tIns="0" rIns="0" bIns="0" rtlCol="0" anchor="t"/>
          <a:lstStyle/>
          <a:p>
            <a:pPr indent="0" marL="0">
              <a:buNone/>
            </a:pPr>
            <a:r>
              <a:rPr lang="en-US" sz="1600" b="1" dirty="0">
                <a:solidFill>
                  <a:schemeClr val="accent2"/>
                </a:solidFill>
              </a:rPr>
              <a:t>Next: </a:t>
            </a:r>
            <a:pPr indent="0" marL="0">
              <a:buNone/>
            </a:pPr>
            <a:r>
              <a:rPr lang="en-US" sz="1600" dirty="0">
                <a:solidFill>
                  <a:schemeClr val="bg1"/>
                </a:solidFill>
              </a:rPr>
              <a:t>AR alignment on a skidpad, measure drift on our test site, collect car images every test day.</a:t>
            </a:r>
            <a:endParaRPr lang="en-US" sz="1600" dirty="0"/>
          </a:p>
        </p:txBody>
      </p:sp>
      <p:sp>
        <p:nvSpPr>
          <p:cNvPr id="16" name="Text 11"/>
          <p:cNvSpPr txBox="1"/>
          <p:nvPr/>
        </p:nvSpPr>
        <p:spPr>
          <a:xfrm>
            <a:off x="9052560" y="5074920"/>
            <a:ext cx="2560320" cy="731520"/>
          </a:xfrm>
          <a:prstGeom prst="rect">
            <a:avLst/>
          </a:prstGeom>
          <a:noFill/>
          <a:ln/>
        </p:spPr>
        <p:txBody>
          <a:bodyPr wrap="square" lIns="0" tIns="0" rIns="0" bIns="0" rtlCol="0" anchor="ctr"/>
          <a:lstStyle/>
          <a:p>
            <a:pPr algn="r" indent="0" marL="0">
              <a:buNone/>
            </a:pPr>
            <a:r>
              <a:rPr lang="en-US" sz="3200" b="1" dirty="0">
                <a:solidFill>
                  <a:schemeClr val="bg1"/>
                </a:solidFill>
                <a:latin typeface="Arial" pitchFamily="34" charset="0"/>
                <a:ea typeface="Arial" pitchFamily="34" charset="-122"/>
                <a:cs typeface="Arial" pitchFamily="34" charset="-120"/>
              </a:rPr>
              <a:t>Questions?</a:t>
            </a:r>
            <a:endParaRPr lang="en-US" sz="3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rackSeed">
  <a:themeElements>
    <a:clrScheme name="TrackSeed">
      <a:dk1>
        <a:srgbClr val="1E2226"/>
      </a:dk1>
      <a:lt1>
        <a:srgbClr val="FFFFFF"/>
      </a:lt1>
      <a:dk2>
        <a:srgbClr val="2B3036"/>
      </a:dk2>
      <a:lt2>
        <a:srgbClr val="F1F3F5"/>
      </a:lt2>
      <a:accent1>
        <a:srgbClr val="1F5FBF"/>
      </a:accent1>
      <a:accent2>
        <a:srgbClr val="D9A400"/>
      </a:accent2>
      <a:accent3>
        <a:srgbClr val="E8701A"/>
      </a:accent3>
      <a:accent4>
        <a:srgbClr val="2E8B57"/>
      </a:accent4>
      <a:accent5>
        <a:srgbClr val="6B7580"/>
      </a:accent5>
      <a:accent6>
        <a:srgbClr val="C0392B"/>
      </a:accent6>
      <a:hlink>
        <a:srgbClr val="1F5FBF"/>
      </a:hlink>
      <a:folHlink>
        <a:srgbClr val="6B4FA0"/>
      </a:folHlink>
    </a:clrScheme>
    <a:fontScheme name="TrackSe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TrackSeed</dc:title>
  <dc:subject>PptxGenJS Presentation</dc:subject>
  <dc:creator>André Lopes, Tomás Santos</dc:creator>
  <cp:lastModifiedBy>André Lopes, Tomás Santos</cp:lastModifiedBy>
  <cp:revision>1</cp:revision>
  <dcterms:created xsi:type="dcterms:W3CDTF">2026-10-23T14:35:23Z</dcterms:created>
  <dcterms:modified xsi:type="dcterms:W3CDTF">2026-10-23T14:35:23Z</dcterms:modified>
</cp:coreProperties>
</file>