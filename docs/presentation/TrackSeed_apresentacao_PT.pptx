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242C04C-6015-DA36-1CAB-7C22A16376BA}">
          <p14:sldIdLst>
            <p14:sldId id="256"/>
            <p14:sldId id="257"/>
            <p14:sldId id="258"/>
          </p14:sldIdLst>
        </p14:section>
        <p14:section name="State of the art" id="{575FD0B1-9D31-98F8-F3EB-3D1B9568DFE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oposal" id="{CC4646D4-D74B-E030-4BBE-101194B56976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226"/>
                </a:solidFill>
                <a:latin typeface="+mn-lt"/>
              </a:defRPr>
            </a:pPr>
            <a:r>
              <a:rPr lang="pt-BR" sz="1400" b="0" i="0" u="none" strike="noStrike" dirty="0">
                <a:solidFill>
                  <a:srgbClr val="1E2226"/>
                </a:solidFill>
                <a:latin typeface="+mn-lt"/>
              </a:rPr>
              <a:t>Colocação de infraestruturas em exterior, 32 estudantes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devices</c:v>
                </c:pt>
              </c:strCache>
            </c:strRef>
          </c:tx>
          <c:spPr>
            <a:solidFill>
              <a:srgbClr val="6B7580"/>
            </a:solidFill>
            <a:effectLst/>
          </c:spPr>
          <c:invertIfNegative val="0"/>
          <c:dLbls>
            <c:numFmt formatCode="0.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HoloLens 2</c:v>
                </c:pt>
                <c:pt idx="1">
                  <c:v>Trimble SiteVision (GNSS)</c:v>
                </c:pt>
                <c:pt idx="2">
                  <c:v>iPad Pro</c:v>
                </c:pt>
                <c:pt idx="3">
                  <c:v>iPhone 13 Pro Max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8.3000000000000007</c:v>
                </c:pt>
                <c:pt idx="1">
                  <c:v>8.9</c:v>
                </c:pt>
                <c:pt idx="2">
                  <c:v>9.1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FA-4E3D-913A-16909AA0E3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Phone</c:v>
                </c:pt>
              </c:strCache>
            </c:strRef>
          </c:tx>
          <c:spPr>
            <a:solidFill>
              <a:srgbClr val="E8701A"/>
            </a:solidFill>
            <a:effectLst/>
          </c:spPr>
          <c:invertIfNegative val="0"/>
          <c:dLbls>
            <c:numFmt formatCode="0.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HoloLens 2</c:v>
                </c:pt>
                <c:pt idx="1">
                  <c:v>Trimble SiteVision (GNSS)</c:v>
                </c:pt>
                <c:pt idx="2">
                  <c:v>iPad Pro</c:v>
                </c:pt>
                <c:pt idx="3">
                  <c:v>iPhone 13 Pro Max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FA-4E3D-913A-16909AA0E34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226"/>
                </a:solidFill>
                <a:latin typeface="+mn-lt"/>
              </a:defRPr>
            </a:pPr>
            <a:endParaRPr lang="pt-P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t"/>
        <c:majorGridlines>
          <c:spPr>
            <a:ln w="9525" cap="flat">
              <a:solidFill>
                <a:srgbClr val="E1E4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580"/>
                    </a:solidFill>
                    <a:latin typeface="+mn-lt"/>
                  </a:defRPr>
                </a:pPr>
                <a:r>
                  <a:rPr lang="pt-BR" sz="1200" b="0" i="0" u="none" strike="noStrike">
                    <a:solidFill>
                      <a:srgbClr val="6B7580"/>
                    </a:solidFill>
                    <a:latin typeface="+mn-lt"/>
                  </a:rPr>
                  <a:t>Erro médio de colocação em exterior (cm)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80"/>
                </a:solidFill>
                <a:latin typeface="+mn-lt"/>
              </a:defRPr>
            </a:pPr>
            <a:endParaRPr lang="pt-PT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2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15 segundos. Apresentarmo-nos e apresentar o projeto: o TrackSeed permite a uma só pessoa marcar uma pista de Formula Student com realidade aumentada num telemóvel, enquanto um digital twin da pista acompanha a colocação em tempo real na cloud. Esta apresentação aborda o problema, o que diz a literatura, as decisões de conceção que daí resultam e como as vamos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Uma pista de Formula Student existe apenas como cones coloridos: azuis à esquerda, amarelos à direita, laranja nas vias, laranja grandes na partida e na chegada, no máximo a 5 m uns dos outros. Na nossa equipa marcamo-los à mão, com fita métrica e trigonometria. São precisas várias pessoas, perde-se tempo de testes e não há verificação: um cone errado só é corrigido se alguém reparar. Para um carro autónomo isto importa, porque a perceção e o planeamento da trajetória assentam nesses cones; um traçado errado altera o problema e torna difícil comparar dias de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Antes do dia de testes, o responsável da equipa carrega o plano. No terreno, uma pessoa alinha-o lendo dois marcadores e depois percorre a pista enquanto o telemóvel mostra cada cone em RA. Quando um cone é pousado, um modelo no dispositivo verifica-o e o resultado segue para a cloud. O responsável acompanha o digital twin em tempo real no dashboard e pode editá-lo, o que atualiza a orientação no telemóvel. Antes da sessão, o telemóvel identifica que carro da equipa vai rodar e gera um relatório. RVA fornece a RA e o digital twin; TEI fornece a cloud, a sincronização e a visão no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45 segundos. Pesquisámos no Google Scholar e nas bibliotecas das editoras em outubro de 2026, com strings de pesquisa construídas a partir dos conceitos principais, e seguimos as referências. Mantivemos 24 fontes: 18 com revisão por pares, um preprint e cinco especificações ou documentos oficiais, que usámos apenas para capacidades e regras, não como evidência de desempenho. Uma limitação à partida: quase ninguém estudou a marcação de pistas, por isso a maior parte da evidência vem da implantação em construção, que é a tarefa mais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 e 15. A evidência mais próxima é a implantação em construção. Kim e Olsen pediram a 32 estudantes que colocassem objetos no exterior onde viam tubagens virtuais e mediram-nos com uma estação total. O HoloLens 2 foi o melhor, com 8,3 cm; o iPhone foi o pior, com cerca de 16 cm. Em interior, Chalhoub e Ayer obtiveram cerca de 5 cm com um HoloLens e um marcador em papel, pior à medida que se afastavam do marcador. A nossa tolerância provisória é de 25 cm, 5% do espaçamento máximo de 5 m entre cones. Os 16 cm do telemóvel cabem, mas gastam a maior parte dessa margem, numa área muito menor do que uma pista e antes de qualquer deriva. A orientação em RA é viável, mas não está comprovada à escala de uma pista.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Os estudos parecem discordar, metros contra centímetros, mas a diferença é a escala. Feigl et al. percorreram até 60 m num pavilhão grande e encontraram cerca de 17 m de erro por cada 120 m. Scargill et al. mediram apenas à escala de uma sala: alguns centímetros, e o ARCore derivou menos do que o ARKit quando o utilizador se afastou e voltou. Também encontraram mais deriva em cenas com pouca textura, o que é um risco no asfalto. O RTK GNSS num telemóvel chega a 1 a 2 cm sem deriva, mas requer um serviço de correções. Conclusão: temos de realinhar ao longo da pista.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O termo digital twin é muitas vezes usado de forma vaga. Kritzinger et al. distinguem três casos: um digital model, sem troca automática de dados; uma digital shadow, atualizada automaticamente a partir do objeto físico; e um digital twin, em que os dados fluem automaticamente nos dois sentidos. No TrackSeed, os cones confirmados chegam ao dashboard automaticamente, e as edições no dashboard chegam ao telemóvel e alteram a orientação. Mas o cone físico não se move sozinho: é uma pessoa que o move. Por isso, sendo honestos, o TrackSeed fica entre uma digital shadow e um digital twin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Na sincronização, a única comparação controlada concluiu que o MQTT tinha maior débito e usava menos recursos, enquanto o WebSocket tinha menor latência. Enviamos uma mensagem pequena por cone; o MQTT também chega ao browser por WebSocket, por isso o que decide é a menor latência e não precisar de um broker. Como a cobertura de rede no campo não é garantida, o telemóvel guarda cada cone confirmado e reenvia a fila quando a ligação volta; sem rede, a marcação continua com o plano descarregado e o dashboard atualiza depois. Na inferência, enviar frames para a cloud acrescenta latência e risco de privacidade, e os telemóveis já têm aceleradores capazes, por isso os dois modelos correm no telemóvel e a cloud apenas os retreina.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 e 15. Além da verificação dos cones, a nossa principal tarefa de visão computacional é classificar que carro da equipa está a ser usado, para associar cada sessão ao seu veículo. É um problema de classificação fina: no CompCars, a exatidão dependia muito do ponto de vista. Nenhum dataset público tem os nossos carros, por isso criamos o nosso: fotografias e frames de vídeo de cada carro, de todos os ângulos, em vários dias, mais uma classe desconhecida. Com poucos dados, a resposta habitual é a aprendizagem por transferência: afinamos uma rede do tipo MobileNetV2 pré-treinada e corremo-la no telemóvel. Dividimos por dia de teste, para que o resultado reflita um dia novo e não fundos memorizados.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A lacuna: nenhum estudo testou a marcação com telemóvel numa pista completa, e nenhum combina orientação, verificação de cada objeto, identificação do veículo e um digital twin em tempo real. Cada conclusão leva a uma decisão: o erro dependente da distância leva ao alinhamento em dois pontos e aos marcadores de realinhamento; o ARCore derivou menos do que o ARKit, por isso o Android nativo não perde em seguimento; a comparação de protocolos leva ao WebSocket com fila de reenvio; a inferência no dispositivo mantém os modelos no telemóvel; e a aprendizagem por transferência, juntamente com o efeito do ponto de vista, define o dataset de carros.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Porque não um único marcador na linha de partida? Porque fixa a orientação de todo o plano a partir de algo com menos de um metro de largura. Um erro de orientação de apenas um grau desloca um cone a 200 m em cerca de 3,5 m, antes da deriva. Dois marcadores bem afastados fixam a posição e a orientação em conjunto; Nunes et al. mostraram que usar dois marcadores reduz significativamente o erro angular de um só. Mais marcadores ao longo da pista limitam a deriva à distância entre eles. O RTK fica como extensão opcional, e a Geospatial API é rejeitada porque não há evidência de que atinja exatidão centimétrica. O espaçamento entre marcadores será definido com testes no terreno.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Três componentes. A app Android faz o alinhamento e a orientação em RA, a verificação dos cones, o reconhecimento do carro e o armazenamento offline; o seguimento e a inferência ficam no telemóvel. A cloud, em contentores Docker, tem a API REST, o serviço de sincronização WebSocket, o estado do digital twin, o dataset de carros e o repositório de modelos. O dashboard mostra e edita o digital twin. Os cones confirmados fluem para a direita; as edições e as atualizações de modelos regressam para a esquerda. As etiquetas indicam a unidade curricular responsável por cada parte. Fora do âmbito: vários telemóveis em simultâneo, iOS e a Geospatial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Quatro hipóteses. H1, a questão que a literatura deixa em aberto: a marcação com telemóvel e realinhamento mantém os cones dentro da tolerância numa pista completa; mediana no máximo de 15 cm e nenhum acima de 25. H2: uma pessoa com o TrackSeed é pelo menos 30% mais rápida do que o nosso método com fita métrica, medido em tempo e em pessoas-minuto, porque o método atual precisa de várias pessoas. H3: um cone confirmado aparece no dashboard em cerca de um segundo. H4: o classificador de carros atinge pelo menos 95% de exatidão em dias de teste que nunca viu, em menos de 100 ms no telemóvel. Cada teste repete-se em pelo menos três dias e, ao contrário dos estudos revistos, decorre numa pista completa, no seu ambiente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1 minuto. O principal risco técnico é a exatidão com a distância, e ninguém mediu a RA em telemóvel sobre asfalto, que tem pouca textura. A verificação dos cones mede o desvio com o mesmo seguimento de RA que guia a colocação, por isso apanha cores erradas, cones em falta e erros de colocação, mas não a deriva; só medições independentes a revelam. A luz exterior, os reflexos e a chuva podem afetar tanto o seguimento como os modelos de visão; os dados de cones vêm de câmaras montadas em carros, não de um telemóvel na mão; e o dataset de carros é pequeno, com carros parecidos, por isso dividimos por dia de teste. Segurança: o utilizador olha para o ecrã enquanto caminha, por isso é só para pistas fechadas. O plano vai do alinhamento em RA em outubro à validação em janeiro, recolhendo imagens dos carros em todos os dias de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Cerca de 45 segundos. Em resumo: a literatura mostra que a colocação com RA em telemóvel é viável, mas não está comprovada à escala de uma pista, por isso alinhamos em dois marcadores e realinhamos. O digital twin acompanha a colocação em tempo real e as edições chegam ao telemóvel como orientação, embora seja uma pessoa a mover o cone. E há duas tarefas de visão no dispositivo, sendo a identificação do carro a principal, treinada com o nosso próprio dataset. A seguir implementamos o alinhamento num skidpad, medimos a deriva no nosso local e continuamos a recolher imagens dos carros. Obrigado, estamos disponíveis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PT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94560" cy="10300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10312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pt-PT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pt-PT" sz="5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52044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pt-PT" sz="22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pt-PT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pt-PT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dirty="0">
                <a:solidFill>
                  <a:schemeClr val="accent5"/>
                </a:solidFill>
              </a:rPr>
              <a:t>TrackSeed  ·  RVA / TEI  ·  2026/2027</a:t>
            </a:r>
            <a:endParaRPr lang="pt-PT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pt-PT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pt-PT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103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pt-PT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TrackSeed</a:t>
            </a:r>
            <a:endParaRPr lang="pt-PT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520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200" dirty="0">
                <a:solidFill>
                  <a:schemeClr val="bg1"/>
                </a:solidFill>
              </a:rPr>
              <a:t>Colocação de cones com RA e digital twin da pista para a Formula Student</a:t>
            </a:r>
            <a:endParaRPr lang="pt-PT" sz="2200" dirty="0"/>
          </a:p>
          <a:p>
            <a:pPr marL="0" indent="0">
              <a:buNone/>
            </a:pPr>
            <a:r>
              <a:rPr lang="pt-PT" sz="1800" dirty="0">
                <a:solidFill>
                  <a:schemeClr val="bg2"/>
                </a:solidFill>
              </a:rPr>
              <a:t>Estado da arte e proposta de projeto</a:t>
            </a:r>
            <a:endParaRPr lang="pt-PT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bg1"/>
                </a:solidFill>
              </a:rPr>
              <a:t>André Lopes  ·  Tomás Santos</a:t>
            </a:r>
            <a:endParaRPr lang="pt-PT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bg2"/>
                </a:solidFill>
              </a:rPr>
              <a:t>Tecnologias Emergentes e Inteligentes  ·  Realidade Virtual e Aumentada  ·  2026/2027</a:t>
            </a:r>
            <a:endParaRPr lang="pt-PT" sz="1400" dirty="0"/>
          </a:p>
        </p:txBody>
      </p:sp>
      <p:sp>
        <p:nvSpPr>
          <p:cNvPr id="6" name="title cone 0"/>
          <p:cNvSpPr/>
          <p:nvPr/>
        </p:nvSpPr>
        <p:spPr>
          <a:xfrm>
            <a:off x="9052560" y="5349240"/>
            <a:ext cx="292608" cy="45720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cone 0 base"/>
          <p:cNvSpPr/>
          <p:nvPr/>
        </p:nvSpPr>
        <p:spPr>
          <a:xfrm>
            <a:off x="9017447" y="5788152"/>
            <a:ext cx="362834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tle cone 1"/>
          <p:cNvSpPr/>
          <p:nvPr/>
        </p:nvSpPr>
        <p:spPr>
          <a:xfrm>
            <a:off x="9509760" y="5349240"/>
            <a:ext cx="292608" cy="45720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cone 1 base"/>
          <p:cNvSpPr/>
          <p:nvPr/>
        </p:nvSpPr>
        <p:spPr>
          <a:xfrm>
            <a:off x="9474647" y="5788152"/>
            <a:ext cx="362834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cone 2"/>
          <p:cNvSpPr/>
          <p:nvPr/>
        </p:nvSpPr>
        <p:spPr>
          <a:xfrm>
            <a:off x="9966960" y="5349240"/>
            <a:ext cx="292608" cy="457200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cone 2 base"/>
          <p:cNvSpPr/>
          <p:nvPr/>
        </p:nvSpPr>
        <p:spPr>
          <a:xfrm>
            <a:off x="9931847" y="5788152"/>
            <a:ext cx="362834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 cone 3"/>
          <p:cNvSpPr/>
          <p:nvPr/>
        </p:nvSpPr>
        <p:spPr>
          <a:xfrm>
            <a:off x="10424160" y="5349240"/>
            <a:ext cx="292608" cy="45720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itle cone 3 base"/>
          <p:cNvSpPr/>
          <p:nvPr/>
        </p:nvSpPr>
        <p:spPr>
          <a:xfrm>
            <a:off x="10389047" y="5788152"/>
            <a:ext cx="362834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tle cone 4"/>
          <p:cNvSpPr/>
          <p:nvPr/>
        </p:nvSpPr>
        <p:spPr>
          <a:xfrm>
            <a:off x="10881360" y="5349240"/>
            <a:ext cx="292608" cy="45720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itle cone 4 base"/>
          <p:cNvSpPr/>
          <p:nvPr/>
        </p:nvSpPr>
        <p:spPr>
          <a:xfrm>
            <a:off x="10846247" y="5788152"/>
            <a:ext cx="362834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itle cone 5"/>
          <p:cNvSpPr/>
          <p:nvPr/>
        </p:nvSpPr>
        <p:spPr>
          <a:xfrm>
            <a:off x="11338560" y="5349240"/>
            <a:ext cx="292608" cy="457200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itle cone 5 base"/>
          <p:cNvSpPr/>
          <p:nvPr/>
        </p:nvSpPr>
        <p:spPr>
          <a:xfrm>
            <a:off x="11303447" y="5788152"/>
            <a:ext cx="362834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pista é apenas um padrão de cones</a:t>
            </a:r>
            <a:endParaRPr lang="pt-PT" sz="3600" dirty="0"/>
          </a:p>
        </p:txBody>
      </p:sp>
      <p:sp>
        <p:nvSpPr>
          <p:cNvPr id="3" name="cone spec card"/>
          <p:cNvSpPr/>
          <p:nvPr/>
        </p:nvSpPr>
        <p:spPr>
          <a:xfrm>
            <a:off x="548640" y="1463040"/>
            <a:ext cx="512064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tx1"/>
                </a:solidFill>
              </a:rPr>
              <a:t>Especificação FS Driverless 2026</a:t>
            </a:r>
            <a:endParaRPr lang="pt-PT" sz="1800" dirty="0"/>
          </a:p>
        </p:txBody>
      </p:sp>
      <p:sp>
        <p:nvSpPr>
          <p:cNvPr id="5" name="Small blue cone"/>
          <p:cNvSpPr/>
          <p:nvPr/>
        </p:nvSpPr>
        <p:spPr>
          <a:xfrm>
            <a:off x="1005840" y="2450592"/>
            <a:ext cx="292608" cy="457200"/>
          </a:xfrm>
          <a:prstGeom prst="triangl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mall blue cone base"/>
          <p:cNvSpPr/>
          <p:nvPr/>
        </p:nvSpPr>
        <p:spPr>
          <a:xfrm>
            <a:off x="970727" y="2889504"/>
            <a:ext cx="362834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60020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tx1"/>
                </a:solidFill>
              </a:rPr>
              <a:t>Azul pequeno: </a:t>
            </a:r>
            <a:r>
              <a:rPr lang="pt-PT" sz="1600" dirty="0">
                <a:solidFill>
                  <a:schemeClr val="tx1"/>
                </a:solidFill>
              </a:rPr>
              <a:t>limite esquerdo</a:t>
            </a:r>
            <a:endParaRPr lang="pt-PT" sz="1600" dirty="0"/>
          </a:p>
        </p:txBody>
      </p:sp>
      <p:sp>
        <p:nvSpPr>
          <p:cNvPr id="8" name="Small yellow cone"/>
          <p:cNvSpPr/>
          <p:nvPr/>
        </p:nvSpPr>
        <p:spPr>
          <a:xfrm>
            <a:off x="1005840" y="3227832"/>
            <a:ext cx="292608" cy="45720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mall yellow cone base"/>
          <p:cNvSpPr/>
          <p:nvPr/>
        </p:nvSpPr>
        <p:spPr>
          <a:xfrm>
            <a:off x="970727" y="3666744"/>
            <a:ext cx="362834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60020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tx1"/>
                </a:solidFill>
              </a:rPr>
              <a:t>Amarelo pequeno: </a:t>
            </a:r>
            <a:r>
              <a:rPr lang="pt-PT" sz="1600" dirty="0">
                <a:solidFill>
                  <a:schemeClr val="tx1"/>
                </a:solidFill>
              </a:rPr>
              <a:t>limite direito</a:t>
            </a:r>
            <a:endParaRPr lang="pt-PT" sz="1600" dirty="0"/>
          </a:p>
        </p:txBody>
      </p:sp>
      <p:sp>
        <p:nvSpPr>
          <p:cNvPr id="11" name="Small orange cone"/>
          <p:cNvSpPr/>
          <p:nvPr/>
        </p:nvSpPr>
        <p:spPr>
          <a:xfrm>
            <a:off x="1005840" y="4005072"/>
            <a:ext cx="292608" cy="457200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mall orange cone base"/>
          <p:cNvSpPr/>
          <p:nvPr/>
        </p:nvSpPr>
        <p:spPr>
          <a:xfrm>
            <a:off x="970727" y="4443984"/>
            <a:ext cx="362834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60020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tx1"/>
                </a:solidFill>
              </a:rPr>
              <a:t>Laranja pequeno: </a:t>
            </a:r>
            <a:r>
              <a:rPr lang="pt-PT" sz="1600" dirty="0">
                <a:solidFill>
                  <a:schemeClr val="tx1"/>
                </a:solidFill>
              </a:rPr>
              <a:t>vias de entrada e saída</a:t>
            </a:r>
            <a:endParaRPr lang="pt-PT" sz="1600" dirty="0"/>
          </a:p>
        </p:txBody>
      </p:sp>
      <p:sp>
        <p:nvSpPr>
          <p:cNvPr id="14" name="Big orange cone"/>
          <p:cNvSpPr/>
          <p:nvPr/>
        </p:nvSpPr>
        <p:spPr>
          <a:xfrm>
            <a:off x="960120" y="4617720"/>
            <a:ext cx="384048" cy="621792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ig orange cone base"/>
          <p:cNvSpPr/>
          <p:nvPr/>
        </p:nvSpPr>
        <p:spPr>
          <a:xfrm>
            <a:off x="914034" y="5221224"/>
            <a:ext cx="476220" cy="74615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600200" y="4754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tx1"/>
                </a:solidFill>
              </a:rPr>
              <a:t>Laranja grande: </a:t>
            </a:r>
            <a:r>
              <a:rPr lang="pt-PT" sz="1600" dirty="0">
                <a:solidFill>
                  <a:schemeClr val="tx1"/>
                </a:solidFill>
              </a:rPr>
              <a:t>linhas de partida, chegada e cronometragem</a:t>
            </a:r>
            <a:endParaRPr lang="pt-PT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i="1" dirty="0">
                <a:solidFill>
                  <a:schemeClr val="accent5"/>
                </a:solidFill>
              </a:rPr>
              <a:t>No máximo 5 m entre cones; menos nas curvas</a:t>
            </a:r>
            <a:endParaRPr lang="pt-PT" sz="1400" dirty="0"/>
          </a:p>
        </p:txBody>
      </p:sp>
      <p:sp>
        <p:nvSpPr>
          <p:cNvPr id="18" name="Tape and trigonometry circle"/>
          <p:cNvSpPr/>
          <p:nvPr/>
        </p:nvSpPr>
        <p:spPr>
          <a:xfrm>
            <a:off x="6217920" y="15087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Tape and trigonometry icon" descr="Tape and trigonome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42" y="1681582"/>
            <a:ext cx="294437" cy="29443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086600" y="1490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tx1"/>
                </a:solidFill>
              </a:rPr>
              <a:t>Fita métrica e trigonometria</a:t>
            </a:r>
            <a:endParaRPr lang="pt-PT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1837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O plano é transposto para o terreno à mão</a:t>
            </a:r>
            <a:endParaRPr lang="pt-PT" sz="1500" dirty="0"/>
          </a:p>
        </p:txBody>
      </p:sp>
      <p:sp>
        <p:nvSpPr>
          <p:cNvPr id="22" name="Several people, lost test time circle"/>
          <p:cNvSpPr/>
          <p:nvPr/>
        </p:nvSpPr>
        <p:spPr>
          <a:xfrm>
            <a:off x="6217920" y="24688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Several people, lost test time icon" descr="Several people, lost test ti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742" y="2641702"/>
            <a:ext cx="294437" cy="29443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86600" y="2450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tx1"/>
                </a:solidFill>
              </a:rPr>
              <a:t>Várias pessoas, tempo de testes perdido</a:t>
            </a:r>
            <a:endParaRPr lang="pt-PT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27980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Cada traçado é refeito muitas vezes por época</a:t>
            </a:r>
            <a:endParaRPr lang="pt-PT" sz="1500" dirty="0"/>
          </a:p>
        </p:txBody>
      </p:sp>
      <p:sp>
        <p:nvSpPr>
          <p:cNvPr id="26" name="No check of the result circle"/>
          <p:cNvSpPr/>
          <p:nvPr/>
        </p:nvSpPr>
        <p:spPr>
          <a:xfrm>
            <a:off x="6217920" y="34290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No check of the result icon" descr="No check of the resu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742" y="3601822"/>
            <a:ext cx="294437" cy="294437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08660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tx1"/>
                </a:solidFill>
              </a:rPr>
              <a:t>Nenhuma verificação do resultado</a:t>
            </a:r>
            <a:endParaRPr lang="pt-PT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7086600" y="37581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Um cone errado só é corrigido se alguém reparar</a:t>
            </a:r>
            <a:endParaRPr lang="pt-PT" sz="1500" dirty="0"/>
          </a:p>
        </p:txBody>
      </p:sp>
      <p:sp>
        <p:nvSpPr>
          <p:cNvPr id="30" name="driverless callout"/>
          <p:cNvSpPr/>
          <p:nvPr/>
        </p:nvSpPr>
        <p:spPr>
          <a:xfrm>
            <a:off x="6217920" y="452628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6492240" y="469087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</a:rPr>
              <a:t>Os carros autónomos usam os cones como referências. Um traçado diferente do plano altera o problema que o carro está a resolver.</a:t>
            </a:r>
            <a:endParaRPr lang="pt-PT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Fontes: FS Driverless Specification 2026; Kabzan et al., 2020</a:t>
            </a:r>
            <a:endParaRPr lang="pt-PT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2</a:t>
            </a:fld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TrackSeed: uma pessoa, um telemóvel</a:t>
            </a:r>
            <a:endParaRPr lang="pt-PT" sz="3600" dirty="0"/>
          </a:p>
        </p:txBody>
      </p:sp>
      <p:sp>
        <p:nvSpPr>
          <p:cNvPr id="3" name="Upload plan card"/>
          <p:cNvSpPr/>
          <p:nvPr/>
        </p:nvSpPr>
        <p:spPr>
          <a:xfrm>
            <a:off x="548640" y="160020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Upload plan circle"/>
          <p:cNvSpPr/>
          <p:nvPr/>
        </p:nvSpPr>
        <p:spPr>
          <a:xfrm>
            <a:off x="1143000" y="182880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Upload plan icon" descr="Upload pl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9" y="205099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700" b="1" dirty="0">
                <a:solidFill>
                  <a:schemeClr val="tx1"/>
                </a:solidFill>
              </a:rPr>
              <a:t>1. Carregar o plano</a:t>
            </a:r>
            <a:endParaRPr lang="pt-PT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1400" dirty="0">
                <a:solidFill>
                  <a:schemeClr val="accent5"/>
                </a:solidFill>
              </a:rPr>
              <a:t>Pista em JSON no dashboard web</a:t>
            </a:r>
            <a:endParaRPr lang="pt-PT" sz="1400" dirty="0"/>
          </a:p>
        </p:txBody>
      </p:sp>
      <p:sp>
        <p:nvSpPr>
          <p:cNvPr id="8" name="flow arrow 0"/>
          <p:cNvSpPr/>
          <p:nvPr/>
        </p:nvSpPr>
        <p:spPr>
          <a:xfrm>
            <a:off x="2596896" y="283464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lign card"/>
          <p:cNvSpPr/>
          <p:nvPr/>
        </p:nvSpPr>
        <p:spPr>
          <a:xfrm>
            <a:off x="2816352" y="160020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lign circle"/>
          <p:cNvSpPr/>
          <p:nvPr/>
        </p:nvSpPr>
        <p:spPr>
          <a:xfrm>
            <a:off x="3410712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lign icon" descr="Alig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911" y="205099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3512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700" b="1" dirty="0">
                <a:solidFill>
                  <a:schemeClr val="tx1"/>
                </a:solidFill>
              </a:rPr>
              <a:t>2. Alinhar</a:t>
            </a:r>
            <a:endParaRPr lang="pt-PT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953512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1400" dirty="0">
                <a:solidFill>
                  <a:schemeClr val="accent5"/>
                </a:solidFill>
              </a:rPr>
              <a:t>Ler dois marcadores na linha de partida</a:t>
            </a:r>
            <a:endParaRPr lang="pt-PT" sz="1400" dirty="0"/>
          </a:p>
        </p:txBody>
      </p:sp>
      <p:sp>
        <p:nvSpPr>
          <p:cNvPr id="14" name="flow arrow 1"/>
          <p:cNvSpPr/>
          <p:nvPr/>
        </p:nvSpPr>
        <p:spPr>
          <a:xfrm>
            <a:off x="4864608" y="283464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lace and verify card"/>
          <p:cNvSpPr/>
          <p:nvPr/>
        </p:nvSpPr>
        <p:spPr>
          <a:xfrm>
            <a:off x="5084064" y="160020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lace and verify circle"/>
          <p:cNvSpPr/>
          <p:nvPr/>
        </p:nvSpPr>
        <p:spPr>
          <a:xfrm>
            <a:off x="5678424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lace and verify icon" descr="Place and verif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623" y="205099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21224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700" b="1" dirty="0">
                <a:solidFill>
                  <a:schemeClr val="tx1"/>
                </a:solidFill>
              </a:rPr>
              <a:t>3. Colocar e verificar</a:t>
            </a:r>
            <a:endParaRPr lang="pt-PT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221224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1400" dirty="0">
                <a:solidFill>
                  <a:schemeClr val="accent5"/>
                </a:solidFill>
              </a:rPr>
              <a:t>A RA mostra cada cone; o telemóvel verifica-o</a:t>
            </a:r>
            <a:endParaRPr lang="pt-PT" sz="1400" dirty="0"/>
          </a:p>
        </p:txBody>
      </p:sp>
      <p:sp>
        <p:nvSpPr>
          <p:cNvPr id="20" name="flow arrow 2"/>
          <p:cNvSpPr/>
          <p:nvPr/>
        </p:nvSpPr>
        <p:spPr>
          <a:xfrm>
            <a:off x="7132320" y="283464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ive twin card"/>
          <p:cNvSpPr/>
          <p:nvPr/>
        </p:nvSpPr>
        <p:spPr>
          <a:xfrm>
            <a:off x="7351776" y="160020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Live twin circle"/>
          <p:cNvSpPr/>
          <p:nvPr/>
        </p:nvSpPr>
        <p:spPr>
          <a:xfrm>
            <a:off x="7946136" y="182880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Live twin icon" descr="Live tw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335" y="2050999"/>
            <a:ext cx="378562" cy="37856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88936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700" b="1" dirty="0">
                <a:solidFill>
                  <a:schemeClr val="tx1"/>
                </a:solidFill>
              </a:rPr>
              <a:t>4. Digital twin ao vivo</a:t>
            </a:r>
            <a:endParaRPr lang="pt-PT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488936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1400" dirty="0">
                <a:solidFill>
                  <a:schemeClr val="accent5"/>
                </a:solidFill>
              </a:rPr>
              <a:t>O dashboard acompanha; as edições regressam</a:t>
            </a:r>
            <a:endParaRPr lang="pt-PT" sz="1400" dirty="0"/>
          </a:p>
        </p:txBody>
      </p:sp>
      <p:sp>
        <p:nvSpPr>
          <p:cNvPr id="26" name="flow arrow 3"/>
          <p:cNvSpPr/>
          <p:nvPr/>
        </p:nvSpPr>
        <p:spPr>
          <a:xfrm>
            <a:off x="9400032" y="283464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dentify car, report card"/>
          <p:cNvSpPr/>
          <p:nvPr/>
        </p:nvSpPr>
        <p:spPr>
          <a:xfrm>
            <a:off x="9619488" y="160020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dentify car, report circle"/>
          <p:cNvSpPr/>
          <p:nvPr/>
        </p:nvSpPr>
        <p:spPr>
          <a:xfrm>
            <a:off x="10213848" y="182880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dentify car, report icon" descr="Identify car, repo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6047" y="2050999"/>
            <a:ext cx="378562" cy="37856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56648" y="2834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700" b="1" dirty="0">
                <a:solidFill>
                  <a:schemeClr val="tx1"/>
                </a:solidFill>
              </a:rPr>
              <a:t>5. Identificar o carro e relatório</a:t>
            </a:r>
            <a:endParaRPr lang="pt-PT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756648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1400" dirty="0">
                <a:solidFill>
                  <a:schemeClr val="accent5"/>
                </a:solidFill>
              </a:rPr>
              <a:t>O classificador associa a sessão ao carro</a:t>
            </a:r>
            <a:endParaRPr lang="pt-PT" sz="1400" dirty="0"/>
          </a:p>
        </p:txBody>
      </p:sp>
      <p:sp>
        <p:nvSpPr>
          <p:cNvPr id="32" name="VAR tag"/>
          <p:cNvSpPr/>
          <p:nvPr/>
        </p:nvSpPr>
        <p:spPr>
          <a:xfrm>
            <a:off x="548640" y="4846320"/>
            <a:ext cx="8229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548640" y="4846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500" b="1" dirty="0">
                <a:solidFill>
                  <a:schemeClr val="bg1"/>
                </a:solidFill>
              </a:rPr>
              <a:t>VAR</a:t>
            </a:r>
            <a:endParaRPr lang="pt-PT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554480" y="4800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Orientação em RA alinhada com o terreno e o digital twin da pista</a:t>
            </a:r>
            <a:endParaRPr lang="pt-PT" sz="1500" dirty="0"/>
          </a:p>
        </p:txBody>
      </p:sp>
      <p:sp>
        <p:nvSpPr>
          <p:cNvPr id="35" name="EIT tag"/>
          <p:cNvSpPr/>
          <p:nvPr/>
        </p:nvSpPr>
        <p:spPr>
          <a:xfrm>
            <a:off x="6217920" y="4846320"/>
            <a:ext cx="822960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6217920" y="4846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500" b="1" dirty="0">
                <a:solidFill>
                  <a:schemeClr val="bg1"/>
                </a:solidFill>
              </a:rPr>
              <a:t>EIT</a:t>
            </a:r>
            <a:endParaRPr lang="pt-PT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223760" y="4800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Plataforma na cloud, sincronização em tempo real, configuração remota e visão no dispositivo</a:t>
            </a:r>
            <a:endParaRPr lang="pt-PT" sz="15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3</a:t>
            </a:fld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revimos a literatura</a:t>
            </a:r>
            <a:endParaRPr lang="pt-PT" sz="3600" dirty="0"/>
          </a:p>
        </p:txBody>
      </p:sp>
      <p:sp>
        <p:nvSpPr>
          <p:cNvPr id="3" name="stat sources selected"/>
          <p:cNvSpPr/>
          <p:nvPr/>
        </p:nvSpPr>
        <p:spPr>
          <a:xfrm>
            <a:off x="548640" y="1857607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94767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pt-PT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00607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fontes selecionadas</a:t>
            </a:r>
            <a:endParaRPr lang="pt-PT" sz="1500" dirty="0"/>
          </a:p>
        </p:txBody>
      </p:sp>
      <p:sp>
        <p:nvSpPr>
          <p:cNvPr id="6" name="stat peer-reviewed papers, chapters and reviews"/>
          <p:cNvSpPr/>
          <p:nvPr/>
        </p:nvSpPr>
        <p:spPr>
          <a:xfrm>
            <a:off x="3383280" y="1857607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657600" y="1994767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pt-PT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000607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artigos, capítulos e revisões com revisão por pares</a:t>
            </a:r>
            <a:endParaRPr lang="pt-PT" sz="1500" dirty="0"/>
          </a:p>
        </p:txBody>
      </p:sp>
      <p:sp>
        <p:nvSpPr>
          <p:cNvPr id="9" name="stat preprint"/>
          <p:cNvSpPr/>
          <p:nvPr/>
        </p:nvSpPr>
        <p:spPr>
          <a:xfrm>
            <a:off x="6217920" y="1857607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1994767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pt-PT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00607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preprint</a:t>
            </a:r>
            <a:endParaRPr lang="pt-PT" sz="1500" dirty="0"/>
          </a:p>
        </p:txBody>
      </p:sp>
      <p:sp>
        <p:nvSpPr>
          <p:cNvPr id="12" name="stat specifications and official docs"/>
          <p:cNvSpPr/>
          <p:nvPr/>
        </p:nvSpPr>
        <p:spPr>
          <a:xfrm>
            <a:off x="9052560" y="1857607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326880" y="1994767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6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pt-PT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000607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especificações e documentação oficial</a:t>
            </a:r>
            <a:endParaRPr lang="pt-PT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9312"/>
            <a:ext cx="3657600" cy="26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tx1"/>
                </a:solidFill>
              </a:rPr>
              <a:t>Temas</a:t>
            </a:r>
            <a:endParaRPr lang="pt-PT" sz="1800" dirty="0"/>
          </a:p>
        </p:txBody>
      </p:sp>
      <p:sp>
        <p:nvSpPr>
          <p:cNvPr id="16" name="theme chip AR for on-site layout"/>
          <p:cNvSpPr/>
          <p:nvPr/>
        </p:nvSpPr>
        <p:spPr>
          <a:xfrm>
            <a:off x="548640" y="4828590"/>
            <a:ext cx="1906524" cy="3254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828590"/>
            <a:ext cx="1906524" cy="32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300" dirty="0">
                <a:solidFill>
                  <a:schemeClr val="tx1"/>
                </a:solidFill>
              </a:rPr>
              <a:t>RA para marcação no local</a:t>
            </a:r>
            <a:endParaRPr lang="pt-PT" sz="1300" dirty="0"/>
          </a:p>
        </p:txBody>
      </p:sp>
      <p:sp>
        <p:nvSpPr>
          <p:cNvPr id="18" name="theme chip Mobile AR tracking"/>
          <p:cNvSpPr/>
          <p:nvPr/>
        </p:nvSpPr>
        <p:spPr>
          <a:xfrm>
            <a:off x="2592324" y="4828590"/>
            <a:ext cx="1673352" cy="3254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592324" y="4828590"/>
            <a:ext cx="1673352" cy="32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300" dirty="0">
                <a:solidFill>
                  <a:schemeClr val="tx1"/>
                </a:solidFill>
              </a:rPr>
              <a:t>Seguimento em RA</a:t>
            </a:r>
            <a:endParaRPr lang="pt-PT" sz="1300" dirty="0"/>
          </a:p>
        </p:txBody>
      </p:sp>
      <p:sp>
        <p:nvSpPr>
          <p:cNvPr id="20" name="theme chip Digital twins"/>
          <p:cNvSpPr/>
          <p:nvPr/>
        </p:nvSpPr>
        <p:spPr>
          <a:xfrm>
            <a:off x="4402836" y="4828590"/>
            <a:ext cx="1284732" cy="3254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402836" y="4828590"/>
            <a:ext cx="1284732" cy="32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300" dirty="0">
                <a:solidFill>
                  <a:schemeClr val="tx1"/>
                </a:solidFill>
              </a:rPr>
              <a:t>Digital twins</a:t>
            </a:r>
            <a:endParaRPr lang="pt-PT" sz="1300" dirty="0"/>
          </a:p>
        </p:txBody>
      </p:sp>
      <p:sp>
        <p:nvSpPr>
          <p:cNvPr id="22" name="theme chip Real-time sync"/>
          <p:cNvSpPr/>
          <p:nvPr/>
        </p:nvSpPr>
        <p:spPr>
          <a:xfrm>
            <a:off x="5824728" y="4828590"/>
            <a:ext cx="1362456" cy="3254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824728" y="4828590"/>
            <a:ext cx="1362456" cy="32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300" dirty="0">
                <a:solidFill>
                  <a:schemeClr val="tx1"/>
                </a:solidFill>
              </a:rPr>
              <a:t>Sincronização</a:t>
            </a:r>
            <a:endParaRPr lang="pt-PT" sz="1300" dirty="0"/>
          </a:p>
        </p:txBody>
      </p:sp>
      <p:sp>
        <p:nvSpPr>
          <p:cNvPr id="24" name="theme chip Edge AI"/>
          <p:cNvSpPr/>
          <p:nvPr/>
        </p:nvSpPr>
        <p:spPr>
          <a:xfrm>
            <a:off x="7324344" y="4828590"/>
            <a:ext cx="818388" cy="3254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24344" y="4828590"/>
            <a:ext cx="818388" cy="32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300" dirty="0">
                <a:solidFill>
                  <a:schemeClr val="tx1"/>
                </a:solidFill>
              </a:rPr>
              <a:t>Edge AI</a:t>
            </a:r>
            <a:endParaRPr lang="pt-PT" sz="1300" dirty="0"/>
          </a:p>
        </p:txBody>
      </p:sp>
      <p:sp>
        <p:nvSpPr>
          <p:cNvPr id="26" name="theme chip Fine-grained car classification"/>
          <p:cNvSpPr/>
          <p:nvPr/>
        </p:nvSpPr>
        <p:spPr>
          <a:xfrm>
            <a:off x="8279892" y="4828590"/>
            <a:ext cx="2683764" cy="3254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279892" y="4828590"/>
            <a:ext cx="2683764" cy="32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300" dirty="0">
                <a:solidFill>
                  <a:schemeClr val="tx1"/>
                </a:solidFill>
              </a:rPr>
              <a:t>Classificação de carros</a:t>
            </a:r>
            <a:endParaRPr lang="pt-PT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4</a:t>
            </a:fld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no telemóvel: erro de ~16 cm</a:t>
            </a:r>
            <a:endParaRPr lang="pt-PT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66751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point 0"/>
          <p:cNvSpPr/>
          <p:nvPr/>
        </p:nvSpPr>
        <p:spPr>
          <a:xfrm>
            <a:off x="7589520" y="15544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8181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A nossa tolerância: 25 cm</a:t>
            </a:r>
            <a:endParaRPr lang="pt-PT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0299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Os ~16 cm do telemóvel cabem, mas gastam quase toda a margem numa área pequena</a:t>
            </a:r>
            <a:endParaRPr lang="pt-PT" sz="1400" dirty="0"/>
          </a:p>
        </p:txBody>
      </p:sp>
      <p:sp>
        <p:nvSpPr>
          <p:cNvPr id="7" name="point 1"/>
          <p:cNvSpPr/>
          <p:nvPr/>
        </p:nvSpPr>
        <p:spPr>
          <a:xfrm>
            <a:off x="7589520" y="29260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Interior, junto ao marcador: ≈5 cm</a:t>
            </a:r>
            <a:endParaRPr lang="pt-PT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4015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HoloLens com marcador em papel; o erro aumentou com a distância ao marcador</a:t>
            </a:r>
            <a:endParaRPr lang="pt-PT" sz="1400" dirty="0"/>
          </a:p>
        </p:txBody>
      </p:sp>
      <p:sp>
        <p:nvSpPr>
          <p:cNvPr id="10" name="point 2"/>
          <p:cNvSpPr/>
          <p:nvPr/>
        </p:nvSpPr>
        <p:spPr>
          <a:xfrm>
            <a:off x="7589520" y="42976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181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bg1"/>
                </a:solidFill>
              </a:rPr>
              <a:t>Conclusão</a:t>
            </a:r>
            <a:endParaRPr lang="pt-PT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731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bg2"/>
                </a:solidFill>
              </a:rPr>
              <a:t>A orientação em RA é viável, mas não está comprovada à escala de uma pista</a:t>
            </a:r>
            <a:endParaRPr lang="pt-PT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Fontes: Kim e Olsen, ISARC 2025; Chalhoub e Ayer, ITcon 2019</a:t>
            </a:r>
            <a:endParaRPr lang="pt-PT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5</a:t>
            </a:fld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de seguimento cresce com a distância</a:t>
            </a:r>
            <a:endParaRPr lang="pt-PT" sz="3600" dirty="0"/>
          </a:p>
        </p:txBody>
      </p:sp>
      <p:sp>
        <p:nvSpPr>
          <p:cNvPr id="3" name="drift card 0"/>
          <p:cNvSpPr/>
          <p:nvPr/>
        </p:nvSpPr>
        <p:spPr>
          <a:xfrm>
            <a:off x="548640" y="1508760"/>
            <a:ext cx="347472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marker 0"/>
          <p:cNvSpPr/>
          <p:nvPr/>
        </p:nvSpPr>
        <p:spPr>
          <a:xfrm>
            <a:off x="822960" y="1783080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 m</a:t>
            </a:r>
            <a:endParaRPr lang="pt-PT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accent5"/>
                </a:solidFill>
              </a:rPr>
              <a:t>por cada 120 m percorridos</a:t>
            </a:r>
            <a:endParaRPr lang="pt-PT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ARCore, ARKit e HoloLens num pavilhão de 1600 m²</a:t>
            </a:r>
            <a:endParaRPr lang="pt-PT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Feigl et al., 2020</a:t>
            </a:r>
            <a:endParaRPr lang="pt-PT" sz="1100" dirty="0"/>
          </a:p>
        </p:txBody>
      </p:sp>
      <p:sp>
        <p:nvSpPr>
          <p:cNvPr id="9" name="drift card 1"/>
          <p:cNvSpPr/>
          <p:nvPr/>
        </p:nvSpPr>
        <p:spPr>
          <a:xfrm>
            <a:off x="4297680" y="1508760"/>
            <a:ext cx="347472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marker 1"/>
          <p:cNvSpPr/>
          <p:nvPr/>
        </p:nvSpPr>
        <p:spPr>
          <a:xfrm>
            <a:off x="4572000" y="178308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 vs 25,1 cm</a:t>
            </a:r>
            <a:endParaRPr lang="pt-PT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accent5"/>
                </a:solidFill>
              </a:rPr>
              <a:t>desvio após afastar e voltar</a:t>
            </a:r>
            <a:endParaRPr lang="pt-PT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ARCore vs ARKit, mais de 200 cenas interiores; pior com pouca textura</a:t>
            </a:r>
            <a:endParaRPr lang="pt-PT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Scargill et al., 2021 (preprint)</a:t>
            </a:r>
            <a:endParaRPr lang="pt-PT" sz="1100" dirty="0"/>
          </a:p>
        </p:txBody>
      </p:sp>
      <p:sp>
        <p:nvSpPr>
          <p:cNvPr id="15" name="drift card 2"/>
          <p:cNvSpPr/>
          <p:nvPr/>
        </p:nvSpPr>
        <p:spPr>
          <a:xfrm>
            <a:off x="8046720" y="1508760"/>
            <a:ext cx="347472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arker 2"/>
          <p:cNvSpPr/>
          <p:nvPr/>
        </p:nvSpPr>
        <p:spPr>
          <a:xfrm>
            <a:off x="8321040" y="1783080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1,1–2,1 cm</a:t>
            </a:r>
            <a:endParaRPr lang="pt-PT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accent5"/>
                </a:solidFill>
              </a:rPr>
              <a:t>erro RMS estático</a:t>
            </a:r>
            <a:endParaRPr lang="pt-PT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RTK GNSS em smartphone a céu aberto; sem desvio, requer correções</a:t>
            </a:r>
            <a:endParaRPr lang="pt-PT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Jiang et al., 2023</a:t>
            </a:r>
            <a:endParaRPr lang="pt-PT" sz="1100" dirty="0"/>
          </a:p>
        </p:txBody>
      </p:sp>
      <p:sp>
        <p:nvSpPr>
          <p:cNvPr id="21" name="takeaway circle"/>
          <p:cNvSpPr/>
          <p:nvPr/>
        </p:nvSpPr>
        <p:spPr>
          <a:xfrm>
            <a:off x="548640" y="49377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takeaway icon" descr="takeaw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5135270"/>
            <a:ext cx="336499" cy="336499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50876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dirty="0">
                <a:solidFill>
                  <a:schemeClr val="tx1"/>
                </a:solidFill>
              </a:rPr>
              <a:t>Um único alinhamento na linha de partida não aguenta uma pista de 200 m ou mais. </a:t>
            </a:r>
            <a:r>
              <a:rPr lang="pt-PT" sz="1600" dirty="0">
                <a:solidFill>
                  <a:schemeClr val="tx1"/>
                </a:solidFill>
              </a:rPr>
              <a:t>O plano tem de ser realinhado ao longo da pista ou ancorado a posições absolutas. O asfalto uniforme é um risco adicional de deriva.</a:t>
            </a:r>
            <a:endParaRPr lang="pt-PT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6</a:t>
            </a:fld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twin: dados nos dois sentidos</a:t>
            </a:r>
            <a:endParaRPr lang="pt-PT" sz="3600" dirty="0"/>
          </a:p>
        </p:txBody>
      </p:sp>
      <p:sp>
        <p:nvSpPr>
          <p:cNvPr id="3" name="Digital model card"/>
          <p:cNvSpPr/>
          <p:nvPr/>
        </p:nvSpPr>
        <p:spPr>
          <a:xfrm>
            <a:off x="548640" y="15087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Digital model</a:t>
            </a:r>
            <a:endParaRPr lang="pt-PT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tx1"/>
                </a:solidFill>
              </a:rPr>
              <a:t>Físico</a:t>
            </a:r>
            <a:endParaRPr lang="pt-PT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tx1"/>
                </a:solidFill>
              </a:rPr>
              <a:t>Virtual</a:t>
            </a:r>
            <a:endParaRPr lang="pt-PT" sz="1400" dirty="0"/>
          </a:p>
        </p:txBody>
      </p:sp>
      <p:sp>
        <p:nvSpPr>
          <p:cNvPr id="7" name="Digital model up"/>
          <p:cNvSpPr/>
          <p:nvPr/>
        </p:nvSpPr>
        <p:spPr>
          <a:xfrm>
            <a:off x="1920240" y="2450592"/>
            <a:ext cx="731520" cy="0"/>
          </a:xfrm>
          <a:prstGeom prst="line">
            <a:avLst/>
          </a:prstGeom>
          <a:noFill/>
          <a:ln w="31750">
            <a:solidFill>
              <a:srgbClr val="6B758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Digital model down"/>
          <p:cNvSpPr/>
          <p:nvPr/>
        </p:nvSpPr>
        <p:spPr>
          <a:xfrm>
            <a:off x="1920240" y="2679192"/>
            <a:ext cx="731520" cy="0"/>
          </a:xfrm>
          <a:prstGeom prst="line">
            <a:avLst/>
          </a:prstGeom>
          <a:noFill/>
          <a:ln w="31750">
            <a:solidFill>
              <a:srgbClr val="6B7580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Sem troca automática de dados</a:t>
            </a:r>
            <a:endParaRPr lang="pt-PT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contínua = automática, tracejada = manual</a:t>
            </a:r>
            <a:endParaRPr lang="pt-PT" sz="1100" dirty="0"/>
          </a:p>
        </p:txBody>
      </p:sp>
      <p:sp>
        <p:nvSpPr>
          <p:cNvPr id="11" name="Digital shadow card"/>
          <p:cNvSpPr/>
          <p:nvPr/>
        </p:nvSpPr>
        <p:spPr>
          <a:xfrm>
            <a:off x="4297680" y="15087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Digital shadow</a:t>
            </a:r>
            <a:endParaRPr lang="pt-PT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tx1"/>
                </a:solidFill>
              </a:rPr>
              <a:t>Físico</a:t>
            </a:r>
            <a:endParaRPr lang="pt-PT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tx1"/>
                </a:solidFill>
              </a:rPr>
              <a:t>Virtual</a:t>
            </a:r>
            <a:endParaRPr lang="pt-PT" sz="1400" dirty="0"/>
          </a:p>
        </p:txBody>
      </p:sp>
      <p:sp>
        <p:nvSpPr>
          <p:cNvPr id="15" name="Digital shadow up"/>
          <p:cNvSpPr/>
          <p:nvPr/>
        </p:nvSpPr>
        <p:spPr>
          <a:xfrm>
            <a:off x="5669280" y="2450592"/>
            <a:ext cx="731520" cy="0"/>
          </a:xfrm>
          <a:prstGeom prst="line">
            <a:avLst/>
          </a:prstGeom>
          <a:noFill/>
          <a:ln w="31750">
            <a:solidFill>
              <a:srgbClr val="E87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Digital shadow down"/>
          <p:cNvSpPr/>
          <p:nvPr/>
        </p:nvSpPr>
        <p:spPr>
          <a:xfrm>
            <a:off x="5669280" y="2679192"/>
            <a:ext cx="731520" cy="0"/>
          </a:xfrm>
          <a:prstGeom prst="line">
            <a:avLst/>
          </a:prstGeom>
          <a:noFill/>
          <a:ln w="31750">
            <a:solidFill>
              <a:srgbClr val="6B7580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accent5"/>
                </a:solidFill>
              </a:rPr>
              <a:t>Atualizada automaticamente a partir do objeto físico</a:t>
            </a:r>
            <a:endParaRPr lang="pt-PT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contínua = automática, tracejada = manual</a:t>
            </a:r>
            <a:endParaRPr lang="pt-PT" sz="1100" dirty="0"/>
          </a:p>
        </p:txBody>
      </p:sp>
      <p:sp>
        <p:nvSpPr>
          <p:cNvPr id="19" name="Digital twin card"/>
          <p:cNvSpPr/>
          <p:nvPr/>
        </p:nvSpPr>
        <p:spPr>
          <a:xfrm>
            <a:off x="8046720" y="15087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2104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bg1"/>
                </a:solidFill>
              </a:rPr>
              <a:t>Digital twin</a:t>
            </a:r>
            <a:endParaRPr lang="pt-PT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bg1"/>
                </a:solidFill>
              </a:rPr>
              <a:t>Físico</a:t>
            </a:r>
            <a:endParaRPr lang="pt-PT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bg1"/>
                </a:solidFill>
              </a:rPr>
              <a:t>Virtual</a:t>
            </a:r>
            <a:endParaRPr lang="pt-PT" sz="1400" dirty="0"/>
          </a:p>
        </p:txBody>
      </p:sp>
      <p:sp>
        <p:nvSpPr>
          <p:cNvPr id="23" name="Digital twin up"/>
          <p:cNvSpPr/>
          <p:nvPr/>
        </p:nvSpPr>
        <p:spPr>
          <a:xfrm>
            <a:off x="9418320" y="2450592"/>
            <a:ext cx="731520" cy="0"/>
          </a:xfrm>
          <a:prstGeom prst="line">
            <a:avLst/>
          </a:prstGeom>
          <a:noFill/>
          <a:ln w="31750">
            <a:solidFill>
              <a:srgbClr val="D9A4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Digital twin down"/>
          <p:cNvSpPr/>
          <p:nvPr/>
        </p:nvSpPr>
        <p:spPr>
          <a:xfrm>
            <a:off x="9418320" y="2679192"/>
            <a:ext cx="731520" cy="0"/>
          </a:xfrm>
          <a:prstGeom prst="line">
            <a:avLst/>
          </a:prstGeom>
          <a:noFill/>
          <a:ln w="31750">
            <a:solidFill>
              <a:srgbClr val="D9A40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32104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dirty="0">
                <a:solidFill>
                  <a:schemeClr val="bg2"/>
                </a:solidFill>
              </a:rPr>
              <a:t>Troca automática nos dois sentidos</a:t>
            </a:r>
            <a:endParaRPr lang="pt-PT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bg2"/>
                </a:solidFill>
              </a:rPr>
              <a:t>contínua = automática, tracejada = manual</a:t>
            </a:r>
            <a:endParaRPr lang="pt-PT" sz="1100" dirty="0"/>
          </a:p>
        </p:txBody>
      </p:sp>
      <p:sp>
        <p:nvSpPr>
          <p:cNvPr id="27" name="trackseed twin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dirty="0">
                <a:solidFill>
                  <a:schemeClr val="tx1"/>
                </a:solidFill>
              </a:rPr>
              <a:t>TrackSeed: </a:t>
            </a:r>
            <a:r>
              <a:rPr lang="pt-PT" sz="1600" dirty="0">
                <a:solidFill>
                  <a:schemeClr val="tx1"/>
                </a:solidFill>
              </a:rPr>
              <a:t>os cones confirmados chegam ao dashboard automaticamente, e as edições no dashboard (mover, adicionar, remover) alteram a orientação no telemóvel. Mas é uma pessoa que move o cone físico, por isso o TrackSeed fica entre uma digital shadow e um digital twin completo.</a:t>
            </a:r>
            <a:endParaRPr lang="pt-PT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Fonte: Kritzinger et al., 2018</a:t>
            </a:r>
            <a:endParaRPr lang="pt-PT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7</a:t>
            </a:fld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e inferência no telemóvel</a:t>
            </a:r>
            <a:endParaRPr lang="pt-PT" sz="3600" dirty="0"/>
          </a:p>
        </p:txBody>
      </p:sp>
      <p:sp>
        <p:nvSpPr>
          <p:cNvPr id="3" name="sync circl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sync icon" descr="syn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1635862"/>
            <a:ext cx="294437" cy="2944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72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Telemóvel ↔ cloud ↔ dashboard</a:t>
            </a:r>
            <a:endParaRPr lang="pt-PT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021584"/>
              </p:ext>
            </p:extLst>
          </p:nvPr>
        </p:nvGraphicFramePr>
        <p:xfrm>
          <a:off x="548640" y="2331720"/>
          <a:ext cx="539496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b="1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b="1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Ligeiramente maior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recursos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Maior, menos recursos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broker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4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 um broker</a:t>
                      </a:r>
                      <a:endParaRPr lang="pt-PT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4348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b="1" dirty="0">
                <a:solidFill>
                  <a:schemeClr val="tx1"/>
                </a:solidFill>
              </a:rPr>
              <a:t>Decisão: </a:t>
            </a:r>
            <a:r>
              <a:rPr lang="pt-PT" sz="1500" dirty="0">
                <a:solidFill>
                  <a:schemeClr val="tx1"/>
                </a:solidFill>
              </a:rPr>
              <a:t>WebSocket para atualizações em tempo real, REST para ficheiros, fila de reenvio no telemóvel. Sem rede, a marcação continua com o plano descarregado.</a:t>
            </a:r>
            <a:endParaRPr lang="pt-PT" sz="1500" dirty="0"/>
          </a:p>
        </p:txBody>
      </p:sp>
      <p:sp>
        <p:nvSpPr>
          <p:cNvPr id="8" name="edge circle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edge icon" descr="e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182" y="1635862"/>
            <a:ext cx="294437" cy="29443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132320" y="1572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Inferência no dispositivo vs na cloud</a:t>
            </a:r>
            <a:endParaRPr lang="pt-PT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6309360" y="23317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b="1" dirty="0">
                <a:solidFill>
                  <a:schemeClr val="tx1"/>
                </a:solidFill>
              </a:rPr>
              <a:t>Cloud: </a:t>
            </a:r>
            <a:r>
              <a:rPr lang="pt-PT" sz="1500" dirty="0">
                <a:solidFill>
                  <a:schemeClr val="tx1"/>
                </a:solidFill>
              </a:rPr>
              <a:t>Mais capacidade de cálculo, mas acrescenta latência, custo de envio e risco de privacidade</a:t>
            </a:r>
            <a:endParaRPr lang="pt-PT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309360" y="30175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b="1" dirty="0">
                <a:solidFill>
                  <a:schemeClr val="tx1"/>
                </a:solidFill>
              </a:rPr>
              <a:t>No telemóvel: </a:t>
            </a:r>
            <a:r>
              <a:rPr lang="pt-PT" sz="1500" dirty="0">
                <a:solidFill>
                  <a:schemeClr val="tx1"/>
                </a:solidFill>
              </a:rPr>
              <a:t>Não precisa de rede; as NPU móveis aproximam-se das GPU de secretária</a:t>
            </a:r>
            <a:endParaRPr lang="pt-PT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4434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500" b="1" dirty="0">
                <a:solidFill>
                  <a:schemeClr val="tx1"/>
                </a:solidFill>
              </a:rPr>
              <a:t>Decisão: </a:t>
            </a:r>
            <a:r>
              <a:rPr lang="pt-PT" sz="1500" dirty="0">
                <a:solidFill>
                  <a:schemeClr val="tx1"/>
                </a:solidFill>
              </a:rPr>
              <a:t>os dois modelos de visão correm no telemóvel com LiteRT; a cloud retreina-os e envia novas versões. Dados de cones do FSOCO como ponto de partida.</a:t>
            </a:r>
            <a:endParaRPr lang="pt-PT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Fontes: Ajayi et al., 2023; Chen e Ran, 2019; Ignatov et al., 2019; Vödisch et al., 2022</a:t>
            </a:r>
            <a:endParaRPr lang="pt-PT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8</a:t>
            </a:fld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tarefa de visão: que carro está a rodar?</a:t>
            </a:r>
            <a:endParaRPr lang="pt-PT" sz="3600" dirty="0"/>
          </a:p>
        </p:txBody>
      </p:sp>
      <p:sp>
        <p:nvSpPr>
          <p:cNvPr id="3" name="why card"/>
          <p:cNvSpPr/>
          <p:nvPr/>
        </p:nvSpPr>
        <p:spPr>
          <a:xfrm>
            <a:off x="548640" y="1463040"/>
            <a:ext cx="47548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ar circle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car icon" descr="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18768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Porque é difícil</a:t>
            </a:r>
            <a:endParaRPr lang="pt-PT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pt-PT" sz="1700" dirty="0">
                <a:solidFill>
                  <a:schemeClr val="tx1"/>
                </a:solidFill>
              </a:rPr>
              <a:t>Classificação: as classes só diferem em pormenores</a:t>
            </a:r>
            <a:endParaRPr lang="pt-PT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pt-PT" sz="1700" dirty="0">
                <a:solidFill>
                  <a:schemeClr val="tx1"/>
                </a:solidFill>
              </a:rPr>
              <a:t>Os carros da mesma equipa são muitas vezes parecidos</a:t>
            </a:r>
            <a:endParaRPr lang="pt-PT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pt-PT" sz="1700" dirty="0">
                <a:solidFill>
                  <a:schemeClr val="tx1"/>
                </a:solidFill>
              </a:rPr>
              <a:t>A exatidão depende do ponto de vista (CompCars)</a:t>
            </a:r>
            <a:endParaRPr lang="pt-PT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pt-PT" sz="1700" dirty="0">
                <a:solidFill>
                  <a:schemeClr val="tx1"/>
                </a:solidFill>
              </a:rPr>
              <a:t>Nenhum dataset público tem os nossos carros, por isso criamos o nosso</a:t>
            </a:r>
            <a:endParaRPr lang="pt-PT" sz="1700" dirty="0"/>
          </a:p>
        </p:txBody>
      </p:sp>
      <p:sp>
        <p:nvSpPr>
          <p:cNvPr id="8" name="Collect circle"/>
          <p:cNvSpPr/>
          <p:nvPr/>
        </p:nvSpPr>
        <p:spPr>
          <a:xfrm>
            <a:off x="566928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Collect icon" descr="Colle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102" y="163586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92240" y="1435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Recolher</a:t>
            </a:r>
            <a:endParaRPr lang="pt-PT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1755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Fotografias e frames de vídeo de cada carro, de todos os ângulos, em vários dias de teste, mais uma classe desconhecida</a:t>
            </a:r>
            <a:endParaRPr lang="pt-PT" sz="1400" dirty="0"/>
          </a:p>
        </p:txBody>
      </p:sp>
      <p:sp>
        <p:nvSpPr>
          <p:cNvPr id="12" name="Fine-tune circle"/>
          <p:cNvSpPr/>
          <p:nvPr/>
        </p:nvSpPr>
        <p:spPr>
          <a:xfrm>
            <a:off x="5669280" y="2593743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Fine-tune icon" descr="Fine-tu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102" y="2766565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92240" y="256631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Afinar</a:t>
            </a:r>
            <a:endParaRPr lang="pt-PT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86351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Rede do tipo MobileNetV2 pré-treinada no ImageNet (72% top-1, 3,4 M parâmetros)</a:t>
            </a:r>
            <a:endParaRPr lang="pt-PT" sz="1400" dirty="0"/>
          </a:p>
        </p:txBody>
      </p:sp>
      <p:sp>
        <p:nvSpPr>
          <p:cNvPr id="16" name="Run on the phone circle"/>
          <p:cNvSpPr/>
          <p:nvPr/>
        </p:nvSpPr>
        <p:spPr>
          <a:xfrm>
            <a:off x="5669280" y="3840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Run on the phone icon" descr="Run on the ph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102" y="401330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92240" y="3813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Correr no telemóvel</a:t>
            </a:r>
            <a:endParaRPr lang="pt-PT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492240" y="4133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Exportada para LiteRT; objetivo ≤100 ms por imagem</a:t>
            </a:r>
            <a:endParaRPr lang="pt-PT" sz="1400" dirty="0"/>
          </a:p>
        </p:txBody>
      </p:sp>
      <p:sp>
        <p:nvSpPr>
          <p:cNvPr id="20" name="Confirm and grow circle"/>
          <p:cNvSpPr/>
          <p:nvPr/>
        </p:nvSpPr>
        <p:spPr>
          <a:xfrm>
            <a:off x="5669280" y="4965192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Confirm and grow icon" descr="Confirm and gro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102" y="5138014"/>
            <a:ext cx="294437" cy="29443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92240" y="4937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Confirmar e crescer</a:t>
            </a:r>
            <a:endParaRPr lang="pt-PT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6492240" y="5257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Confiança baixa: o utilizador confirma; as novas imagens entram no dataset</a:t>
            </a:r>
            <a:endParaRPr lang="pt-PT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Fontes: Yang et al., CVPR 2015; Yosinski et al., NeurIPS 2014; Sandler et al., CVPR 2018</a:t>
            </a:r>
            <a:endParaRPr lang="pt-PT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9</a:t>
            </a:fld>
            <a:endParaRPr lang="pt-P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evidência às decisões de conceção</a:t>
            </a:r>
            <a:endParaRPr lang="pt-PT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accent3"/>
                </a:solidFill>
              </a:rPr>
              <a:t>Lacuna: </a:t>
            </a:r>
            <a:r>
              <a:rPr lang="pt-PT" sz="1600" dirty="0">
                <a:solidFill>
                  <a:schemeClr val="tx1"/>
                </a:solidFill>
              </a:rPr>
              <a:t>nenhum estudo testou a marcação com RA em telemóvel numa pista completa, nem combinou orientação, verificação, identificação do veículo e um digital twin em tempo real.</a:t>
            </a:r>
            <a:endParaRPr lang="pt-PT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217555"/>
              </p:ext>
            </p:extLst>
          </p:nvPr>
        </p:nvGraphicFramePr>
        <p:xfrm>
          <a:off x="548640" y="2011680"/>
          <a:ext cx="11064240" cy="3584448"/>
        </p:xfrm>
        <a:graphic>
          <a:graphicData uri="http://schemas.openxmlformats.org/drawingml/2006/table">
            <a:tbl>
              <a:tblPr/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exatidão da RA degrada-se com a distância ao marcador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Alinhamento em dois pontos na partida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erro de seguimento cresce com a distância percorrida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Marcadores de realinhamento; RTK como opção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WebSocket tem menor latência; o MQTT, maior Throughput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WebSocket, com fila de reenvio no telemóvel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ARCore derivou menos do que o ARKit ao afastar e voltar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nativo, o único dispositivo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inferência no dispositivo evita latência de rede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 dos cones no telemóvel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características pré-treinadas transferem-se; o ponto de vista determina a exatidão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500" dirty="0">
                          <a:solidFill>
                            <a:srgbClr val="1E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próprio com todos os ângulos; CNN móvel afinada</a:t>
                      </a:r>
                      <a:endParaRPr lang="pt-PT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10</a:t>
            </a:fld>
            <a:endParaRPr lang="pt-P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marcadores e realinhamento</a:t>
            </a:r>
            <a:endParaRPr lang="pt-PT" sz="3600" dirty="0"/>
          </a:p>
        </p:txBody>
      </p:sp>
      <p:sp>
        <p:nvSpPr>
          <p:cNvPr id="3" name="heading stat"/>
          <p:cNvSpPr/>
          <p:nvPr/>
        </p:nvSpPr>
        <p:spPr>
          <a:xfrm>
            <a:off x="548640" y="1463040"/>
            <a:ext cx="4480560" cy="434340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6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1°</a:t>
            </a:r>
            <a:endParaRPr lang="pt-PT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</a:rPr>
              <a:t>de erro de orientação num único marcador de partida coloca um cone a 200 m</a:t>
            </a:r>
            <a:endParaRPr lang="pt-PT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5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≈3,5 m</a:t>
            </a:r>
            <a:endParaRPr lang="pt-PT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572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dirty="0">
                <a:solidFill>
                  <a:schemeClr val="bg1"/>
                </a:solidFill>
              </a:rPr>
              <a:t>fora da posição planeada, antes de somar qualquer deriva</a:t>
            </a:r>
            <a:endParaRPr lang="pt-PT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Dois pontos + realinhamento</a:t>
            </a:r>
            <a:endParaRPr lang="pt-PT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847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Dois marcadores reduzem o erro angular (Nunes et al., 2023); a deriva fica limitada ao espaçamento</a:t>
            </a:r>
            <a:endParaRPr lang="pt-PT" sz="1400" dirty="0"/>
          </a:p>
        </p:txBody>
      </p:sp>
      <p:sp>
        <p:nvSpPr>
          <p:cNvPr id="10" name="Adopted chip 0"/>
          <p:cNvSpPr/>
          <p:nvPr/>
        </p:nvSpPr>
        <p:spPr>
          <a:xfrm>
            <a:off x="10332720" y="1508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33272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bg1"/>
                </a:solidFill>
              </a:rPr>
              <a:t>Adotado</a:t>
            </a:r>
            <a:endParaRPr lang="pt-PT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RTK GNSS em smartphone</a:t>
            </a:r>
            <a:endParaRPr lang="pt-PT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944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Exatidão centimétrica, sem deriva; requer recetor e correções</a:t>
            </a:r>
            <a:endParaRPr lang="pt-PT" sz="1400" dirty="0"/>
          </a:p>
        </p:txBody>
      </p:sp>
      <p:sp>
        <p:nvSpPr>
          <p:cNvPr id="14" name="Optional chip 1"/>
          <p:cNvSpPr/>
          <p:nvPr/>
        </p:nvSpPr>
        <p:spPr>
          <a:xfrm>
            <a:off x="10332720" y="26060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D9A400"/>
          </a:solidFill>
          <a:ln w="12700">
            <a:solidFill>
              <a:srgbClr val="D9A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332720" y="2606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bg1"/>
                </a:solidFill>
              </a:rPr>
              <a:t>Opcional</a:t>
            </a:r>
            <a:endParaRPr lang="pt-PT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Um único marcador de partida</a:t>
            </a:r>
            <a:endParaRPr lang="pt-PT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40416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O erro de orientação e a deriva crescem ao longo da pista</a:t>
            </a:r>
            <a:endParaRPr lang="pt-PT" sz="1400" dirty="0"/>
          </a:p>
        </p:txBody>
      </p:sp>
      <p:sp>
        <p:nvSpPr>
          <p:cNvPr id="18" name="Rejected chip 2"/>
          <p:cNvSpPr/>
          <p:nvPr/>
        </p:nvSpPr>
        <p:spPr>
          <a:xfrm>
            <a:off x="10332720" y="37033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03327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bg1"/>
                </a:solidFill>
              </a:rPr>
              <a:t>Rejeitado</a:t>
            </a:r>
            <a:endParaRPr lang="pt-PT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ARCore Geospatial API</a:t>
            </a:r>
            <a:endParaRPr lang="pt-PT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51389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Sem exatidão centimétrica publicada; requer Street View</a:t>
            </a:r>
            <a:endParaRPr lang="pt-PT" sz="1400" dirty="0"/>
          </a:p>
        </p:txBody>
      </p:sp>
      <p:sp>
        <p:nvSpPr>
          <p:cNvPr id="22" name="Rejected chip 3"/>
          <p:cNvSpPr/>
          <p:nvPr/>
        </p:nvSpPr>
        <p:spPr>
          <a:xfrm>
            <a:off x="10332720" y="48006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332720" y="4800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400" b="1" dirty="0">
                <a:solidFill>
                  <a:schemeClr val="bg1"/>
                </a:solidFill>
              </a:rPr>
              <a:t>Rejeitado</a:t>
            </a:r>
            <a:endParaRPr lang="pt-PT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11</a:t>
            </a:fld>
            <a:endParaRPr lang="pt-P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concetual</a:t>
            </a:r>
            <a:endParaRPr lang="pt-PT" sz="3600" dirty="0"/>
          </a:p>
        </p:txBody>
      </p:sp>
      <p:pic>
        <p:nvPicPr>
          <p:cNvPr id="3" name="architecture" descr="TrackSeed architecture: Android app, cloud platform and web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3706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57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b="1" dirty="0">
                <a:solidFill>
                  <a:schemeClr val="tx1"/>
                </a:solidFill>
              </a:rPr>
              <a:t>App Android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Alinhamento e orientação em RA, verificação dos cones, reconhecimento do carro, armazenamento offline</a:t>
            </a:r>
            <a:endParaRPr lang="pt-PT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97680" y="5257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b="1" dirty="0">
                <a:solidFill>
                  <a:schemeClr val="tx1"/>
                </a:solidFill>
              </a:rPr>
              <a:t>Plataforma na cloud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API REST, sincronização WebSocket, base de dados do digital twin, dataset de carros, repositório de modelos</a:t>
            </a:r>
            <a:endParaRPr lang="pt-PT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5257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b="1" dirty="0">
                <a:solidFill>
                  <a:schemeClr val="tx1"/>
                </a:solidFill>
              </a:rPr>
              <a:t>Dashboard web</a:t>
            </a:r>
            <a:endParaRPr lang="pt-PT" sz="1400" dirty="0"/>
          </a:p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Digital twin 2D em tempo real, editor de pista, relatórios de sessão</a:t>
            </a:r>
            <a:endParaRPr lang="pt-PT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12</a:t>
            </a:fld>
            <a:endParaRPr lang="pt-P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vamos validar</a:t>
            </a:r>
            <a:endParaRPr lang="pt-PT" sz="3600" dirty="0"/>
          </a:p>
        </p:txBody>
      </p:sp>
      <p:sp>
        <p:nvSpPr>
          <p:cNvPr id="3" name="H1 card"/>
          <p:cNvSpPr/>
          <p:nvPr/>
        </p:nvSpPr>
        <p:spPr>
          <a:xfrm>
            <a:off x="548640" y="1463040"/>
            <a:ext cx="2560320" cy="4343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lacement accuracy 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lacement accuracy icon" descr="Placement accura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18644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200" b="1" dirty="0">
                <a:solidFill>
                  <a:schemeClr val="accent5"/>
                </a:solidFill>
              </a:rPr>
              <a:t>H1</a:t>
            </a:r>
            <a:endParaRPr lang="pt-PT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Exatidão da colocação</a:t>
            </a:r>
            <a:endParaRPr lang="pt-PT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≤15 cm</a:t>
            </a:r>
            <a:endParaRPr lang="pt-PT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nenhum acima de 25 cm</a:t>
            </a:r>
            <a:endParaRPr lang="pt-PT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Skidpad e troço de autocross vs pontos de referência levantados</a:t>
            </a:r>
            <a:endParaRPr lang="pt-PT" sz="1400" dirty="0"/>
          </a:p>
        </p:txBody>
      </p:sp>
      <p:sp>
        <p:nvSpPr>
          <p:cNvPr id="11" name="H2 card"/>
          <p:cNvSpPr/>
          <p:nvPr/>
        </p:nvSpPr>
        <p:spPr>
          <a:xfrm>
            <a:off x="3383280" y="1463040"/>
            <a:ext cx="2560320" cy="4343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etup time circle"/>
          <p:cNvSpPr/>
          <p:nvPr/>
        </p:nvSpPr>
        <p:spPr>
          <a:xfrm>
            <a:off x="3657600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Setup time icon" descr="Setup ti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422" y="186446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200" b="1" dirty="0">
                <a:solidFill>
                  <a:schemeClr val="accent5"/>
                </a:solidFill>
              </a:rPr>
              <a:t>H2</a:t>
            </a:r>
            <a:endParaRPr lang="pt-PT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Tempo de montagem</a:t>
            </a:r>
            <a:endParaRPr lang="pt-PT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≥30% mais rápido</a:t>
            </a:r>
            <a:endParaRPr lang="pt-PT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que a fita métrica</a:t>
            </a:r>
            <a:endParaRPr lang="pt-PT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Uma pessoa com TrackSeed vs o método da equipa; tempo e pessoas-minuto</a:t>
            </a:r>
            <a:endParaRPr lang="pt-PT" sz="1400" dirty="0"/>
          </a:p>
        </p:txBody>
      </p:sp>
      <p:sp>
        <p:nvSpPr>
          <p:cNvPr id="19" name="H3 card"/>
          <p:cNvSpPr/>
          <p:nvPr/>
        </p:nvSpPr>
        <p:spPr>
          <a:xfrm>
            <a:off x="6217920" y="1463040"/>
            <a:ext cx="2560320" cy="4343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win latency circle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Twin latency icon" descr="Twin latenc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062" y="1864462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6948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200" b="1" dirty="0">
                <a:solidFill>
                  <a:schemeClr val="accent5"/>
                </a:solidFill>
              </a:rPr>
              <a:t>H3</a:t>
            </a:r>
            <a:endParaRPr lang="pt-PT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64922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Latência do twin</a:t>
            </a:r>
            <a:endParaRPr lang="pt-PT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649224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≤1 s</a:t>
            </a:r>
            <a:endParaRPr lang="pt-PT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649224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do cone ao dashboard</a:t>
            </a:r>
            <a:endParaRPr lang="pt-PT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49224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Marcas temporais em Wi-Fi e dados móveis</a:t>
            </a:r>
            <a:endParaRPr lang="pt-PT" sz="1400" dirty="0"/>
          </a:p>
        </p:txBody>
      </p:sp>
      <p:sp>
        <p:nvSpPr>
          <p:cNvPr id="27" name="H4 card"/>
          <p:cNvSpPr/>
          <p:nvPr/>
        </p:nvSpPr>
        <p:spPr>
          <a:xfrm>
            <a:off x="9052560" y="1463040"/>
            <a:ext cx="2560320" cy="4343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Car identification circle"/>
          <p:cNvSpPr/>
          <p:nvPr/>
        </p:nvSpPr>
        <p:spPr>
          <a:xfrm>
            <a:off x="9326880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Car identification icon" descr="Car identific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702" y="1864462"/>
            <a:ext cx="294437" cy="29443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10412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200" b="1" dirty="0">
                <a:solidFill>
                  <a:schemeClr val="accent5"/>
                </a:solidFill>
              </a:rPr>
              <a:t>H4</a:t>
            </a:r>
            <a:endParaRPr lang="pt-PT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93268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700" b="1" dirty="0">
                <a:solidFill>
                  <a:schemeClr val="tx1"/>
                </a:solidFill>
              </a:rPr>
              <a:t>Identificação do carro</a:t>
            </a:r>
            <a:endParaRPr lang="pt-PT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932688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exatidão ≥95%</a:t>
            </a:r>
            <a:endParaRPr lang="pt-PT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932688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accent5"/>
                </a:solidFill>
              </a:rPr>
              <a:t>≤100 ms no telemóvel</a:t>
            </a:r>
            <a:endParaRPr lang="pt-PT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32688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dirty="0">
                <a:solidFill>
                  <a:schemeClr val="tx1"/>
                </a:solidFill>
              </a:rPr>
              <a:t>Dataset próprio, apenas dias de teste não usados no treino</a:t>
            </a:r>
            <a:endParaRPr lang="pt-PT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100" i="1" dirty="0">
                <a:solidFill>
                  <a:schemeClr val="accent5"/>
                </a:solidFill>
              </a:rPr>
              <a:t>Cada teste repete-se em pelo menos 3 dias. Os indicadores de sucesso são provisórios e serão revistos após o primeiro teste no terreno</a:t>
            </a:r>
            <a:endParaRPr lang="pt-PT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13</a:t>
            </a:fld>
            <a:endParaRPr lang="pt-P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plano</a:t>
            </a:r>
            <a:endParaRPr lang="pt-PT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Principais riscos</a:t>
            </a:r>
            <a:endParaRPr lang="pt-PT" sz="2000" dirty="0"/>
          </a:p>
        </p:txBody>
      </p:sp>
      <p:sp>
        <p:nvSpPr>
          <p:cNvPr id="4" name="risk 0 circle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risk 0 icon" descr="risk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214746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Deriva em asfalto com pouca textura; não medida em nenhum estudo</a:t>
            </a:r>
            <a:endParaRPr lang="pt-PT" sz="1500" dirty="0"/>
          </a:p>
        </p:txBody>
      </p:sp>
      <p:sp>
        <p:nvSpPr>
          <p:cNvPr id="7" name="risk 1 circle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risk 1 icon" descr="ris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2897276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761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Luz exterior, reflexos no ecrã e chuva de inverno</a:t>
            </a:r>
            <a:endParaRPr lang="pt-PT" sz="1500" dirty="0"/>
          </a:p>
        </p:txBody>
      </p:sp>
      <p:sp>
        <p:nvSpPr>
          <p:cNvPr id="10" name="risk 2 circle"/>
          <p:cNvSpPr/>
          <p:nvPr/>
        </p:nvSpPr>
        <p:spPr>
          <a:xfrm>
            <a:off x="548640" y="3511296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risk 2 icon" descr="ris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3647084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5112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A verificação usa o mesmo seguimento de RA: não deteta a deriva</a:t>
            </a:r>
            <a:endParaRPr lang="pt-PT" sz="1500" dirty="0"/>
          </a:p>
        </p:txBody>
      </p:sp>
      <p:sp>
        <p:nvSpPr>
          <p:cNvPr id="13" name="risk 3 circle"/>
          <p:cNvSpPr/>
          <p:nvPr/>
        </p:nvSpPr>
        <p:spPr>
          <a:xfrm>
            <a:off x="548640" y="4261104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risk 3 icon" descr="risk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28" y="4396892"/>
            <a:ext cx="231343" cy="231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2611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Dataset de carros pequeno; carros parecidos</a:t>
            </a:r>
            <a:endParaRPr lang="pt-PT" sz="1500" dirty="0"/>
          </a:p>
        </p:txBody>
      </p:sp>
      <p:sp>
        <p:nvSpPr>
          <p:cNvPr id="16" name="risk 4 circle"/>
          <p:cNvSpPr/>
          <p:nvPr/>
        </p:nvSpPr>
        <p:spPr>
          <a:xfrm>
            <a:off x="548640" y="5010912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risk 4 icon" descr="risk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28" y="5146700"/>
            <a:ext cx="231343" cy="231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5010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O utilizador olha para o ecrã enquanto caminha: só em pista fechada</a:t>
            </a:r>
            <a:endParaRPr lang="pt-PT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03504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1"/>
                </a:solidFill>
              </a:rPr>
              <a:t>Plano</a:t>
            </a:r>
            <a:endParaRPr lang="pt-PT" sz="2000" dirty="0"/>
          </a:p>
        </p:txBody>
      </p:sp>
      <p:sp>
        <p:nvSpPr>
          <p:cNvPr id="20" name="timeline"/>
          <p:cNvSpPr/>
          <p:nvPr/>
        </p:nvSpPr>
        <p:spPr>
          <a:xfrm>
            <a:off x="6446520" y="2240280"/>
            <a:ext cx="0" cy="3017520"/>
          </a:xfrm>
          <a:prstGeom prst="line">
            <a:avLst/>
          </a:prstGeom>
          <a:noFill/>
          <a:ln w="19050">
            <a:solidFill>
              <a:srgbClr val="6B7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ct dot"/>
          <p:cNvSpPr/>
          <p:nvPr/>
        </p:nvSpPr>
        <p:spPr>
          <a:xfrm>
            <a:off x="6035040" y="201168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60350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600" b="1" dirty="0">
                <a:solidFill>
                  <a:schemeClr val="bg1"/>
                </a:solidFill>
              </a:rPr>
              <a:t>Out</a:t>
            </a:r>
            <a:endParaRPr lang="pt-PT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086600" y="20116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Formato da pista, alinhamento em RA num skidpad, início da recolha de imagens dos carros</a:t>
            </a:r>
            <a:endParaRPr lang="pt-PT" sz="1500" dirty="0"/>
          </a:p>
        </p:txBody>
      </p:sp>
      <p:sp>
        <p:nvSpPr>
          <p:cNvPr id="24" name="Nov dot"/>
          <p:cNvSpPr/>
          <p:nvPr/>
        </p:nvSpPr>
        <p:spPr>
          <a:xfrm>
            <a:off x="6035040" y="2999232"/>
            <a:ext cx="822960" cy="8229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6035040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600" b="1" dirty="0">
                <a:solidFill>
                  <a:schemeClr val="bg1"/>
                </a:solidFill>
              </a:rPr>
              <a:t>Nov</a:t>
            </a:r>
            <a:endParaRPr lang="pt-PT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086600" y="29992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Verificação dos cones, classificador de carros, plataforma na cloud e sincronização</a:t>
            </a:r>
            <a:endParaRPr lang="pt-PT" sz="1500" dirty="0"/>
          </a:p>
        </p:txBody>
      </p:sp>
      <p:sp>
        <p:nvSpPr>
          <p:cNvPr id="27" name="Dec dot"/>
          <p:cNvSpPr/>
          <p:nvPr/>
        </p:nvSpPr>
        <p:spPr>
          <a:xfrm>
            <a:off x="6035040" y="3986784"/>
            <a:ext cx="822960" cy="8229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6035040" y="39867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600" b="1" dirty="0">
                <a:solidFill>
                  <a:schemeClr val="bg1"/>
                </a:solidFill>
              </a:rPr>
              <a:t>Dez</a:t>
            </a:r>
            <a:endParaRPr lang="pt-PT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398678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Digital twin no dashboard, testes completos de autocross</a:t>
            </a:r>
            <a:endParaRPr lang="pt-PT" sz="1500" dirty="0"/>
          </a:p>
        </p:txBody>
      </p:sp>
      <p:sp>
        <p:nvSpPr>
          <p:cNvPr id="30" name="Jan dot"/>
          <p:cNvSpPr/>
          <p:nvPr/>
        </p:nvSpPr>
        <p:spPr>
          <a:xfrm>
            <a:off x="6035040" y="4974336"/>
            <a:ext cx="822960" cy="82296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6035040" y="49743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600" b="1" dirty="0">
                <a:solidFill>
                  <a:schemeClr val="bg1"/>
                </a:solidFill>
              </a:rPr>
              <a:t>Jan</a:t>
            </a:r>
            <a:endParaRPr lang="pt-PT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086600" y="497433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500" dirty="0">
                <a:solidFill>
                  <a:schemeClr val="tx1"/>
                </a:solidFill>
              </a:rPr>
              <a:t>Validação e relatório</a:t>
            </a:r>
            <a:endParaRPr lang="pt-PT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14</a:t>
            </a:fld>
            <a:endParaRPr lang="pt-P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pt-PT" sz="4000" dirty="0"/>
          </a:p>
        </p:txBody>
      </p:sp>
      <p:sp>
        <p:nvSpPr>
          <p:cNvPr id="3" name="Phone AR is feasible but unproven at track scale circle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hone AR is feasible but unproven at track scale icon" descr="Phone AR is feasible but unproven at track sc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5" y="1810055"/>
            <a:ext cx="357530" cy="3575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00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100" b="1" dirty="0">
                <a:solidFill>
                  <a:schemeClr val="bg1"/>
                </a:solidFill>
              </a:rPr>
              <a:t>A RA no telemóvel é viável, mas não está comprovada à escala de uma pista</a:t>
            </a:r>
            <a:endParaRPr lang="pt-PT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0299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dirty="0">
                <a:solidFill>
                  <a:schemeClr val="bg2"/>
                </a:solidFill>
              </a:rPr>
              <a:t>O erro cresce com a distância, por isso alinhamos em dois marcadores e realinhamos ao longo da pista</a:t>
            </a:r>
            <a:endParaRPr lang="pt-PT" sz="1600" dirty="0"/>
          </a:p>
        </p:txBody>
      </p:sp>
      <p:sp>
        <p:nvSpPr>
          <p:cNvPr id="7" name="A true two-way digital twin circle"/>
          <p:cNvSpPr/>
          <p:nvPr/>
        </p:nvSpPr>
        <p:spPr>
          <a:xfrm>
            <a:off x="640080" y="27889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A true two-way digital twin icon" descr="A true two-way digital tw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5" y="2998775"/>
            <a:ext cx="357530" cy="3575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788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100" b="1" dirty="0">
                <a:solidFill>
                  <a:schemeClr val="bg1"/>
                </a:solidFill>
              </a:rPr>
              <a:t>Um digital twin em tempo real</a:t>
            </a:r>
            <a:endParaRPr lang="pt-PT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3218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dirty="0">
                <a:solidFill>
                  <a:schemeClr val="bg2"/>
                </a:solidFill>
              </a:rPr>
              <a:t>Os cones confirmados chegam ao dashboard; as edições chegam ao telemóvel como orientação, e é uma pessoa que move o cone</a:t>
            </a:r>
            <a:endParaRPr lang="pt-PT" sz="1600" dirty="0"/>
          </a:p>
        </p:txBody>
      </p:sp>
      <p:sp>
        <p:nvSpPr>
          <p:cNvPr id="11" name="Two on-device vision tasks circle"/>
          <p:cNvSpPr/>
          <p:nvPr/>
        </p:nvSpPr>
        <p:spPr>
          <a:xfrm>
            <a:off x="640080" y="397764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Two on-device vision tasks icon" descr="Two on-device vision task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5" y="4187495"/>
            <a:ext cx="357530" cy="3575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100" b="1" dirty="0">
                <a:solidFill>
                  <a:schemeClr val="bg1"/>
                </a:solidFill>
              </a:rPr>
              <a:t>Duas tarefas de visão no dispositivo</a:t>
            </a:r>
            <a:endParaRPr lang="pt-PT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44074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dirty="0">
                <a:solidFill>
                  <a:schemeClr val="bg2"/>
                </a:solidFill>
              </a:rPr>
              <a:t>Verificação dos cones e identificação do carro com um dataset próprio</a:t>
            </a:r>
            <a:endParaRPr lang="pt-PT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257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600" b="1" dirty="0">
                <a:solidFill>
                  <a:schemeClr val="accent2"/>
                </a:solidFill>
              </a:rPr>
              <a:t>Próximos passos: </a:t>
            </a:r>
            <a:r>
              <a:rPr lang="pt-PT" sz="1600" dirty="0">
                <a:solidFill>
                  <a:schemeClr val="bg1"/>
                </a:solidFill>
              </a:rPr>
              <a:t>alinhamento em RA num skidpad, medir a deriva no nosso local de testes, recolher imagens dos carros em todos os dias de teste.</a:t>
            </a:r>
            <a:endParaRPr lang="pt-PT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5074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PT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pt-PT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15</a:t>
            </a:fld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ckSeed">
  <a:themeElements>
    <a:clrScheme name="TrackSeed">
      <a:dk1>
        <a:srgbClr val="1E2226"/>
      </a:dk1>
      <a:lt1>
        <a:srgbClr val="FFFFFF"/>
      </a:lt1>
      <a:dk2>
        <a:srgbClr val="2B3036"/>
      </a:dk2>
      <a:lt2>
        <a:srgbClr val="F1F3F5"/>
      </a:lt2>
      <a:accent1>
        <a:srgbClr val="1F5FBF"/>
      </a:accent1>
      <a:accent2>
        <a:srgbClr val="D9A400"/>
      </a:accent2>
      <a:accent3>
        <a:srgbClr val="E8701A"/>
      </a:accent3>
      <a:accent4>
        <a:srgbClr val="2E8B57"/>
      </a:accent4>
      <a:accent5>
        <a:srgbClr val="6B7580"/>
      </a:accent5>
      <a:accent6>
        <a:srgbClr val="C0392B"/>
      </a:accent6>
      <a:hlink>
        <a:srgbClr val="1F5FBF"/>
      </a:hlink>
      <a:folHlink>
        <a:srgbClr val="6B4FA0"/>
      </a:folHlink>
    </a:clrScheme>
    <a:fontScheme name="TrackSee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3575</Words>
  <Application>Microsoft Office PowerPoint</Application>
  <PresentationFormat>Widescreen</PresentationFormat>
  <Paragraphs>258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TrackSeed</vt:lpstr>
      <vt:lpstr>TrackSeed</vt:lpstr>
      <vt:lpstr>Uma pista é apenas um padrão de cones</vt:lpstr>
      <vt:lpstr>TrackSeed: uma pessoa, um telemóvel</vt:lpstr>
      <vt:lpstr>Como revimos a literatura</vt:lpstr>
      <vt:lpstr>RA no telemóvel: erro de ~16 cm</vt:lpstr>
      <vt:lpstr>O erro de seguimento cresce com a distância</vt:lpstr>
      <vt:lpstr>Digital twin: dados nos dois sentidos</vt:lpstr>
      <vt:lpstr>WebSocket e inferência no telemóvel</vt:lpstr>
      <vt:lpstr>Principal tarefa de visão: que carro está a rodar?</vt:lpstr>
      <vt:lpstr>Da evidência às decisões de conceção</vt:lpstr>
      <vt:lpstr>Dois marcadores e realinhamento</vt:lpstr>
      <vt:lpstr>Arquitetura concetual</vt:lpstr>
      <vt:lpstr>Como vamos validar</vt:lpstr>
      <vt:lpstr>Riscos e plano</vt:lpstr>
      <vt:lpstr>Conclusões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TrackSeed (PT)</dc:title>
  <dc:subject>PptxGenJS Presentation</dc:subject>
  <dc:creator>André Lopes, Tomás Santos</dc:creator>
  <cp:lastModifiedBy>Tomás Santos</cp:lastModifiedBy>
  <cp:revision>3</cp:revision>
  <dcterms:created xsi:type="dcterms:W3CDTF">2026-10-23T14:35:23Z</dcterms:created>
  <dcterms:modified xsi:type="dcterms:W3CDTF">2026-10-26T12:13:07Z</dcterms:modified>
</cp:coreProperties>
</file>